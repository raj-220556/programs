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7" r:id="rId5"/>
    <p:sldId id="268" r:id="rId6"/>
    <p:sldId id="275" r:id="rId7"/>
    <p:sldId id="270" r:id="rId8"/>
    <p:sldId id="271" r:id="rId9"/>
    <p:sldId id="272" r:id="rId10"/>
    <p:sldId id="274" r:id="rId11"/>
    <p:sldId id="278" r:id="rId12"/>
    <p:sldId id="277" r:id="rId13"/>
    <p:sldId id="280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6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0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3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5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5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8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5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4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8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4475F-C8CC-4169-886E-661A66066CAB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FB6F5-A54D-4260-9DCE-8D6A8EB1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1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89631"/>
            <a:ext cx="9144000" cy="2387600"/>
          </a:xfrm>
        </p:spPr>
        <p:txBody>
          <a:bodyPr/>
          <a:lstStyle/>
          <a:p>
            <a:r>
              <a:rPr lang="en-US" dirty="0" smtClean="0"/>
              <a:t>Exception Handling -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25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6859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Illustrate the use throw and throws.</a:t>
            </a:r>
          </a:p>
          <a:p>
            <a:r>
              <a:rPr lang="en-US" dirty="0" smtClean="0"/>
              <a:t>Differentiate between throw and throws keyword.</a:t>
            </a:r>
          </a:p>
          <a:p>
            <a:r>
              <a:rPr lang="en-US" dirty="0" smtClean="0"/>
              <a:t>Analyze the use of finally.</a:t>
            </a:r>
          </a:p>
          <a:p>
            <a:r>
              <a:rPr lang="en-US" dirty="0" smtClean="0"/>
              <a:t>Create your own exception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2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throw 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 far, you have only been catching exceptions that are thrown by the Java run-time system.</a:t>
            </a:r>
          </a:p>
          <a:p>
            <a:pPr algn="just"/>
            <a:r>
              <a:rPr lang="en-US" dirty="0"/>
              <a:t>However, it is possible for your program to throw an exception explicitly, using the </a:t>
            </a:r>
            <a:r>
              <a:rPr lang="en-US" b="1" dirty="0" smtClean="0"/>
              <a:t>throw </a:t>
            </a:r>
            <a:r>
              <a:rPr lang="en-US" dirty="0" smtClean="0"/>
              <a:t>statement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general form of </a:t>
            </a:r>
            <a:r>
              <a:rPr lang="en-US" b="1" dirty="0"/>
              <a:t>throw </a:t>
            </a:r>
            <a:r>
              <a:rPr lang="en-US" dirty="0"/>
              <a:t>is shown here:</a:t>
            </a:r>
          </a:p>
          <a:p>
            <a:pPr marL="0" indent="0" algn="ctr">
              <a:buNone/>
            </a:pPr>
            <a:r>
              <a:rPr lang="en-US" dirty="0"/>
              <a:t>throw </a:t>
            </a:r>
            <a:r>
              <a:rPr lang="en-US" i="1" dirty="0" err="1"/>
              <a:t>ThrowableInstance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1693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 </a:t>
            </a:r>
            <a:r>
              <a:rPr lang="en-US" dirty="0" smtClean="0"/>
              <a:t>keyword – </a:t>
            </a:r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flow of execution stops immediately after the </a:t>
            </a:r>
            <a:r>
              <a:rPr lang="en-US" b="1" dirty="0"/>
              <a:t>throw </a:t>
            </a:r>
            <a:r>
              <a:rPr lang="en-US" dirty="0"/>
              <a:t>statement; any </a:t>
            </a:r>
            <a:r>
              <a:rPr lang="en-US" dirty="0" smtClean="0"/>
              <a:t>subsequent statements </a:t>
            </a:r>
            <a:r>
              <a:rPr lang="en-US" dirty="0"/>
              <a:t>are not executed.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nearest enclosing </a:t>
            </a:r>
            <a:r>
              <a:rPr lang="en-US" b="1" dirty="0"/>
              <a:t>try </a:t>
            </a:r>
            <a:r>
              <a:rPr lang="en-US" dirty="0"/>
              <a:t>block is inspected to see if it </a:t>
            </a:r>
            <a:r>
              <a:rPr lang="en-US" dirty="0" smtClean="0"/>
              <a:t>has a </a:t>
            </a:r>
            <a:r>
              <a:rPr lang="en-US" b="1" dirty="0"/>
              <a:t>catch </a:t>
            </a:r>
            <a:r>
              <a:rPr lang="en-US" dirty="0"/>
              <a:t>statement that matches the type of exception.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it does find a match, control </a:t>
            </a:r>
            <a:r>
              <a:rPr lang="en-US" dirty="0" smtClean="0"/>
              <a:t>is transferred </a:t>
            </a:r>
            <a:r>
              <a:rPr lang="en-US" dirty="0"/>
              <a:t>to that statement.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not, then the next enclosing </a:t>
            </a:r>
            <a:r>
              <a:rPr lang="en-US" b="1" dirty="0"/>
              <a:t>try </a:t>
            </a:r>
            <a:r>
              <a:rPr lang="en-US" dirty="0"/>
              <a:t>statement is inspected, </a:t>
            </a:r>
            <a:r>
              <a:rPr lang="en-US" dirty="0" smtClean="0"/>
              <a:t>and so on.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no matching </a:t>
            </a:r>
            <a:r>
              <a:rPr lang="en-US" b="1" dirty="0"/>
              <a:t>catch </a:t>
            </a:r>
            <a:r>
              <a:rPr lang="en-US" dirty="0"/>
              <a:t>is found, then the default exception handler halts the </a:t>
            </a:r>
            <a:r>
              <a:rPr lang="en-US" dirty="0" smtClean="0"/>
              <a:t>program and </a:t>
            </a:r>
            <a:r>
              <a:rPr lang="en-US" dirty="0"/>
              <a:t>prints the stack trace.</a:t>
            </a:r>
          </a:p>
        </p:txBody>
      </p:sp>
    </p:spTree>
    <p:extLst>
      <p:ext uri="{BB962C8B-B14F-4D97-AF65-F5344CB8AC3E}">
        <p14:creationId xmlns:p14="http://schemas.microsoft.com/office/powerpoint/2010/main" val="31026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57" y="1"/>
            <a:ext cx="10515600" cy="900752"/>
          </a:xfrm>
        </p:spPr>
        <p:txBody>
          <a:bodyPr/>
          <a:lstStyle/>
          <a:p>
            <a:r>
              <a:rPr lang="en-US" dirty="0"/>
              <a:t>throw </a:t>
            </a:r>
            <a:r>
              <a:rPr lang="en-US" dirty="0" smtClean="0"/>
              <a:t>keyword 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7257" y="5456511"/>
            <a:ext cx="169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257" y="708394"/>
            <a:ext cx="6869229" cy="4535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70" y="5951812"/>
            <a:ext cx="6146468" cy="58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5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57" y="1"/>
            <a:ext cx="10515600" cy="900752"/>
          </a:xfrm>
        </p:spPr>
        <p:txBody>
          <a:bodyPr/>
          <a:lstStyle/>
          <a:p>
            <a:r>
              <a:rPr lang="en-US" dirty="0"/>
              <a:t>throw </a:t>
            </a:r>
            <a:r>
              <a:rPr lang="en-US" dirty="0" smtClean="0"/>
              <a:t>keyword example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257" y="653953"/>
            <a:ext cx="5762767" cy="5978871"/>
          </a:xfrm>
          <a:prstGeom prst="rect">
            <a:avLst/>
          </a:prstGeom>
        </p:spPr>
      </p:pic>
      <p:pic>
        <p:nvPicPr>
          <p:cNvPr id="10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876" y="5143573"/>
            <a:ext cx="2254855" cy="7317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26876" y="4569407"/>
            <a:ext cx="169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11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hrows 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If a method is capable of causing an exception that it does not handle, it must specify </a:t>
            </a:r>
            <a:r>
              <a:rPr lang="en-US" dirty="0" smtClean="0"/>
              <a:t>this behavior </a:t>
            </a:r>
            <a:r>
              <a:rPr lang="en-US" dirty="0"/>
              <a:t>so that callers of the method can guard themselves against that exception. </a:t>
            </a:r>
            <a:endParaRPr lang="en-US" dirty="0" smtClean="0"/>
          </a:p>
          <a:p>
            <a:pPr algn="just"/>
            <a:r>
              <a:rPr lang="en-US" dirty="0" smtClean="0"/>
              <a:t>You do this </a:t>
            </a:r>
            <a:r>
              <a:rPr lang="en-US" dirty="0"/>
              <a:t>by including a </a:t>
            </a:r>
            <a:r>
              <a:rPr lang="en-US" b="1" dirty="0"/>
              <a:t>throws </a:t>
            </a:r>
            <a:r>
              <a:rPr lang="en-US" dirty="0"/>
              <a:t>clause in the method’s declaration.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b="1" dirty="0"/>
              <a:t>throws </a:t>
            </a:r>
            <a:r>
              <a:rPr lang="en-US" dirty="0"/>
              <a:t>clause lists the </a:t>
            </a:r>
            <a:r>
              <a:rPr lang="en-US" dirty="0" smtClean="0"/>
              <a:t>types of </a:t>
            </a:r>
            <a:r>
              <a:rPr lang="en-US" dirty="0"/>
              <a:t>exceptions that a method might throw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is necessary for all exceptions, except </a:t>
            </a:r>
            <a:r>
              <a:rPr lang="en-US" dirty="0" smtClean="0"/>
              <a:t>those of </a:t>
            </a:r>
            <a:r>
              <a:rPr lang="en-US" dirty="0"/>
              <a:t>type </a:t>
            </a:r>
            <a:r>
              <a:rPr lang="en-US" b="1" dirty="0"/>
              <a:t>Error </a:t>
            </a:r>
            <a:r>
              <a:rPr lang="en-US" dirty="0"/>
              <a:t>or </a:t>
            </a:r>
            <a:r>
              <a:rPr lang="en-US" b="1" dirty="0"/>
              <a:t>RuntimeException</a:t>
            </a:r>
            <a:r>
              <a:rPr lang="en-US" dirty="0"/>
              <a:t>, or any of their subclasses. </a:t>
            </a:r>
            <a:endParaRPr lang="en-US" dirty="0" smtClean="0"/>
          </a:p>
          <a:p>
            <a:pPr algn="just"/>
            <a:r>
              <a:rPr lang="en-US" dirty="0" smtClean="0"/>
              <a:t>All </a:t>
            </a:r>
            <a:r>
              <a:rPr lang="en-US" dirty="0"/>
              <a:t>other exceptions that </a:t>
            </a:r>
            <a:r>
              <a:rPr lang="en-US" dirty="0" smtClean="0"/>
              <a:t>a method </a:t>
            </a:r>
            <a:r>
              <a:rPr lang="en-US" dirty="0"/>
              <a:t>can throw must be declared in the </a:t>
            </a:r>
            <a:r>
              <a:rPr lang="en-US" b="1" dirty="0"/>
              <a:t>throws </a:t>
            </a:r>
            <a:r>
              <a:rPr lang="en-US" dirty="0"/>
              <a:t>clause.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they are not, a </a:t>
            </a:r>
            <a:r>
              <a:rPr lang="en-US" dirty="0" smtClean="0"/>
              <a:t>compile-time error </a:t>
            </a:r>
            <a:r>
              <a:rPr lang="en-US" dirty="0"/>
              <a:t>will result.</a:t>
            </a:r>
          </a:p>
        </p:txBody>
      </p:sp>
    </p:spTree>
    <p:extLst>
      <p:ext uri="{BB962C8B-B14F-4D97-AF65-F5344CB8AC3E}">
        <p14:creationId xmlns:p14="http://schemas.microsoft.com/office/powerpoint/2010/main" val="152840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throws </a:t>
            </a:r>
            <a:r>
              <a:rPr lang="en-US" dirty="0" smtClean="0"/>
              <a:t>keyword – </a:t>
            </a:r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form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61" y="2361489"/>
            <a:ext cx="5168235" cy="121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5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150126"/>
            <a:ext cx="10515600" cy="150125"/>
          </a:xfrm>
        </p:spPr>
        <p:txBody>
          <a:bodyPr>
            <a:normAutofit fontScale="90000"/>
          </a:bodyPr>
          <a:lstStyle/>
          <a:p>
            <a:r>
              <a:rPr lang="en-US" dirty="0"/>
              <a:t>throws </a:t>
            </a:r>
            <a:r>
              <a:rPr lang="en-US" dirty="0" smtClean="0"/>
              <a:t>keyword example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287" y="495724"/>
            <a:ext cx="5717366" cy="63622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346" y="5389116"/>
            <a:ext cx="2099113" cy="8342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52346" y="5019784"/>
            <a:ext cx="169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54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hrow </a:t>
            </a:r>
            <a:r>
              <a:rPr lang="en-US" dirty="0" err="1" smtClean="0"/>
              <a:t>vs</a:t>
            </a:r>
            <a:r>
              <a:rPr lang="en-US" dirty="0" smtClean="0"/>
              <a:t> throws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21" y="1460310"/>
            <a:ext cx="12103649" cy="334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8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inally 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finally </a:t>
            </a:r>
            <a:r>
              <a:rPr lang="en-US" dirty="0"/>
              <a:t>creates a block of code that will be executed after a </a:t>
            </a:r>
            <a:r>
              <a:rPr lang="en-US" b="1" dirty="0"/>
              <a:t>try /catch </a:t>
            </a:r>
            <a:r>
              <a:rPr lang="en-US" dirty="0"/>
              <a:t>block has </a:t>
            </a:r>
            <a:r>
              <a:rPr lang="en-US" dirty="0" smtClean="0"/>
              <a:t>completed and </a:t>
            </a:r>
            <a:r>
              <a:rPr lang="en-US" dirty="0"/>
              <a:t>before the code following the </a:t>
            </a:r>
            <a:r>
              <a:rPr lang="en-US" b="1" dirty="0"/>
              <a:t>try/catch </a:t>
            </a:r>
            <a:r>
              <a:rPr lang="en-US" dirty="0"/>
              <a:t>block.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b="1" dirty="0"/>
              <a:t>finally </a:t>
            </a:r>
            <a:r>
              <a:rPr lang="en-US" dirty="0"/>
              <a:t>block will execute </a:t>
            </a:r>
            <a:r>
              <a:rPr lang="en-US" dirty="0" smtClean="0"/>
              <a:t>whether or </a:t>
            </a:r>
            <a:r>
              <a:rPr lang="en-US" dirty="0"/>
              <a:t>not an exception is thrown.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an exception is thrown, the </a:t>
            </a:r>
            <a:r>
              <a:rPr lang="en-US" b="1" dirty="0"/>
              <a:t>finally </a:t>
            </a:r>
            <a:r>
              <a:rPr lang="en-US" dirty="0"/>
              <a:t>block will execute </a:t>
            </a:r>
            <a:r>
              <a:rPr lang="en-US" dirty="0" smtClean="0"/>
              <a:t>even if </a:t>
            </a:r>
            <a:r>
              <a:rPr lang="en-US" dirty="0"/>
              <a:t>no </a:t>
            </a:r>
            <a:r>
              <a:rPr lang="en-US" b="1" dirty="0"/>
              <a:t>catch </a:t>
            </a:r>
            <a:r>
              <a:rPr lang="en-US" dirty="0"/>
              <a:t>statement matches the exception. </a:t>
            </a:r>
            <a:endParaRPr lang="en-US" dirty="0" smtClean="0"/>
          </a:p>
          <a:p>
            <a:pPr algn="just"/>
            <a:r>
              <a:rPr lang="en-US" dirty="0" smtClean="0"/>
              <a:t>Any </a:t>
            </a:r>
            <a:r>
              <a:rPr lang="en-US" dirty="0"/>
              <a:t>time a method is about to return to </a:t>
            </a:r>
            <a:r>
              <a:rPr lang="en-US" dirty="0" smtClean="0"/>
              <a:t>the caller </a:t>
            </a:r>
            <a:r>
              <a:rPr lang="en-US" dirty="0"/>
              <a:t>from inside a </a:t>
            </a:r>
            <a:r>
              <a:rPr lang="en-US" b="1" dirty="0"/>
              <a:t>try/catch </a:t>
            </a:r>
            <a:r>
              <a:rPr lang="en-US" dirty="0"/>
              <a:t>block, via an uncaught exception or an explicit </a:t>
            </a:r>
            <a:r>
              <a:rPr lang="en-US" dirty="0" smtClean="0"/>
              <a:t>return statement</a:t>
            </a:r>
            <a:r>
              <a:rPr lang="en-US" dirty="0"/>
              <a:t>, the </a:t>
            </a:r>
            <a:r>
              <a:rPr lang="en-US" b="1" dirty="0"/>
              <a:t>finally </a:t>
            </a:r>
            <a:r>
              <a:rPr lang="en-US" dirty="0"/>
              <a:t>clause is also executed just before the method returns.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can </a:t>
            </a:r>
            <a:r>
              <a:rPr lang="en-US" dirty="0" smtClean="0"/>
              <a:t>be useful </a:t>
            </a:r>
            <a:r>
              <a:rPr lang="en-US" dirty="0"/>
              <a:t>for closing file handles and freeing up any other resources that might have </a:t>
            </a:r>
            <a:r>
              <a:rPr lang="en-US" dirty="0" smtClean="0"/>
              <a:t>been allocated </a:t>
            </a:r>
            <a:r>
              <a:rPr lang="en-US" dirty="0"/>
              <a:t>at the beginning of a method with the intent of disposing of them </a:t>
            </a:r>
            <a:r>
              <a:rPr lang="en-US" dirty="0" smtClean="0"/>
              <a:t>before returning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b="1" dirty="0"/>
              <a:t>finally </a:t>
            </a:r>
            <a:r>
              <a:rPr lang="en-US" dirty="0"/>
              <a:t>clause is optional. However, each </a:t>
            </a:r>
            <a:r>
              <a:rPr lang="en-US" b="1" dirty="0"/>
              <a:t>try </a:t>
            </a:r>
            <a:r>
              <a:rPr lang="en-US" dirty="0"/>
              <a:t>statement requires at </a:t>
            </a:r>
            <a:r>
              <a:rPr lang="en-US" dirty="0" smtClean="0"/>
              <a:t>least one </a:t>
            </a:r>
            <a:r>
              <a:rPr lang="en-US" b="1" dirty="0"/>
              <a:t>catch </a:t>
            </a:r>
            <a:r>
              <a:rPr lang="en-US" dirty="0"/>
              <a:t>or a </a:t>
            </a:r>
            <a:r>
              <a:rPr lang="en-US" b="1" dirty="0"/>
              <a:t>finally </a:t>
            </a:r>
            <a:r>
              <a:rPr lang="en-US" dirty="0"/>
              <a:t>clause.</a:t>
            </a:r>
          </a:p>
        </p:txBody>
      </p:sp>
    </p:spTree>
    <p:extLst>
      <p:ext uri="{BB962C8B-B14F-4D97-AF65-F5344CB8AC3E}">
        <p14:creationId xmlns:p14="http://schemas.microsoft.com/office/powerpoint/2010/main" val="80722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292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Creating your own exceptions – Example 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79" y="562922"/>
            <a:ext cx="8315284" cy="6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292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Creating your own exceptions – Example 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662170" y="3502230"/>
            <a:ext cx="169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79" y="562922"/>
            <a:ext cx="8315284" cy="62479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513" y="4100513"/>
            <a:ext cx="4945851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7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496</Words>
  <Application>Microsoft Office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Exception Handling - II</vt:lpstr>
      <vt:lpstr>Learning objectives</vt:lpstr>
      <vt:lpstr>throw keyword</vt:lpstr>
      <vt:lpstr>throw keyword – contd…</vt:lpstr>
      <vt:lpstr>throw keyword example</vt:lpstr>
      <vt:lpstr>throw keyword example</vt:lpstr>
      <vt:lpstr>throws keyword</vt:lpstr>
      <vt:lpstr>throws keyword – contd…</vt:lpstr>
      <vt:lpstr>throws keyword example</vt:lpstr>
      <vt:lpstr>throw vs throws</vt:lpstr>
      <vt:lpstr>finally keyword</vt:lpstr>
      <vt:lpstr>Creating your own exceptions – Example 1</vt:lpstr>
      <vt:lpstr>Creating your own exceptions – Example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kumarpc</dc:creator>
  <cp:lastModifiedBy>Windows User</cp:lastModifiedBy>
  <cp:revision>21</cp:revision>
  <dcterms:created xsi:type="dcterms:W3CDTF">2016-09-23T13:31:39Z</dcterms:created>
  <dcterms:modified xsi:type="dcterms:W3CDTF">2023-06-15T15:52:32Z</dcterms:modified>
</cp:coreProperties>
</file>