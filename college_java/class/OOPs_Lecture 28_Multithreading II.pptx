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67" r:id="rId4"/>
    <p:sldId id="268" r:id="rId5"/>
    <p:sldId id="269" r:id="rId6"/>
    <p:sldId id="270" r:id="rId7"/>
    <p:sldId id="272" r:id="rId8"/>
    <p:sldId id="271" r:id="rId9"/>
    <p:sldId id="273" r:id="rId10"/>
    <p:sldId id="274" r:id="rId11"/>
    <p:sldId id="275" r:id="rId12"/>
    <p:sldId id="276" r:id="rId13"/>
    <p:sldId id="277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BEBEF-8C23-4B9E-9BD6-1CA7D9AC449F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CE528-9F86-42EC-9214-283475E88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63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982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8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91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63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5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36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287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46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29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71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999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A45BF-2118-4053-9FC2-070932A5B30D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75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Multithreading II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150135"/>
            <a:ext cx="9144000" cy="1655762"/>
          </a:xfrm>
        </p:spPr>
        <p:txBody>
          <a:bodyPr/>
          <a:lstStyle/>
          <a:p>
            <a:r>
              <a:rPr lang="en-US" dirty="0" smtClean="0"/>
              <a:t>Lecture </a:t>
            </a:r>
            <a:r>
              <a:rPr lang="en-US" dirty="0" smtClean="0"/>
              <a:t>28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3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After the completion of today’s session you will be able to:</a:t>
            </a:r>
          </a:p>
          <a:p>
            <a:r>
              <a:rPr lang="en-US" dirty="0" smtClean="0"/>
              <a:t>Illustrate the usage of some methods in thread.</a:t>
            </a:r>
          </a:p>
          <a:p>
            <a:r>
              <a:rPr lang="en-US" dirty="0" smtClean="0"/>
              <a:t>Demonstrate the usage </a:t>
            </a:r>
            <a:r>
              <a:rPr lang="en-US" smtClean="0"/>
              <a:t>of synchronization.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472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Sleep()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sleep() method of Thread class is used to sleep a thread for the specified amount of time</a:t>
            </a:r>
            <a:r>
              <a:rPr lang="en-US" dirty="0" smtClean="0"/>
              <a:t>.</a:t>
            </a:r>
          </a:p>
          <a:p>
            <a:r>
              <a:rPr lang="en-US" dirty="0"/>
              <a:t>The Thread class provides two methods for sleeping a thread:</a:t>
            </a:r>
          </a:p>
          <a:p>
            <a:pPr marL="0" indent="0" algn="ctr">
              <a:buNone/>
            </a:pPr>
            <a:r>
              <a:rPr lang="en-US" sz="2400" dirty="0"/>
              <a:t>public static void sleep(long </a:t>
            </a:r>
            <a:r>
              <a:rPr lang="en-US" sz="2400" dirty="0" err="1"/>
              <a:t>miliseconds</a:t>
            </a:r>
            <a:r>
              <a:rPr lang="en-US" sz="2400" dirty="0"/>
              <a:t>)throws </a:t>
            </a:r>
            <a:r>
              <a:rPr lang="en-US" sz="2400" dirty="0" err="1"/>
              <a:t>InterruptedException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public static void sleep(long </a:t>
            </a:r>
            <a:r>
              <a:rPr lang="en-US" sz="2400" dirty="0" err="1"/>
              <a:t>miliseconds</a:t>
            </a:r>
            <a:r>
              <a:rPr lang="en-US" sz="2400" dirty="0"/>
              <a:t>, 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nanos</a:t>
            </a:r>
            <a:r>
              <a:rPr lang="en-US" sz="2400" dirty="0"/>
              <a:t>)throws </a:t>
            </a:r>
            <a:r>
              <a:rPr lang="en-US" sz="2400" dirty="0" err="1"/>
              <a:t>InterruptedException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401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Join()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join() method waits for a thread to die. </a:t>
            </a:r>
            <a:endParaRPr lang="en-US" dirty="0" smtClean="0"/>
          </a:p>
          <a:p>
            <a:pPr algn="just"/>
            <a:r>
              <a:rPr lang="en-US" dirty="0" smtClean="0"/>
              <a:t>In </a:t>
            </a:r>
            <a:r>
              <a:rPr lang="en-US" dirty="0"/>
              <a:t>other words, it causes the currently running threads to stop executing until the thread it joins with completes its task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Syntax</a:t>
            </a:r>
          </a:p>
          <a:p>
            <a:pPr marL="0" indent="0" algn="ctr" fontAlgn="ctr">
              <a:buNone/>
            </a:pPr>
            <a:r>
              <a:rPr lang="en-US" dirty="0"/>
              <a:t>public void join()throws </a:t>
            </a:r>
            <a:r>
              <a:rPr lang="en-US" dirty="0" err="1"/>
              <a:t>InterruptedException</a:t>
            </a:r>
            <a:endParaRPr lang="en-US" dirty="0"/>
          </a:p>
          <a:p>
            <a:pPr marL="0" indent="0" algn="ctr" fontAlgn="ctr">
              <a:buNone/>
            </a:pPr>
            <a:r>
              <a:rPr lang="en-US" dirty="0"/>
              <a:t>public void join(long milliseconds)throws </a:t>
            </a:r>
            <a:r>
              <a:rPr lang="en-US" dirty="0" err="1"/>
              <a:t>InterruptedException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99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Naming Thread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Thread class provides methods to change and get the name of a thread. </a:t>
            </a:r>
            <a:endParaRPr lang="en-US" dirty="0" smtClean="0"/>
          </a:p>
          <a:p>
            <a:pPr algn="just"/>
            <a:r>
              <a:rPr lang="en-US" dirty="0" smtClean="0"/>
              <a:t>By </a:t>
            </a:r>
            <a:r>
              <a:rPr lang="en-US" dirty="0"/>
              <a:t>default, each thread has a name i.e. thread-0, thread-1 and so on. </a:t>
            </a:r>
            <a:endParaRPr lang="en-US" dirty="0" smtClean="0"/>
          </a:p>
          <a:p>
            <a:pPr algn="just"/>
            <a:r>
              <a:rPr lang="en-US" dirty="0" smtClean="0"/>
              <a:t>By </a:t>
            </a:r>
            <a:r>
              <a:rPr lang="en-US" dirty="0"/>
              <a:t>we can change the name of the thread by using </a:t>
            </a:r>
            <a:r>
              <a:rPr lang="en-US" dirty="0" err="1"/>
              <a:t>setName</a:t>
            </a:r>
            <a:r>
              <a:rPr lang="en-US" dirty="0"/>
              <a:t>() method.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syntax of </a:t>
            </a:r>
            <a:r>
              <a:rPr lang="en-US" dirty="0" err="1"/>
              <a:t>setName</a:t>
            </a:r>
            <a:r>
              <a:rPr lang="en-US" dirty="0"/>
              <a:t>() and </a:t>
            </a:r>
            <a:r>
              <a:rPr lang="en-US" dirty="0" err="1"/>
              <a:t>getName</a:t>
            </a:r>
            <a:r>
              <a:rPr lang="en-US" dirty="0"/>
              <a:t>() methods are given below:</a:t>
            </a:r>
          </a:p>
          <a:p>
            <a:pPr marL="0" indent="0" algn="just">
              <a:buNone/>
            </a:pPr>
            <a:r>
              <a:rPr lang="en-US" b="1" dirty="0"/>
              <a:t>public String </a:t>
            </a:r>
            <a:r>
              <a:rPr lang="en-US" b="1" dirty="0" err="1"/>
              <a:t>getName</a:t>
            </a:r>
            <a:r>
              <a:rPr lang="en-US" b="1" dirty="0"/>
              <a:t>():</a:t>
            </a:r>
            <a:r>
              <a:rPr lang="en-US" dirty="0"/>
              <a:t> is used to return the name of a thread.</a:t>
            </a:r>
          </a:p>
          <a:p>
            <a:pPr marL="0" indent="0" algn="just">
              <a:buNone/>
            </a:pPr>
            <a:r>
              <a:rPr lang="en-US" b="1" dirty="0"/>
              <a:t>public void </a:t>
            </a:r>
            <a:r>
              <a:rPr lang="en-US" b="1" dirty="0" err="1"/>
              <a:t>setName</a:t>
            </a:r>
            <a:r>
              <a:rPr lang="en-US" b="1" dirty="0"/>
              <a:t>(String name):</a:t>
            </a:r>
            <a:r>
              <a:rPr lang="en-US" dirty="0"/>
              <a:t> is used to change the name of a thread.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877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Thread priority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Each thread </a:t>
            </a:r>
            <a:r>
              <a:rPr lang="en-US" dirty="0" smtClean="0"/>
              <a:t>has </a:t>
            </a:r>
            <a:r>
              <a:rPr lang="en-US" dirty="0"/>
              <a:t>a priority. </a:t>
            </a:r>
            <a:endParaRPr lang="en-US" dirty="0" smtClean="0"/>
          </a:p>
          <a:p>
            <a:pPr algn="just"/>
            <a:r>
              <a:rPr lang="en-US" dirty="0" smtClean="0"/>
              <a:t>Priorities </a:t>
            </a:r>
            <a:r>
              <a:rPr lang="en-US" dirty="0"/>
              <a:t>are represented by a number between 1 and 10. </a:t>
            </a:r>
            <a:endParaRPr lang="en-US" dirty="0" smtClean="0"/>
          </a:p>
          <a:p>
            <a:pPr algn="just"/>
            <a:r>
              <a:rPr lang="en-US" dirty="0" smtClean="0"/>
              <a:t>In </a:t>
            </a:r>
            <a:r>
              <a:rPr lang="en-US" dirty="0"/>
              <a:t>most cases, thread </a:t>
            </a:r>
            <a:r>
              <a:rPr lang="en-US" dirty="0" smtClean="0"/>
              <a:t>scheduler </a:t>
            </a:r>
            <a:r>
              <a:rPr lang="en-US" dirty="0"/>
              <a:t>schedules the threads according to their priority (known as preemptive scheduling). </a:t>
            </a:r>
            <a:endParaRPr lang="en-US" dirty="0" smtClean="0"/>
          </a:p>
          <a:p>
            <a:pPr algn="just"/>
            <a:r>
              <a:rPr lang="en-US" dirty="0" smtClean="0"/>
              <a:t>But </a:t>
            </a:r>
            <a:r>
              <a:rPr lang="en-US" dirty="0"/>
              <a:t>it is not guaranteed because it depends on JVM specification that which scheduling it chooses.</a:t>
            </a:r>
          </a:p>
        </p:txBody>
      </p:sp>
    </p:spTree>
    <p:extLst>
      <p:ext uri="{BB962C8B-B14F-4D97-AF65-F5344CB8AC3E}">
        <p14:creationId xmlns:p14="http://schemas.microsoft.com/office/powerpoint/2010/main" val="968995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Thread priority – constants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public static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smtClean="0"/>
              <a:t>MIN_PRIORITY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public </a:t>
            </a:r>
            <a:r>
              <a:rPr lang="en-US" dirty="0"/>
              <a:t>static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smtClean="0"/>
              <a:t>NORM_PRIORITY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public </a:t>
            </a:r>
            <a:r>
              <a:rPr lang="en-US" dirty="0"/>
              <a:t>static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smtClean="0"/>
              <a:t>MAX_PRIORITY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Default priority = 5(NORM_PRIORITY)</a:t>
            </a:r>
          </a:p>
          <a:p>
            <a:r>
              <a:rPr lang="en-US" dirty="0" smtClean="0"/>
              <a:t>MIN_PRIORITY=1</a:t>
            </a:r>
            <a:endParaRPr lang="en-US" dirty="0"/>
          </a:p>
          <a:p>
            <a:r>
              <a:rPr lang="en-US" dirty="0" smtClean="0"/>
              <a:t>MAX_PRIORITY=10</a:t>
            </a:r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349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Synchronization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When two or more threads need access to a shared resource, they need some way to </a:t>
            </a:r>
            <a:r>
              <a:rPr lang="en-US" dirty="0" smtClean="0"/>
              <a:t>ensure that </a:t>
            </a:r>
            <a:r>
              <a:rPr lang="en-US" dirty="0"/>
              <a:t>the resource will be used by only one thread at a time.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process by which this </a:t>
            </a:r>
            <a:r>
              <a:rPr lang="en-US" dirty="0" smtClean="0"/>
              <a:t>is achieved </a:t>
            </a:r>
            <a:r>
              <a:rPr lang="en-US" dirty="0"/>
              <a:t>is called </a:t>
            </a:r>
            <a:r>
              <a:rPr lang="en-US" i="1" dirty="0">
                <a:solidFill>
                  <a:srgbClr val="0070C0"/>
                </a:solidFill>
              </a:rPr>
              <a:t>synchronization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Key to synchronization is the concept of the monitor. A </a:t>
            </a:r>
            <a:r>
              <a:rPr lang="en-US" i="1" dirty="0">
                <a:solidFill>
                  <a:srgbClr val="0070C0"/>
                </a:solidFill>
              </a:rPr>
              <a:t>monitor</a:t>
            </a:r>
            <a:r>
              <a:rPr lang="en-US" i="1" dirty="0"/>
              <a:t> </a:t>
            </a:r>
            <a:r>
              <a:rPr lang="en-US" dirty="0"/>
              <a:t>is an object that is </a:t>
            </a:r>
            <a:r>
              <a:rPr lang="en-US" dirty="0" smtClean="0"/>
              <a:t>used as </a:t>
            </a:r>
            <a:r>
              <a:rPr lang="en-US" dirty="0"/>
              <a:t>a mutually exclusive lock. Only one thread can </a:t>
            </a:r>
            <a:r>
              <a:rPr lang="en-US" i="1" dirty="0"/>
              <a:t>own </a:t>
            </a:r>
            <a:r>
              <a:rPr lang="en-US" dirty="0"/>
              <a:t>a monitor at a given time. </a:t>
            </a:r>
            <a:endParaRPr lang="en-US" dirty="0" smtClean="0"/>
          </a:p>
          <a:p>
            <a:pPr algn="just"/>
            <a:r>
              <a:rPr lang="en-US" dirty="0" smtClean="0"/>
              <a:t>When a thread </a:t>
            </a:r>
            <a:r>
              <a:rPr lang="en-US" dirty="0"/>
              <a:t>acquires a lock, it is said to have </a:t>
            </a:r>
            <a:r>
              <a:rPr lang="en-US" i="1" dirty="0"/>
              <a:t>entered </a:t>
            </a:r>
            <a:r>
              <a:rPr lang="en-US" dirty="0"/>
              <a:t>the monitor. All other threads attempting </a:t>
            </a:r>
            <a:r>
              <a:rPr lang="en-US" dirty="0" smtClean="0"/>
              <a:t>to enter </a:t>
            </a:r>
            <a:r>
              <a:rPr lang="en-US" dirty="0"/>
              <a:t>the locked monitor will be suspended until the first thread </a:t>
            </a:r>
            <a:r>
              <a:rPr lang="en-US" i="1" dirty="0"/>
              <a:t>exits </a:t>
            </a:r>
            <a:r>
              <a:rPr lang="en-US" dirty="0"/>
              <a:t>the monitor. </a:t>
            </a:r>
            <a:endParaRPr lang="en-US" dirty="0" smtClean="0"/>
          </a:p>
          <a:p>
            <a:pPr algn="just"/>
            <a:r>
              <a:rPr lang="en-US" dirty="0" smtClean="0"/>
              <a:t>These other </a:t>
            </a:r>
            <a:r>
              <a:rPr lang="en-US" dirty="0"/>
              <a:t>threads are said to be </a:t>
            </a:r>
            <a:r>
              <a:rPr lang="en-US" i="1" dirty="0"/>
              <a:t>waiting </a:t>
            </a:r>
            <a:r>
              <a:rPr lang="en-US" dirty="0"/>
              <a:t>for the monitor. A thread that owns a monitor </a:t>
            </a:r>
            <a:r>
              <a:rPr lang="en-US" dirty="0" smtClean="0"/>
              <a:t>can reenter </a:t>
            </a:r>
            <a:r>
              <a:rPr lang="en-US" dirty="0"/>
              <a:t>the same monitor if it so desires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71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Synchronization and Types?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synchronization is mainly used to</a:t>
            </a:r>
          </a:p>
          <a:p>
            <a:r>
              <a:rPr lang="en-US" dirty="0"/>
              <a:t>To prevent thread interference.</a:t>
            </a:r>
          </a:p>
          <a:p>
            <a:r>
              <a:rPr lang="en-US" dirty="0"/>
              <a:t>To prevent consistency problem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There are two types of synchronization</a:t>
            </a:r>
          </a:p>
          <a:p>
            <a:r>
              <a:rPr lang="en-US" dirty="0" smtClean="0"/>
              <a:t>Process synchronization</a:t>
            </a:r>
          </a:p>
          <a:p>
            <a:r>
              <a:rPr lang="en-US" dirty="0" smtClean="0"/>
              <a:t>Thread synchronization(Main topic of discussion)</a:t>
            </a: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36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Thread Synchronization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types of thread </a:t>
            </a:r>
            <a:r>
              <a:rPr lang="en-US" dirty="0" smtClean="0"/>
              <a:t>synchronization: </a:t>
            </a:r>
            <a:r>
              <a:rPr lang="en-US" dirty="0"/>
              <a:t>mutual exclusive and inter-thread communication.</a:t>
            </a:r>
          </a:p>
          <a:p>
            <a:r>
              <a:rPr lang="en-US" dirty="0"/>
              <a:t>Mutual Exclusive</a:t>
            </a:r>
          </a:p>
          <a:p>
            <a:pPr lvl="1"/>
            <a:r>
              <a:rPr lang="en-US" dirty="0"/>
              <a:t>Synchronized method.</a:t>
            </a:r>
          </a:p>
          <a:p>
            <a:pPr lvl="1"/>
            <a:r>
              <a:rPr lang="en-US" dirty="0"/>
              <a:t>Synchronized block.</a:t>
            </a:r>
          </a:p>
          <a:p>
            <a:r>
              <a:rPr lang="en-US" dirty="0" smtClean="0"/>
              <a:t>Cooperation </a:t>
            </a:r>
            <a:r>
              <a:rPr lang="en-US" dirty="0"/>
              <a:t>(Inter-thread communication in java)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979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 of Lock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Synchronization is built around an internal entity known as the lock or monitor. </a:t>
            </a:r>
            <a:endParaRPr lang="en-US" dirty="0" smtClean="0"/>
          </a:p>
          <a:p>
            <a:pPr algn="just"/>
            <a:r>
              <a:rPr lang="en-US" dirty="0" smtClean="0"/>
              <a:t>Every </a:t>
            </a:r>
            <a:r>
              <a:rPr lang="en-US" dirty="0"/>
              <a:t>object has an lock associated with it. </a:t>
            </a:r>
            <a:endParaRPr lang="en-US" dirty="0" smtClean="0"/>
          </a:p>
          <a:p>
            <a:pPr algn="just"/>
            <a:r>
              <a:rPr lang="en-US" dirty="0" smtClean="0"/>
              <a:t>By </a:t>
            </a:r>
            <a:r>
              <a:rPr lang="en-US" dirty="0"/>
              <a:t>convention, a thread that needs consistent access to an object's fields has to acquire the object's lock before accessing them, and then release the lock when it's done with them.</a:t>
            </a:r>
          </a:p>
          <a:p>
            <a:pPr algn="just"/>
            <a:r>
              <a:rPr lang="en-US" dirty="0"/>
              <a:t>From Java 5 the package </a:t>
            </a:r>
            <a:r>
              <a:rPr lang="en-US" dirty="0" err="1"/>
              <a:t>java.util.concurrent.locks</a:t>
            </a:r>
            <a:r>
              <a:rPr lang="en-US" dirty="0"/>
              <a:t> contains several lock implementations.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32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Synchronized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If you declare any method as synchronized, it is known as synchronized method.</a:t>
            </a:r>
          </a:p>
          <a:p>
            <a:pPr algn="just"/>
            <a:r>
              <a:rPr lang="en-US" dirty="0"/>
              <a:t>Synchronized method is used to lock an object for any shared resource.</a:t>
            </a:r>
          </a:p>
          <a:p>
            <a:pPr algn="just"/>
            <a:r>
              <a:rPr lang="en-US" dirty="0"/>
              <a:t>When a thread invokes a synchronized method, it automatically acquires the lock for that object and releases it when the thread completes its task.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301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Synchronized block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Synchronized block can be used to perform synchronization on any specific resource of the method.</a:t>
            </a:r>
          </a:p>
          <a:p>
            <a:pPr algn="just"/>
            <a:r>
              <a:rPr lang="en-US" dirty="0"/>
              <a:t>Suppose you have 50 lines of code in your method, but you want to synchronize only 5 lines, you can use synchronized block.</a:t>
            </a:r>
          </a:p>
          <a:p>
            <a:pPr algn="just"/>
            <a:r>
              <a:rPr lang="en-US" dirty="0"/>
              <a:t>If you put all the codes of the method in the synchronized block, it will work same as the synchronized method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Syntax</a:t>
            </a:r>
          </a:p>
          <a:p>
            <a:pPr marL="0" indent="0">
              <a:buNone/>
            </a:pPr>
            <a:r>
              <a:rPr lang="en-US" dirty="0" smtClean="0"/>
              <a:t>synchronized (object reference expression) </a:t>
            </a:r>
          </a:p>
          <a:p>
            <a:pPr marL="0" indent="0">
              <a:buNone/>
            </a:pPr>
            <a:r>
              <a:rPr lang="en-US" dirty="0" smtClean="0"/>
              <a:t>{ </a:t>
            </a:r>
          </a:p>
          <a:p>
            <a:pPr marL="0" indent="0">
              <a:buNone/>
            </a:pPr>
            <a:r>
              <a:rPr lang="en-US" dirty="0" smtClean="0"/>
              <a:t>//code block 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513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Thanks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84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707</Words>
  <Application>Microsoft Office PowerPoint</Application>
  <PresentationFormat>Widescreen</PresentationFormat>
  <Paragraphs>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Multithreading II</vt:lpstr>
      <vt:lpstr>Learning objectives</vt:lpstr>
      <vt:lpstr>Sleep() method</vt:lpstr>
      <vt:lpstr>Join() method</vt:lpstr>
      <vt:lpstr>Naming Thread</vt:lpstr>
      <vt:lpstr>Thread priority</vt:lpstr>
      <vt:lpstr>Thread priority – constants </vt:lpstr>
      <vt:lpstr>Synchronization</vt:lpstr>
      <vt:lpstr>Why Synchronization and Types?</vt:lpstr>
      <vt:lpstr>Thread Synchronization</vt:lpstr>
      <vt:lpstr>Concept of Lock</vt:lpstr>
      <vt:lpstr>Synchronized Method</vt:lpstr>
      <vt:lpstr>Synchronized block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Interface</dc:title>
  <dc:creator>kumarpc</dc:creator>
  <cp:lastModifiedBy>Windows User</cp:lastModifiedBy>
  <cp:revision>35</cp:revision>
  <dcterms:created xsi:type="dcterms:W3CDTF">2016-09-14T14:18:40Z</dcterms:created>
  <dcterms:modified xsi:type="dcterms:W3CDTF">2023-06-22T16:12:04Z</dcterms:modified>
</cp:coreProperties>
</file>