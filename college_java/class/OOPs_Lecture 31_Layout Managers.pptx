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62" r:id="rId5"/>
    <p:sldId id="263" r:id="rId6"/>
    <p:sldId id="264" r:id="rId7"/>
    <p:sldId id="275" r:id="rId8"/>
    <p:sldId id="260" r:id="rId9"/>
    <p:sldId id="274" r:id="rId10"/>
    <p:sldId id="277" r:id="rId11"/>
    <p:sldId id="265" r:id="rId12"/>
    <p:sldId id="267" r:id="rId13"/>
    <p:sldId id="278" r:id="rId14"/>
    <p:sldId id="266" r:id="rId15"/>
    <p:sldId id="269" r:id="rId16"/>
    <p:sldId id="270" r:id="rId17"/>
    <p:sldId id="280" r:id="rId18"/>
    <p:sldId id="281" r:id="rId19"/>
    <p:sldId id="268" r:id="rId20"/>
    <p:sldId id="271" r:id="rId21"/>
    <p:sldId id="272" r:id="rId22"/>
    <p:sldId id="279" r:id="rId23"/>
    <p:sldId id="282" r:id="rId24"/>
    <p:sldId id="27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1F6B3-BFB3-412E-A75E-13E97AA6A549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42C33-CAE9-497C-B86B-C9A41AFA4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862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1F6B3-BFB3-412E-A75E-13E97AA6A549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42C33-CAE9-497C-B86B-C9A41AFA4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316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1F6B3-BFB3-412E-A75E-13E97AA6A549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42C33-CAE9-497C-B86B-C9A41AFA4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175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1F6B3-BFB3-412E-A75E-13E97AA6A549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42C33-CAE9-497C-B86B-C9A41AFA4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35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1F6B3-BFB3-412E-A75E-13E97AA6A549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42C33-CAE9-497C-B86B-C9A41AFA4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737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1F6B3-BFB3-412E-A75E-13E97AA6A549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42C33-CAE9-497C-B86B-C9A41AFA4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300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1F6B3-BFB3-412E-A75E-13E97AA6A549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42C33-CAE9-497C-B86B-C9A41AFA4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036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1F6B3-BFB3-412E-A75E-13E97AA6A549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42C33-CAE9-497C-B86B-C9A41AFA4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941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1F6B3-BFB3-412E-A75E-13E97AA6A549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42C33-CAE9-497C-B86B-C9A41AFA4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242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1F6B3-BFB3-412E-A75E-13E97AA6A549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42C33-CAE9-497C-B86B-C9A41AFA4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9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F1F6B3-BFB3-412E-A75E-13E97AA6A549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942C33-CAE9-497C-B86B-C9A41AFA4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119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F1F6B3-BFB3-412E-A75E-13E97AA6A549}" type="datetimeFigureOut">
              <a:rPr lang="en-US" smtClean="0"/>
              <a:t>6/29/2023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942C33-CAE9-497C-B86B-C9A41AFA48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89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ecomputernotes.com/java/awt-and-applets/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Layout Managers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150135"/>
            <a:ext cx="9144000" cy="1655762"/>
          </a:xfrm>
        </p:spPr>
        <p:txBody>
          <a:bodyPr/>
          <a:lstStyle/>
          <a:p>
            <a:r>
              <a:rPr lang="en-US" dirty="0" smtClean="0"/>
              <a:t>Lecture 31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304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After the completion of today’s session you will be able to:</a:t>
            </a:r>
          </a:p>
          <a:p>
            <a:r>
              <a:rPr lang="en-US" dirty="0" smtClean="0"/>
              <a:t>Analyze various types of layout managers </a:t>
            </a:r>
            <a:r>
              <a:rPr lang="en-US" smtClean="0"/>
              <a:t>in java.</a:t>
            </a:r>
            <a:endParaRPr lang="en-US" dirty="0" smtClean="0"/>
          </a:p>
          <a:p>
            <a:r>
              <a:rPr lang="en-US" dirty="0" smtClean="0"/>
              <a:t>Implement the components on the different layouts.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0542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Java Layout Managers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The </a:t>
            </a:r>
            <a:r>
              <a:rPr lang="en-US" dirty="0" err="1"/>
              <a:t>LayoutManagers</a:t>
            </a:r>
            <a:r>
              <a:rPr lang="en-US" dirty="0"/>
              <a:t> are used to arrange components in a particular manner. </a:t>
            </a:r>
            <a:endParaRPr lang="en-US" dirty="0" smtClean="0"/>
          </a:p>
          <a:p>
            <a:pPr algn="just"/>
            <a:r>
              <a:rPr lang="en-US" dirty="0" err="1" smtClean="0"/>
              <a:t>LayoutManager</a:t>
            </a:r>
            <a:r>
              <a:rPr lang="en-US" dirty="0" smtClean="0"/>
              <a:t> </a:t>
            </a:r>
            <a:r>
              <a:rPr lang="en-US" dirty="0"/>
              <a:t>is an interface that is implemented by all the classes of layout managers. </a:t>
            </a:r>
            <a:endParaRPr lang="en-US" dirty="0" smtClean="0"/>
          </a:p>
          <a:p>
            <a:pPr algn="just"/>
            <a:r>
              <a:rPr lang="en-US" dirty="0" smtClean="0"/>
              <a:t>There </a:t>
            </a:r>
            <a:r>
              <a:rPr lang="en-US" dirty="0"/>
              <a:t>are following classes that represents the layout </a:t>
            </a:r>
            <a:r>
              <a:rPr lang="en-US" dirty="0" smtClean="0"/>
              <a:t>managers: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java.awt.FlowLayout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java.awt.BorderLayout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java.awt.GridLayout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java.awt.CardLayout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java.awt.GridBagLayout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802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Flow Layout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FlowLayout</a:t>
            </a:r>
            <a:r>
              <a:rPr lang="en-US" dirty="0"/>
              <a:t> is used to arrange the components in a line, one after another (in a flow).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is the default layout of applet or panel.</a:t>
            </a:r>
          </a:p>
        </p:txBody>
      </p:sp>
    </p:spTree>
    <p:extLst>
      <p:ext uri="{BB962C8B-B14F-4D97-AF65-F5344CB8AC3E}">
        <p14:creationId xmlns:p14="http://schemas.microsoft.com/office/powerpoint/2010/main" val="1936894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Constructors of Flow Layout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FlowLayout</a:t>
            </a:r>
            <a:r>
              <a:rPr lang="en-US" b="1" dirty="0"/>
              <a:t>():</a:t>
            </a:r>
            <a:r>
              <a:rPr lang="en-US" dirty="0"/>
              <a:t> creates a flow layout with centered alignment and a default 5 unit horizontal and vertical gap.</a:t>
            </a:r>
          </a:p>
          <a:p>
            <a:r>
              <a:rPr lang="en-US" b="1" dirty="0" err="1"/>
              <a:t>FlowLayout</a:t>
            </a:r>
            <a:r>
              <a:rPr lang="en-US" b="1" dirty="0"/>
              <a:t>(</a:t>
            </a:r>
            <a:r>
              <a:rPr lang="en-US" b="1" dirty="0" err="1"/>
              <a:t>int</a:t>
            </a:r>
            <a:r>
              <a:rPr lang="en-US" b="1" dirty="0"/>
              <a:t> align):</a:t>
            </a:r>
            <a:r>
              <a:rPr lang="en-US" dirty="0"/>
              <a:t> creates a flow layout with the given alignment and a default 5 unit horizontal and vertical gap.</a:t>
            </a:r>
          </a:p>
          <a:p>
            <a:r>
              <a:rPr lang="en-US" b="1" dirty="0" err="1"/>
              <a:t>FlowLayout</a:t>
            </a:r>
            <a:r>
              <a:rPr lang="en-US" b="1" dirty="0"/>
              <a:t>(</a:t>
            </a:r>
            <a:r>
              <a:rPr lang="en-US" b="1" dirty="0" err="1"/>
              <a:t>int</a:t>
            </a:r>
            <a:r>
              <a:rPr lang="en-US" b="1" dirty="0"/>
              <a:t> align, 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hgap</a:t>
            </a:r>
            <a:r>
              <a:rPr lang="en-US" b="1" dirty="0"/>
              <a:t>, 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vgap</a:t>
            </a:r>
            <a:r>
              <a:rPr lang="en-US" b="1" dirty="0"/>
              <a:t>):</a:t>
            </a:r>
            <a:r>
              <a:rPr lang="en-US" dirty="0"/>
              <a:t> creates a flow layout with the given alignment and the given horizontal and vertical gap.</a:t>
            </a:r>
          </a:p>
        </p:txBody>
      </p:sp>
    </p:spTree>
    <p:extLst>
      <p:ext uri="{BB962C8B-B14F-4D97-AF65-F5344CB8AC3E}">
        <p14:creationId xmlns:p14="http://schemas.microsoft.com/office/powerpoint/2010/main" val="2607741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Alignment in Flow Layout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FlowLayout.LEFT</a:t>
            </a:r>
            <a:endParaRPr lang="en-US" dirty="0"/>
          </a:p>
          <a:p>
            <a:r>
              <a:rPr lang="en-US" dirty="0" err="1"/>
              <a:t>FlowLayout.CENTER</a:t>
            </a:r>
            <a:endParaRPr lang="en-US" dirty="0"/>
          </a:p>
          <a:p>
            <a:r>
              <a:rPr lang="en-US" dirty="0" err="1"/>
              <a:t>FlowLayout.RIGHT</a:t>
            </a:r>
            <a:endParaRPr lang="en-US" dirty="0"/>
          </a:p>
          <a:p>
            <a:r>
              <a:rPr lang="en-US" dirty="0" err="1"/>
              <a:t>FlowLayout.LEADING</a:t>
            </a:r>
            <a:endParaRPr lang="en-US" dirty="0"/>
          </a:p>
          <a:p>
            <a:r>
              <a:rPr lang="en-US" dirty="0" err="1"/>
              <a:t>FlowLayout.TRAILING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3680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825910"/>
          </a:xfrm>
        </p:spPr>
        <p:txBody>
          <a:bodyPr/>
          <a:lstStyle/>
          <a:p>
            <a:r>
              <a:rPr lang="en-US" dirty="0" smtClean="0"/>
              <a:t>Flow Layout 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25910"/>
            <a:ext cx="6997818" cy="603208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7818" y="2935158"/>
            <a:ext cx="4848580" cy="18135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997818" y="2565826"/>
            <a:ext cx="2087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Output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0164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2. </a:t>
            </a:r>
            <a:r>
              <a:rPr lang="en-US" dirty="0" err="1" smtClean="0"/>
              <a:t>BorderLayout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The </a:t>
            </a:r>
            <a:r>
              <a:rPr lang="en-US" dirty="0" err="1"/>
              <a:t>BorderLayout</a:t>
            </a:r>
            <a:r>
              <a:rPr lang="en-US" dirty="0"/>
              <a:t> is used to arrange the components in five regions: north, south, east, west and center. </a:t>
            </a:r>
            <a:endParaRPr lang="en-US" dirty="0" smtClean="0"/>
          </a:p>
          <a:p>
            <a:pPr algn="just"/>
            <a:r>
              <a:rPr lang="en-US" dirty="0" smtClean="0"/>
              <a:t>Each </a:t>
            </a:r>
            <a:r>
              <a:rPr lang="en-US" dirty="0"/>
              <a:t>region (area) may contain one component only.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is the default layout of frame or window.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 err="1"/>
              <a:t>BorderLayout</a:t>
            </a:r>
            <a:r>
              <a:rPr lang="en-US" dirty="0"/>
              <a:t> provides five constants for each region: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public </a:t>
            </a:r>
            <a:r>
              <a:rPr lang="en-US" b="1" dirty="0"/>
              <a:t>static final 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smtClean="0"/>
              <a:t>NORTH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public </a:t>
            </a:r>
            <a:r>
              <a:rPr lang="en-US" b="1" dirty="0"/>
              <a:t>static final 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smtClean="0"/>
              <a:t>SOUTH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public </a:t>
            </a:r>
            <a:r>
              <a:rPr lang="en-US" b="1" dirty="0"/>
              <a:t>static final 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smtClean="0"/>
              <a:t>EAST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public </a:t>
            </a:r>
            <a:r>
              <a:rPr lang="en-US" b="1" dirty="0"/>
              <a:t>static final 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smtClean="0"/>
              <a:t>WEST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public </a:t>
            </a:r>
            <a:r>
              <a:rPr lang="en-US" b="1" dirty="0"/>
              <a:t>static final </a:t>
            </a:r>
            <a:r>
              <a:rPr lang="en-US" b="1" dirty="0" err="1"/>
              <a:t>int</a:t>
            </a:r>
            <a:r>
              <a:rPr lang="en-US" b="1" dirty="0"/>
              <a:t> CENTER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188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Constructors of Border Layout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BorderLayout</a:t>
            </a:r>
            <a:r>
              <a:rPr lang="en-US" dirty="0"/>
              <a:t>( )</a:t>
            </a:r>
          </a:p>
          <a:p>
            <a:r>
              <a:rPr lang="en-US" dirty="0" err="1"/>
              <a:t>BorderLayout</a:t>
            </a:r>
            <a:r>
              <a:rPr lang="en-US" dirty="0"/>
              <a:t>(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i="1" dirty="0" err="1"/>
              <a:t>horz</a:t>
            </a:r>
            <a:r>
              <a:rPr lang="en-US" dirty="0"/>
              <a:t>, </a:t>
            </a:r>
            <a:r>
              <a:rPr lang="en-US" dirty="0" err="1"/>
              <a:t>int</a:t>
            </a:r>
            <a:r>
              <a:rPr lang="en-US" dirty="0"/>
              <a:t> </a:t>
            </a:r>
            <a:r>
              <a:rPr lang="en-US" i="1" dirty="0" err="1"/>
              <a:t>vert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72764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825910"/>
          </a:xfrm>
        </p:spPr>
        <p:txBody>
          <a:bodyPr/>
          <a:lstStyle/>
          <a:p>
            <a:r>
              <a:rPr lang="en-US" dirty="0" smtClean="0"/>
              <a:t>Border Layout Example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690993" y="1607181"/>
            <a:ext cx="2087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Output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5081" y="825911"/>
            <a:ext cx="7374033" cy="52209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0993" y="2033883"/>
            <a:ext cx="3733800" cy="144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764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Grid Layout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GridLayout</a:t>
            </a:r>
            <a:r>
              <a:rPr lang="en-US" dirty="0"/>
              <a:t> is used to arrange the components in rectangular grid. </a:t>
            </a:r>
            <a:endParaRPr lang="en-US" dirty="0" smtClean="0"/>
          </a:p>
          <a:p>
            <a:r>
              <a:rPr lang="en-US" dirty="0" smtClean="0"/>
              <a:t>One </a:t>
            </a:r>
            <a:r>
              <a:rPr lang="en-US" dirty="0"/>
              <a:t>component is displayed in each rectangle.</a:t>
            </a:r>
          </a:p>
        </p:txBody>
      </p:sp>
    </p:spTree>
    <p:extLst>
      <p:ext uri="{BB962C8B-B14F-4D97-AF65-F5344CB8AC3E}">
        <p14:creationId xmlns:p14="http://schemas.microsoft.com/office/powerpoint/2010/main" val="1852163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Constructors of Grid Layout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 err="1"/>
              <a:t>GridLayout</a:t>
            </a:r>
            <a:r>
              <a:rPr lang="en-US" b="1" dirty="0"/>
              <a:t>():</a:t>
            </a:r>
            <a:r>
              <a:rPr lang="en-US" dirty="0"/>
              <a:t> creates a grid layout with one column per component in a row.</a:t>
            </a:r>
          </a:p>
          <a:p>
            <a:pPr algn="just"/>
            <a:r>
              <a:rPr lang="en-US" b="1" dirty="0" err="1"/>
              <a:t>GridLayout</a:t>
            </a:r>
            <a:r>
              <a:rPr lang="en-US" b="1" dirty="0"/>
              <a:t>(</a:t>
            </a:r>
            <a:r>
              <a:rPr lang="en-US" b="1" dirty="0" err="1"/>
              <a:t>int</a:t>
            </a:r>
            <a:r>
              <a:rPr lang="en-US" b="1" dirty="0"/>
              <a:t> rows, </a:t>
            </a:r>
            <a:r>
              <a:rPr lang="en-US" b="1" dirty="0" err="1"/>
              <a:t>int</a:t>
            </a:r>
            <a:r>
              <a:rPr lang="en-US" b="1" dirty="0"/>
              <a:t> columns):</a:t>
            </a:r>
            <a:r>
              <a:rPr lang="en-US" dirty="0"/>
              <a:t> creates a grid layout with the given rows and columns but no gaps between the components.</a:t>
            </a:r>
          </a:p>
          <a:p>
            <a:pPr algn="just"/>
            <a:r>
              <a:rPr lang="en-US" b="1" dirty="0" err="1"/>
              <a:t>GridLayout</a:t>
            </a:r>
            <a:r>
              <a:rPr lang="en-US" b="1" dirty="0"/>
              <a:t>(</a:t>
            </a:r>
            <a:r>
              <a:rPr lang="en-US" b="1" dirty="0" err="1"/>
              <a:t>int</a:t>
            </a:r>
            <a:r>
              <a:rPr lang="en-US" b="1" dirty="0"/>
              <a:t> rows, </a:t>
            </a:r>
            <a:r>
              <a:rPr lang="en-US" b="1" dirty="0" err="1"/>
              <a:t>int</a:t>
            </a:r>
            <a:r>
              <a:rPr lang="en-US" b="1" dirty="0"/>
              <a:t> columns, 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hgap</a:t>
            </a:r>
            <a:r>
              <a:rPr lang="en-US" b="1" dirty="0"/>
              <a:t>, 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vgap</a:t>
            </a:r>
            <a:r>
              <a:rPr lang="en-US" b="1" dirty="0"/>
              <a:t>):</a:t>
            </a:r>
            <a:r>
              <a:rPr lang="en-US" dirty="0"/>
              <a:t> creates a grid layout with the given rows and columns </a:t>
            </a:r>
            <a:r>
              <a:rPr lang="en-US" dirty="0" smtClean="0"/>
              <a:t>along with </a:t>
            </a:r>
            <a:r>
              <a:rPr lang="en-US" dirty="0"/>
              <a:t>given horizontal and vertical gaps.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6754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825910"/>
          </a:xfrm>
        </p:spPr>
        <p:txBody>
          <a:bodyPr/>
          <a:lstStyle/>
          <a:p>
            <a:r>
              <a:rPr lang="en-US" dirty="0" smtClean="0"/>
              <a:t>Grid Layout Example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544751" y="1732644"/>
            <a:ext cx="2087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Output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420" y="710264"/>
            <a:ext cx="7367331" cy="59089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4751" y="2255687"/>
            <a:ext cx="4622461" cy="181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6629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4. </a:t>
            </a:r>
            <a:r>
              <a:rPr lang="en-US" dirty="0" err="1" smtClean="0"/>
              <a:t>GridBag</a:t>
            </a:r>
            <a:r>
              <a:rPr lang="en-US" dirty="0" smtClean="0"/>
              <a:t> Layout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The Java </a:t>
            </a:r>
            <a:r>
              <a:rPr lang="en-US" dirty="0" err="1"/>
              <a:t>GridBagLayout</a:t>
            </a:r>
            <a:r>
              <a:rPr lang="en-US" dirty="0"/>
              <a:t> class is used to align components vertically, horizontally or along their baseline.</a:t>
            </a:r>
          </a:p>
          <a:p>
            <a:pPr algn="just"/>
            <a:r>
              <a:rPr lang="en-US" dirty="0"/>
              <a:t>The components may not be of same size. </a:t>
            </a:r>
            <a:endParaRPr lang="en-US" dirty="0" smtClean="0"/>
          </a:p>
          <a:p>
            <a:pPr algn="just"/>
            <a:r>
              <a:rPr lang="en-US" dirty="0" smtClean="0"/>
              <a:t>Each </a:t>
            </a:r>
            <a:r>
              <a:rPr lang="en-US" dirty="0" err="1"/>
              <a:t>GridBagLayout</a:t>
            </a:r>
            <a:r>
              <a:rPr lang="en-US" dirty="0"/>
              <a:t> object maintains a dynamic, rectangular grid of cells</a:t>
            </a:r>
            <a:r>
              <a:rPr lang="en-US" dirty="0" smtClean="0"/>
              <a:t>.</a:t>
            </a:r>
          </a:p>
          <a:p>
            <a:pPr algn="just"/>
            <a:r>
              <a:rPr lang="en-US" dirty="0" smtClean="0"/>
              <a:t>Each </a:t>
            </a:r>
            <a:r>
              <a:rPr lang="en-US" dirty="0"/>
              <a:t>component occupies one or more cells known as its display area. </a:t>
            </a:r>
            <a:endParaRPr lang="en-US" dirty="0" smtClean="0"/>
          </a:p>
          <a:p>
            <a:pPr algn="just"/>
            <a:r>
              <a:rPr lang="en-US" dirty="0" smtClean="0"/>
              <a:t>Each </a:t>
            </a:r>
            <a:r>
              <a:rPr lang="en-US" dirty="0"/>
              <a:t>component associates an instance of </a:t>
            </a:r>
            <a:r>
              <a:rPr lang="en-US" dirty="0" err="1"/>
              <a:t>GridBagConstraints</a:t>
            </a:r>
            <a:r>
              <a:rPr lang="en-US" dirty="0"/>
              <a:t>. </a:t>
            </a:r>
            <a:endParaRPr lang="en-US" dirty="0" smtClean="0"/>
          </a:p>
          <a:p>
            <a:pPr algn="just"/>
            <a:r>
              <a:rPr lang="en-US" dirty="0" smtClean="0"/>
              <a:t>With </a:t>
            </a:r>
            <a:r>
              <a:rPr lang="en-US" dirty="0"/>
              <a:t>the help of constraints object we arrange component's display area on the grid. </a:t>
            </a:r>
            <a:endParaRPr lang="en-US" dirty="0" smtClean="0"/>
          </a:p>
          <a:p>
            <a:pPr algn="just"/>
            <a:r>
              <a:rPr lang="en-US" dirty="0" smtClean="0"/>
              <a:t>The </a:t>
            </a:r>
            <a:r>
              <a:rPr lang="en-US" dirty="0" err="1"/>
              <a:t>GridBagLayout</a:t>
            </a:r>
            <a:r>
              <a:rPr lang="en-US" dirty="0"/>
              <a:t> manages each component's minimum and preferred sizes in order to determine component's size.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2144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77922"/>
          </a:xfrm>
        </p:spPr>
        <p:txBody>
          <a:bodyPr/>
          <a:lstStyle/>
          <a:p>
            <a:r>
              <a:rPr lang="en-US" dirty="0" err="1" smtClean="0"/>
              <a:t>GridBag</a:t>
            </a:r>
            <a:r>
              <a:rPr lang="en-US" dirty="0" smtClean="0"/>
              <a:t> Layout Constraint fields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77923"/>
            <a:ext cx="10227181" cy="5737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8560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777922"/>
          </a:xfrm>
        </p:spPr>
        <p:txBody>
          <a:bodyPr/>
          <a:lstStyle/>
          <a:p>
            <a:r>
              <a:rPr lang="en-US" dirty="0" err="1" smtClean="0"/>
              <a:t>GridBag</a:t>
            </a:r>
            <a:r>
              <a:rPr lang="en-US" dirty="0" smtClean="0"/>
              <a:t> Layout Constraint fields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874" y="777923"/>
            <a:ext cx="10547176" cy="28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469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825910"/>
          </a:xfrm>
        </p:spPr>
        <p:txBody>
          <a:bodyPr/>
          <a:lstStyle/>
          <a:p>
            <a:r>
              <a:rPr lang="en-US" dirty="0" smtClean="0"/>
              <a:t>Grid Layout Example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8557" y="692860"/>
            <a:ext cx="9060041" cy="5926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6758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825910"/>
          </a:xfrm>
        </p:spPr>
        <p:txBody>
          <a:bodyPr/>
          <a:lstStyle/>
          <a:p>
            <a:r>
              <a:rPr lang="en-US" dirty="0" smtClean="0"/>
              <a:t>Grid Layout Example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57150" y="3785765"/>
            <a:ext cx="2087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Output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150" y="1131497"/>
            <a:ext cx="7772002" cy="234868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725" y="3818396"/>
            <a:ext cx="5017967" cy="3039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3447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5. Card Layout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</a:t>
            </a:r>
            <a:r>
              <a:rPr lang="en-US" dirty="0" err="1"/>
              <a:t>CardLayout</a:t>
            </a:r>
            <a:r>
              <a:rPr lang="en-US" dirty="0"/>
              <a:t> class manages the components in such a manner that only one component is visible at a time. </a:t>
            </a:r>
            <a:endParaRPr lang="en-US" dirty="0" smtClean="0"/>
          </a:p>
          <a:p>
            <a:pPr algn="just"/>
            <a:r>
              <a:rPr lang="en-US" dirty="0" smtClean="0"/>
              <a:t>It </a:t>
            </a:r>
            <a:r>
              <a:rPr lang="en-US" dirty="0"/>
              <a:t>treats each component as a card that is why it is known as </a:t>
            </a:r>
            <a:r>
              <a:rPr lang="en-US" dirty="0" err="1"/>
              <a:t>CardLayout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9317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Constructors of Card Layout class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err="1"/>
              <a:t>CardLayout</a:t>
            </a:r>
            <a:r>
              <a:rPr lang="en-US" b="1" dirty="0"/>
              <a:t>():</a:t>
            </a:r>
            <a:r>
              <a:rPr lang="en-US" dirty="0"/>
              <a:t> creates a card layout with zero horizontal and vertical gap.</a:t>
            </a:r>
          </a:p>
          <a:p>
            <a:r>
              <a:rPr lang="en-US" b="1" dirty="0" err="1"/>
              <a:t>CardLayout</a:t>
            </a:r>
            <a:r>
              <a:rPr lang="en-US" b="1" dirty="0"/>
              <a:t>(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hgap</a:t>
            </a:r>
            <a:r>
              <a:rPr lang="en-US" b="1" dirty="0"/>
              <a:t>, </a:t>
            </a:r>
            <a:r>
              <a:rPr lang="en-US" b="1" dirty="0" err="1"/>
              <a:t>int</a:t>
            </a:r>
            <a:r>
              <a:rPr lang="en-US" b="1" dirty="0"/>
              <a:t> </a:t>
            </a:r>
            <a:r>
              <a:rPr lang="en-US" b="1" dirty="0" err="1"/>
              <a:t>vgap</a:t>
            </a:r>
            <a:r>
              <a:rPr lang="en-US" b="1" dirty="0"/>
              <a:t>):</a:t>
            </a:r>
            <a:r>
              <a:rPr lang="en-US" dirty="0"/>
              <a:t> creates a card layout with the given horizontal and vertical gap.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372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Commonly used methods in Card layout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b="1" dirty="0"/>
              <a:t>public void next(Container parent):</a:t>
            </a:r>
            <a:r>
              <a:rPr lang="en-US" dirty="0"/>
              <a:t> is used to flip to the next card of the given container.</a:t>
            </a:r>
          </a:p>
          <a:p>
            <a:pPr algn="just"/>
            <a:r>
              <a:rPr lang="en-US" b="1" dirty="0"/>
              <a:t>public void previous(Container parent):</a:t>
            </a:r>
            <a:r>
              <a:rPr lang="en-US" dirty="0"/>
              <a:t> is used to flip to the previous card of the given container.</a:t>
            </a:r>
          </a:p>
          <a:p>
            <a:pPr algn="just"/>
            <a:r>
              <a:rPr lang="en-US" b="1" dirty="0"/>
              <a:t>public void first(Container parent):</a:t>
            </a:r>
            <a:r>
              <a:rPr lang="en-US" dirty="0"/>
              <a:t> is used to flip to the first card of the given container.</a:t>
            </a:r>
          </a:p>
          <a:p>
            <a:pPr algn="just"/>
            <a:r>
              <a:rPr lang="en-US" b="1" dirty="0"/>
              <a:t>public void last(Container parent):</a:t>
            </a:r>
            <a:r>
              <a:rPr lang="en-US" dirty="0"/>
              <a:t> is used to flip to the last card of the given container.</a:t>
            </a:r>
          </a:p>
          <a:p>
            <a:pPr algn="just"/>
            <a:r>
              <a:rPr lang="en-US" b="1" dirty="0"/>
              <a:t>public void show(Container parent, String name):</a:t>
            </a:r>
            <a:r>
              <a:rPr lang="en-US" dirty="0"/>
              <a:t> is used to flip to the specified card with the given name.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7894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0515600" cy="825910"/>
          </a:xfrm>
        </p:spPr>
        <p:txBody>
          <a:bodyPr/>
          <a:lstStyle/>
          <a:p>
            <a:r>
              <a:rPr lang="en-US" dirty="0" smtClean="0"/>
              <a:t>Card Layout Example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080929" y="3219686"/>
            <a:ext cx="2087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Output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2208"/>
          <a:stretch/>
        </p:blipFill>
        <p:spPr>
          <a:xfrm>
            <a:off x="0" y="654750"/>
            <a:ext cx="5949191" cy="423114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929" y="654750"/>
            <a:ext cx="5994757" cy="227951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195" y="3792548"/>
            <a:ext cx="2837032" cy="2032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072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https://ecomputernotes.com/java/awt-and-applets</a:t>
            </a:r>
            <a:r>
              <a:rPr lang="en-US" dirty="0" smtClean="0">
                <a:hlinkClick r:id="rId2"/>
              </a:rPr>
              <a:t>/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545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Thanks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0924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628</Words>
  <Application>Microsoft Office PowerPoint</Application>
  <PresentationFormat>Widescreen</PresentationFormat>
  <Paragraphs>87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Calibri Light</vt:lpstr>
      <vt:lpstr>Office Theme</vt:lpstr>
      <vt:lpstr>Layout Managers</vt:lpstr>
      <vt:lpstr>Learning objectives:</vt:lpstr>
      <vt:lpstr>Java Layout Managers</vt:lpstr>
      <vt:lpstr>1. Flow Layout</vt:lpstr>
      <vt:lpstr>Constructors of Flow Layout class</vt:lpstr>
      <vt:lpstr>Alignment in Flow Layout</vt:lpstr>
      <vt:lpstr>Flow Layout Example</vt:lpstr>
      <vt:lpstr>2. BorderLayout</vt:lpstr>
      <vt:lpstr>Constructors of Border Layout class</vt:lpstr>
      <vt:lpstr>Border Layout Example</vt:lpstr>
      <vt:lpstr>3. Grid Layout</vt:lpstr>
      <vt:lpstr>Constructors of Grid Layout class</vt:lpstr>
      <vt:lpstr>Grid Layout Example</vt:lpstr>
      <vt:lpstr>4. GridBag Layout</vt:lpstr>
      <vt:lpstr>GridBag Layout Constraint fields</vt:lpstr>
      <vt:lpstr>GridBag Layout Constraint fields</vt:lpstr>
      <vt:lpstr>Grid Layout Example</vt:lpstr>
      <vt:lpstr>Grid Layout Example</vt:lpstr>
      <vt:lpstr>5. Card Layout</vt:lpstr>
      <vt:lpstr>Constructors of Card Layout class</vt:lpstr>
      <vt:lpstr>Commonly used methods in Card layout</vt:lpstr>
      <vt:lpstr>Card Layout Example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Layout Managers</dc:title>
  <dc:creator>kumar-pc</dc:creator>
  <cp:lastModifiedBy>Windows User</cp:lastModifiedBy>
  <cp:revision>15</cp:revision>
  <dcterms:created xsi:type="dcterms:W3CDTF">2018-07-18T11:05:56Z</dcterms:created>
  <dcterms:modified xsi:type="dcterms:W3CDTF">2023-06-29T15:17:22Z</dcterms:modified>
</cp:coreProperties>
</file>