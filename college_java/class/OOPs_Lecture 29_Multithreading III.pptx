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7" r:id="rId4"/>
    <p:sldId id="268" r:id="rId5"/>
    <p:sldId id="269" r:id="rId6"/>
    <p:sldId id="270" r:id="rId7"/>
    <p:sldId id="272" r:id="rId8"/>
    <p:sldId id="271" r:id="rId9"/>
    <p:sldId id="273" r:id="rId10"/>
    <p:sldId id="278" r:id="rId11"/>
    <p:sldId id="274" r:id="rId12"/>
    <p:sldId id="275" r:id="rId13"/>
    <p:sldId id="276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BEBEF-8C23-4B9E-9BD6-1CA7D9AC449F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CE528-9F86-42EC-9214-283475E88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63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82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8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91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63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5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3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28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46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29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7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5BF-2118-4053-9FC2-070932A5B30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999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A45BF-2118-4053-9FC2-070932A5B30D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D12F3-E0AB-4B88-9987-CCC612BC0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75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Multithreading III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150135"/>
            <a:ext cx="9144000" cy="1655762"/>
          </a:xfrm>
        </p:spPr>
        <p:txBody>
          <a:bodyPr/>
          <a:lstStyle/>
          <a:p>
            <a:r>
              <a:rPr lang="en-US" dirty="0" smtClean="0"/>
              <a:t>Lecture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3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After the completion of today’s session you will be able to:</a:t>
            </a:r>
          </a:p>
          <a:p>
            <a:r>
              <a:rPr lang="en-US" dirty="0" smtClean="0"/>
              <a:t>Analyze the concept of inter thread communication.</a:t>
            </a:r>
          </a:p>
          <a:p>
            <a:r>
              <a:rPr lang="en-US" dirty="0" smtClean="0"/>
              <a:t>Demonstrate the problem of deadlock</a:t>
            </a:r>
          </a:p>
          <a:p>
            <a:r>
              <a:rPr lang="en-US" dirty="0" smtClean="0"/>
              <a:t>Illustrate the concept of Daemon thread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472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en-US" dirty="0"/>
              <a:t>The process of testing a condition repeatedly till it becomes true is known as </a:t>
            </a:r>
            <a:r>
              <a:rPr lang="en-US" dirty="0">
                <a:solidFill>
                  <a:srgbClr val="0070C0"/>
                </a:solidFill>
              </a:rPr>
              <a:t>polling</a:t>
            </a:r>
            <a:r>
              <a:rPr lang="en-US" dirty="0"/>
              <a:t>.</a:t>
            </a:r>
          </a:p>
          <a:p>
            <a:pPr algn="just" fontAlgn="base"/>
            <a:r>
              <a:rPr lang="en-US" dirty="0"/>
              <a:t>Polling is usually implemented with the help of loops to check whether a particular condition is true or not. If it is true, certain action is taken. </a:t>
            </a:r>
            <a:endParaRPr lang="en-US" dirty="0" smtClean="0"/>
          </a:p>
          <a:p>
            <a:pPr algn="just" fontAlgn="base"/>
            <a:r>
              <a:rPr lang="en-US" dirty="0" smtClean="0"/>
              <a:t>This </a:t>
            </a:r>
            <a:r>
              <a:rPr lang="en-US" dirty="0"/>
              <a:t>waste many CPU cycles and makes the implementation inefficient</a:t>
            </a:r>
            <a:r>
              <a:rPr lang="en-US" dirty="0" smtClean="0"/>
              <a:t>.</a:t>
            </a:r>
          </a:p>
          <a:p>
            <a:pPr algn="just" fontAlgn="base"/>
            <a:r>
              <a:rPr lang="en-US" dirty="0" smtClean="0"/>
              <a:t>For </a:t>
            </a:r>
            <a:r>
              <a:rPr lang="en-US" dirty="0"/>
              <a:t>example, in a classic queuing problem where one thread is producing data and other is consuming it</a:t>
            </a:r>
          </a:p>
        </p:txBody>
      </p:sp>
    </p:spTree>
    <p:extLst>
      <p:ext uri="{BB962C8B-B14F-4D97-AF65-F5344CB8AC3E}">
        <p14:creationId xmlns:p14="http://schemas.microsoft.com/office/powerpoint/2010/main" val="366040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to polling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 algn="just"/>
            <a:r>
              <a:rPr lang="en-US" dirty="0"/>
              <a:t>To avoid polling, Java uses three methods, namely, </a:t>
            </a:r>
            <a:r>
              <a:rPr lang="en-US" b="1" dirty="0"/>
              <a:t>wait(), notify() </a:t>
            </a:r>
            <a:r>
              <a:rPr lang="en-US" dirty="0" smtClean="0"/>
              <a:t>and</a:t>
            </a:r>
            <a:r>
              <a:rPr lang="en-US" b="1" dirty="0" smtClean="0"/>
              <a:t> </a:t>
            </a:r>
            <a:r>
              <a:rPr lang="en-US" b="1" dirty="0" err="1" smtClean="0"/>
              <a:t>notifyAll</a:t>
            </a:r>
            <a:r>
              <a:rPr lang="en-US" b="1" dirty="0" smtClean="0"/>
              <a:t>().</a:t>
            </a:r>
          </a:p>
          <a:p>
            <a:pPr marL="342900" indent="-342900" algn="just"/>
            <a:r>
              <a:rPr lang="en-US" dirty="0" smtClean="0"/>
              <a:t>All </a:t>
            </a:r>
            <a:r>
              <a:rPr lang="en-US" dirty="0"/>
              <a:t>these methods belong to object class as final so that all classes have them. They must be used within a synchronized block only</a:t>
            </a:r>
            <a:r>
              <a:rPr lang="en-US" dirty="0" smtClean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b="1" dirty="0"/>
              <a:t>wait( ) </a:t>
            </a:r>
            <a:r>
              <a:rPr lang="en-US" dirty="0"/>
              <a:t>tells the calling thread to give up the monitor and go to sleep until </a:t>
            </a:r>
            <a:r>
              <a:rPr lang="en-US" dirty="0" smtClean="0"/>
              <a:t>some other </a:t>
            </a:r>
            <a:r>
              <a:rPr lang="en-US" dirty="0"/>
              <a:t>thread enters the same monitor and calls </a:t>
            </a:r>
            <a:r>
              <a:rPr lang="en-US" b="1" dirty="0"/>
              <a:t>notify( ) </a:t>
            </a:r>
            <a:r>
              <a:rPr lang="en-US" dirty="0"/>
              <a:t>or </a:t>
            </a:r>
            <a:r>
              <a:rPr lang="en-US" b="1" dirty="0" err="1"/>
              <a:t>notifyAll</a:t>
            </a:r>
            <a:r>
              <a:rPr lang="en-US" b="1" dirty="0" smtClean="0"/>
              <a:t>()</a:t>
            </a:r>
            <a:r>
              <a:rPr lang="en-US" dirty="0" smtClean="0"/>
              <a:t>.</a:t>
            </a:r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b="1" dirty="0" smtClean="0"/>
              <a:t>notify</a:t>
            </a:r>
            <a:r>
              <a:rPr lang="en-US" b="1" dirty="0"/>
              <a:t>( ) </a:t>
            </a:r>
            <a:r>
              <a:rPr lang="en-US" dirty="0"/>
              <a:t>wakes up a thread that called </a:t>
            </a:r>
            <a:r>
              <a:rPr lang="en-US" b="1" dirty="0"/>
              <a:t>wait( ) </a:t>
            </a:r>
            <a:r>
              <a:rPr lang="en-US" dirty="0"/>
              <a:t>on the same </a:t>
            </a:r>
            <a:r>
              <a:rPr lang="en-US" dirty="0" smtClean="0"/>
              <a:t>object.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b="1" dirty="0" err="1" smtClean="0"/>
              <a:t>notifyAll</a:t>
            </a:r>
            <a:r>
              <a:rPr lang="en-US" b="1" dirty="0"/>
              <a:t>( ) </a:t>
            </a:r>
            <a:r>
              <a:rPr lang="en-US" dirty="0"/>
              <a:t>wakes up all the threads that called </a:t>
            </a:r>
            <a:r>
              <a:rPr lang="en-US" b="1" dirty="0"/>
              <a:t>wait( ) </a:t>
            </a:r>
            <a:r>
              <a:rPr lang="en-US" dirty="0"/>
              <a:t>on the same object. One </a:t>
            </a:r>
            <a:r>
              <a:rPr lang="en-US" dirty="0" smtClean="0"/>
              <a:t>of the </a:t>
            </a:r>
            <a:r>
              <a:rPr lang="en-US" dirty="0"/>
              <a:t>threads will be granted access.</a:t>
            </a:r>
          </a:p>
        </p:txBody>
      </p:sp>
    </p:spTree>
    <p:extLst>
      <p:ext uri="{BB962C8B-B14F-4D97-AF65-F5344CB8AC3E}">
        <p14:creationId xmlns:p14="http://schemas.microsoft.com/office/powerpoint/2010/main" val="345099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Syntax of wait(), notify() and </a:t>
            </a:r>
            <a:r>
              <a:rPr lang="en-US" dirty="0" err="1" smtClean="0"/>
              <a:t>notifyAll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void wait( ) throws </a:t>
            </a:r>
            <a:r>
              <a:rPr lang="en-US" dirty="0" err="1"/>
              <a:t>InterruptedException</a:t>
            </a:r>
            <a:endParaRPr lang="en-US" dirty="0"/>
          </a:p>
          <a:p>
            <a:r>
              <a:rPr lang="en-US" dirty="0"/>
              <a:t>final void notify( )</a:t>
            </a:r>
          </a:p>
          <a:p>
            <a:r>
              <a:rPr lang="en-US" dirty="0"/>
              <a:t>final void </a:t>
            </a:r>
            <a:r>
              <a:rPr lang="en-US" dirty="0" err="1" smtClean="0"/>
              <a:t>notifyAll</a:t>
            </a:r>
            <a:r>
              <a:rPr lang="en-US" dirty="0"/>
              <a:t>( )</a:t>
            </a:r>
          </a:p>
        </p:txBody>
      </p:sp>
    </p:spTree>
    <p:extLst>
      <p:ext uri="{BB962C8B-B14F-4D97-AF65-F5344CB8AC3E}">
        <p14:creationId xmlns:p14="http://schemas.microsoft.com/office/powerpoint/2010/main" val="1840877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Inter-Thread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Inter-thread communication</a:t>
            </a:r>
            <a:r>
              <a:rPr lang="en-US" dirty="0"/>
              <a:t> or </a:t>
            </a:r>
            <a:r>
              <a:rPr lang="en-US" b="1" dirty="0"/>
              <a:t>Co-operation</a:t>
            </a:r>
            <a:r>
              <a:rPr lang="en-US" dirty="0"/>
              <a:t> is all about allowing synchronized threads to communicate with each other.</a:t>
            </a:r>
          </a:p>
          <a:p>
            <a:pPr algn="just"/>
            <a:r>
              <a:rPr lang="en-US" dirty="0"/>
              <a:t>Cooperation (Inter-thread communication) is a mechanism in which a thread is paused running in its critical section and another thread is allowed to enter (or lock) in the same critical section to be executed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is implemented by following methods of </a:t>
            </a:r>
            <a:r>
              <a:rPr lang="en-US" b="1" dirty="0"/>
              <a:t>Object class</a:t>
            </a:r>
            <a:r>
              <a:rPr lang="en-US" dirty="0"/>
              <a:t>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/>
              <a:t>wait</a:t>
            </a:r>
            <a:r>
              <a:rPr lang="en-US" dirty="0" smtClean="0"/>
              <a:t>()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 smtClean="0"/>
              <a:t>notify()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 err="1" smtClean="0"/>
              <a:t>notifyAll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38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7842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678427"/>
            <a:ext cx="7469623" cy="55306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127" y="2875935"/>
            <a:ext cx="6380969" cy="17550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127" y="5548311"/>
            <a:ext cx="3736539" cy="10442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4871" y="4904985"/>
            <a:ext cx="1955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18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Deadlock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A special type of error that you need to avoid that relates specifically to multitasking is </a:t>
            </a:r>
            <a:r>
              <a:rPr lang="en-US" i="1" dirty="0" smtClean="0"/>
              <a:t>deadlock</a:t>
            </a:r>
            <a:r>
              <a:rPr lang="en-US" dirty="0" smtClean="0"/>
              <a:t>, which </a:t>
            </a:r>
            <a:r>
              <a:rPr lang="en-US" dirty="0"/>
              <a:t>occurs when two threads have a circular dependency on a pair of synchronized objects.</a:t>
            </a:r>
          </a:p>
          <a:p>
            <a:pPr algn="just"/>
            <a:r>
              <a:rPr lang="en-US" dirty="0"/>
              <a:t>For example, suppose one thread enters the monitor on object X and another thread </a:t>
            </a:r>
            <a:r>
              <a:rPr lang="en-US" dirty="0" smtClean="0"/>
              <a:t>enters the </a:t>
            </a:r>
            <a:r>
              <a:rPr lang="en-US" dirty="0"/>
              <a:t>monitor on object Y. </a:t>
            </a:r>
            <a:endParaRPr lang="en-US" dirty="0" smtClean="0"/>
          </a:p>
          <a:p>
            <a:pPr algn="just"/>
            <a:r>
              <a:rPr lang="en-US" dirty="0" smtClean="0"/>
              <a:t>If </a:t>
            </a:r>
            <a:r>
              <a:rPr lang="en-US" dirty="0"/>
              <a:t>the thread in X tries to call any synchronized method on Y, it </a:t>
            </a:r>
            <a:r>
              <a:rPr lang="en-US" dirty="0" smtClean="0"/>
              <a:t>will block </a:t>
            </a:r>
            <a:r>
              <a:rPr lang="en-US" dirty="0"/>
              <a:t>as expected. </a:t>
            </a:r>
            <a:endParaRPr lang="en-US" dirty="0" smtClean="0"/>
          </a:p>
          <a:p>
            <a:pPr algn="just"/>
            <a:r>
              <a:rPr lang="en-US" dirty="0" smtClean="0"/>
              <a:t>However</a:t>
            </a:r>
            <a:r>
              <a:rPr lang="en-US" dirty="0"/>
              <a:t>, if the thread in Y, in turn, tries to call any synchronized </a:t>
            </a:r>
            <a:r>
              <a:rPr lang="en-US" dirty="0" smtClean="0"/>
              <a:t>method on </a:t>
            </a:r>
            <a:r>
              <a:rPr lang="en-US" dirty="0"/>
              <a:t>X, the thread waits forever, because to access X, it would have to release its own lock on </a:t>
            </a:r>
            <a:r>
              <a:rPr lang="en-US" dirty="0" smtClean="0"/>
              <a:t>Y so </a:t>
            </a:r>
            <a:r>
              <a:rPr lang="en-US" dirty="0"/>
              <a:t>that the first thread could complete. </a:t>
            </a:r>
            <a:endParaRPr lang="en-US" dirty="0" smtClean="0"/>
          </a:p>
          <a:p>
            <a:pPr algn="just"/>
            <a:r>
              <a:rPr lang="en-US" dirty="0" smtClean="0"/>
              <a:t>Deadlock </a:t>
            </a:r>
            <a:r>
              <a:rPr lang="en-US" dirty="0"/>
              <a:t>is a difficult error to debug for two reasons: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In </a:t>
            </a:r>
            <a:r>
              <a:rPr lang="en-US" dirty="0"/>
              <a:t>general, it occurs only rarely, when the two threads time-slice in just the right </a:t>
            </a:r>
            <a:r>
              <a:rPr lang="en-US" dirty="0" smtClean="0"/>
              <a:t>way.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It </a:t>
            </a:r>
            <a:r>
              <a:rPr lang="en-US" dirty="0"/>
              <a:t>may involve more than two threads and two synchronized </a:t>
            </a:r>
            <a:r>
              <a:rPr lang="en-US" dirty="0" smtClean="0"/>
              <a:t>objects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41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07923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07923"/>
            <a:ext cx="8526248" cy="600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3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07923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948" y="707923"/>
            <a:ext cx="9022798" cy="59141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576" y="5465814"/>
            <a:ext cx="3356180" cy="9515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97632" y="4927187"/>
            <a:ext cx="1955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589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Daemon thread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Daemon thread in java</a:t>
            </a:r>
            <a:r>
              <a:rPr lang="en-US" dirty="0"/>
              <a:t> is a service provider thread that provides services to the user thread. </a:t>
            </a:r>
            <a:endParaRPr lang="en-US" dirty="0" smtClean="0"/>
          </a:p>
          <a:p>
            <a:pPr algn="just"/>
            <a:r>
              <a:rPr lang="en-US" dirty="0" smtClean="0"/>
              <a:t>Its </a:t>
            </a:r>
            <a:r>
              <a:rPr lang="en-US" dirty="0"/>
              <a:t>life depend on the mercy of user threads i.e. when all the user threads dies, JVM terminates this thread automatically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It provides services to user threads for background supporting tasks. It has no role in life than to serve user threads.</a:t>
            </a:r>
          </a:p>
          <a:p>
            <a:pPr algn="just"/>
            <a:r>
              <a:rPr lang="en-US" dirty="0"/>
              <a:t>Its life depends on user threads.</a:t>
            </a:r>
          </a:p>
          <a:p>
            <a:pPr algn="just"/>
            <a:r>
              <a:rPr lang="en-US" dirty="0" smtClean="0"/>
              <a:t>Daemon </a:t>
            </a:r>
            <a:r>
              <a:rPr lang="en-US" dirty="0"/>
              <a:t>thread is a low priority thread that runs in background to perform tasks such as garbage collection.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67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Daemon threads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public void </a:t>
            </a:r>
            <a:r>
              <a:rPr lang="en-US" dirty="0" err="1"/>
              <a:t>setDaemon</a:t>
            </a:r>
            <a:r>
              <a:rPr lang="en-US" dirty="0"/>
              <a:t>(</a:t>
            </a:r>
            <a:r>
              <a:rPr lang="en-US" dirty="0" err="1"/>
              <a:t>boolean</a:t>
            </a:r>
            <a:r>
              <a:rPr lang="en-US" dirty="0"/>
              <a:t> status</a:t>
            </a:r>
            <a:r>
              <a:rPr lang="en-US" dirty="0" smtClean="0"/>
              <a:t>): It </a:t>
            </a:r>
            <a:r>
              <a:rPr lang="en-US" dirty="0"/>
              <a:t>is used to mark the current thread as daemon thread or user thread</a:t>
            </a:r>
            <a:r>
              <a:rPr lang="en-US" dirty="0" smtClean="0"/>
              <a:t>.</a:t>
            </a:r>
          </a:p>
          <a:p>
            <a:r>
              <a:rPr lang="en-US" dirty="0"/>
              <a:t>public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isDaemon</a:t>
            </a:r>
            <a:r>
              <a:rPr lang="en-US" dirty="0"/>
              <a:t>(): It is used to check that current is daemon.</a:t>
            </a:r>
          </a:p>
        </p:txBody>
      </p:sp>
    </p:spTree>
    <p:extLst>
      <p:ext uri="{BB962C8B-B14F-4D97-AF65-F5344CB8AC3E}">
        <p14:creationId xmlns:p14="http://schemas.microsoft.com/office/powerpoint/2010/main" val="141782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44245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848" y="442453"/>
            <a:ext cx="9351724" cy="641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Thanks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84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529</Words>
  <Application>Microsoft Office PowerPoint</Application>
  <PresentationFormat>Widescreen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Multithreading III</vt:lpstr>
      <vt:lpstr>Learning objectives</vt:lpstr>
      <vt:lpstr>Polling</vt:lpstr>
      <vt:lpstr>Solution to polling</vt:lpstr>
      <vt:lpstr>Syntax of wait(), notify() and notifyAll()</vt:lpstr>
      <vt:lpstr>Inter-Thread Communication</vt:lpstr>
      <vt:lpstr>Example</vt:lpstr>
      <vt:lpstr>Deadlock</vt:lpstr>
      <vt:lpstr>Example</vt:lpstr>
      <vt:lpstr>Example</vt:lpstr>
      <vt:lpstr>Daemon thread</vt:lpstr>
      <vt:lpstr>Daemon threads method</vt:lpstr>
      <vt:lpstr>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</dc:title>
  <dc:creator>kumarpc</dc:creator>
  <cp:lastModifiedBy>Windows User</cp:lastModifiedBy>
  <cp:revision>43</cp:revision>
  <dcterms:created xsi:type="dcterms:W3CDTF">2016-09-14T14:18:40Z</dcterms:created>
  <dcterms:modified xsi:type="dcterms:W3CDTF">2023-06-25T16:07:26Z</dcterms:modified>
</cp:coreProperties>
</file>