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82" r:id="rId4"/>
    <p:sldId id="288" r:id="rId5"/>
    <p:sldId id="289" r:id="rId6"/>
    <p:sldId id="285" r:id="rId7"/>
    <p:sldId id="290" r:id="rId8"/>
    <p:sldId id="287" r:id="rId9"/>
    <p:sldId id="292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1F63FD-4B40-4EAC-ADE4-25BC2C8965BF}" type="datetimeFigureOut">
              <a:rPr lang="en-US" smtClean="0"/>
              <a:t>6/22/2023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D01B1-A853-4D3C-99AC-0595C5AF6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07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07A11-4ECD-4336-A495-35D7D360624B}" type="datetime1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 b="1"/>
            </a:lvl1pPr>
          </a:lstStyle>
          <a:p>
            <a:fld id="{76A87E72-9A65-4ABD-B2B5-89F984E4BA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36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40BC3-52A4-4005-946A-5B1F79F8A5D4}" type="datetime1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51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7C3E2-A73E-4896-AD9C-D65D4B937E44}" type="datetime1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40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B0F2-CEDD-4048-B7EA-C493B49C706B}" type="datetime1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2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3B6E-9249-498B-8559-3ADEFD8F25C9}" type="datetime1">
              <a:rPr lang="en-US" smtClean="0"/>
              <a:t>6/22/2023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7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F2C4-A95D-4A7C-80BD-57CC63B4A234}" type="datetime1">
              <a:rPr lang="en-US" smtClean="0"/>
              <a:t>6/22/2023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7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C6AF-6427-4C0C-9F22-6B94433BF878}" type="datetime1">
              <a:rPr lang="en-US" smtClean="0"/>
              <a:t>6/22/2023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3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5083B-1AE5-4514-A6D0-7DAB5BEE8ECB}" type="datetime1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33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55ACD-D2D4-44CA-A54C-A69D04EBA0B9}" type="datetime1">
              <a:rPr lang="en-US" smtClean="0"/>
              <a:t>6/22/2023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5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6B786-7CB4-4128-A326-F815458BB048}" type="datetime1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132C4-3C55-4684-9AC9-94C15428479B}" type="datetime1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1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00133-5FE8-4030-85D5-A2CB2C364B67}" type="datetime1">
              <a:rPr lang="en-US" smtClean="0"/>
              <a:t>6/22/2023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AA4CF-FF8C-4314-BDE8-04176A8B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98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Packages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535" y="5163783"/>
            <a:ext cx="9144000" cy="1655762"/>
          </a:xfrm>
        </p:spPr>
        <p:txBody>
          <a:bodyPr/>
          <a:lstStyle/>
          <a:p>
            <a:r>
              <a:rPr lang="en-US" smtClean="0"/>
              <a:t>Lecture 26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099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Illustrate the use of packages.</a:t>
            </a:r>
          </a:p>
          <a:p>
            <a:r>
              <a:rPr lang="en-US" dirty="0"/>
              <a:t>Import packages and use it in your code.</a:t>
            </a:r>
          </a:p>
          <a:p>
            <a:r>
              <a:rPr lang="en-US" dirty="0"/>
              <a:t>Select appropriate predefined packages in your code.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0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Packages – introduction: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i="1" dirty="0" smtClean="0"/>
              <a:t>Packages </a:t>
            </a:r>
            <a:r>
              <a:rPr lang="en-US" dirty="0" smtClean="0"/>
              <a:t>are </a:t>
            </a:r>
            <a:r>
              <a:rPr lang="en-US" dirty="0"/>
              <a:t>containers for classes. A </a:t>
            </a:r>
            <a:r>
              <a:rPr lang="en-US" b="1" dirty="0"/>
              <a:t>java package</a:t>
            </a:r>
            <a:r>
              <a:rPr lang="en-US" dirty="0"/>
              <a:t> is a group of similar types of classes, interfaces and sub-packages.</a:t>
            </a:r>
          </a:p>
          <a:p>
            <a:pPr algn="just"/>
            <a:r>
              <a:rPr lang="en-US" dirty="0" smtClean="0"/>
              <a:t>They </a:t>
            </a:r>
            <a:r>
              <a:rPr lang="en-US" dirty="0"/>
              <a:t>are used to keep the class name space compartmentalized. </a:t>
            </a:r>
            <a:r>
              <a:rPr lang="en-US" dirty="0" smtClean="0"/>
              <a:t>For example</a:t>
            </a:r>
            <a:r>
              <a:rPr lang="en-US" dirty="0"/>
              <a:t>, a package allows you to create a class named </a:t>
            </a:r>
            <a:r>
              <a:rPr lang="en-US" b="1" dirty="0"/>
              <a:t>List</a:t>
            </a:r>
            <a:r>
              <a:rPr lang="en-US" dirty="0"/>
              <a:t>, which you can store in your </a:t>
            </a:r>
            <a:r>
              <a:rPr lang="en-US" dirty="0" smtClean="0"/>
              <a:t>own package </a:t>
            </a:r>
            <a:r>
              <a:rPr lang="en-US" dirty="0"/>
              <a:t>without concern that it will collide with some other class named </a:t>
            </a:r>
            <a:r>
              <a:rPr lang="en-US" b="1" dirty="0"/>
              <a:t>List </a:t>
            </a:r>
            <a:r>
              <a:rPr lang="en-US" dirty="0"/>
              <a:t>stored elsewhere.</a:t>
            </a:r>
          </a:p>
          <a:p>
            <a:pPr algn="just"/>
            <a:r>
              <a:rPr lang="en-US" dirty="0"/>
              <a:t>Packages are stored in a hierarchical manner and are explicitly imported into new </a:t>
            </a:r>
            <a:r>
              <a:rPr lang="en-US" dirty="0" smtClean="0"/>
              <a:t>class definitions.</a:t>
            </a:r>
          </a:p>
          <a:p>
            <a:r>
              <a:rPr lang="en-US" dirty="0" smtClean="0"/>
              <a:t>Package </a:t>
            </a:r>
            <a:r>
              <a:rPr lang="en-US" dirty="0"/>
              <a:t>in java can be categorized in two form, built-in package and user-defined package.</a:t>
            </a:r>
          </a:p>
          <a:p>
            <a:r>
              <a:rPr lang="en-US" dirty="0"/>
              <a:t>There are many built-in packages such as java, </a:t>
            </a:r>
            <a:r>
              <a:rPr lang="en-US" dirty="0" err="1"/>
              <a:t>lang</a:t>
            </a:r>
            <a:r>
              <a:rPr lang="en-US" dirty="0"/>
              <a:t>, </a:t>
            </a:r>
            <a:r>
              <a:rPr lang="en-US" dirty="0" err="1"/>
              <a:t>awt</a:t>
            </a:r>
            <a:r>
              <a:rPr lang="en-US" dirty="0"/>
              <a:t>, </a:t>
            </a:r>
            <a:r>
              <a:rPr lang="en-US" dirty="0" err="1"/>
              <a:t>javax</a:t>
            </a:r>
            <a:r>
              <a:rPr lang="en-US" dirty="0"/>
              <a:t>, swing, net,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util</a:t>
            </a:r>
            <a:r>
              <a:rPr lang="en-US" dirty="0"/>
              <a:t>, </a:t>
            </a:r>
            <a:r>
              <a:rPr lang="en-US" dirty="0" err="1"/>
              <a:t>sql</a:t>
            </a:r>
            <a:r>
              <a:rPr lang="en-US" dirty="0"/>
              <a:t> etc</a:t>
            </a:r>
            <a:r>
              <a:rPr lang="en-US" dirty="0" smtClean="0"/>
              <a:t>.</a:t>
            </a:r>
          </a:p>
          <a:p>
            <a:r>
              <a:rPr lang="en-US" dirty="0" smtClean="0"/>
              <a:t>Our main discussion will be on user defined package.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3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13" y="1"/>
            <a:ext cx="5794612" cy="5595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Predefined Java Packages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003" y="559559"/>
            <a:ext cx="9022918" cy="629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1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13" y="1"/>
            <a:ext cx="5794612" cy="55955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Predefined Java Packages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99" y="805218"/>
            <a:ext cx="9589407" cy="483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8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57799"/>
            <a:ext cx="5383175" cy="55002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652" y="1357799"/>
            <a:ext cx="6450858" cy="170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0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Compiling and Running the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537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First save the .java file in the respective working directory.</a:t>
            </a:r>
          </a:p>
          <a:p>
            <a:r>
              <a:rPr lang="en-US" dirty="0" smtClean="0"/>
              <a:t>For </a:t>
            </a:r>
            <a:r>
              <a:rPr lang="en-US" dirty="0">
                <a:solidFill>
                  <a:srgbClr val="0070C0"/>
                </a:solidFill>
              </a:rPr>
              <a:t>c</a:t>
            </a:r>
            <a:r>
              <a:rPr lang="en-US" dirty="0" smtClean="0">
                <a:solidFill>
                  <a:srgbClr val="0070C0"/>
                </a:solidFill>
              </a:rPr>
              <a:t>ompiling</a:t>
            </a:r>
            <a:r>
              <a:rPr lang="en-US" dirty="0" smtClean="0"/>
              <a:t> use the following command: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</a:rPr>
              <a:t>javac</a:t>
            </a:r>
            <a:r>
              <a:rPr lang="en-US" dirty="0">
                <a:solidFill>
                  <a:srgbClr val="00B050"/>
                </a:solidFill>
              </a:rPr>
              <a:t> -d </a:t>
            </a:r>
            <a:r>
              <a:rPr lang="en-US" dirty="0" smtClean="0">
                <a:solidFill>
                  <a:srgbClr val="00B050"/>
                </a:solidFill>
              </a:rPr>
              <a:t>directory</a:t>
            </a:r>
            <a:r>
              <a:rPr lang="en-US" dirty="0">
                <a:solidFill>
                  <a:srgbClr val="00B050"/>
                </a:solidFill>
              </a:rPr>
              <a:t> </a:t>
            </a:r>
            <a:r>
              <a:rPr lang="en-US" dirty="0" err="1">
                <a:solidFill>
                  <a:srgbClr val="00B050"/>
                </a:solidFill>
              </a:rPr>
              <a:t>javafilename</a:t>
            </a:r>
            <a:r>
              <a:rPr lang="en-US" dirty="0">
                <a:solidFill>
                  <a:srgbClr val="00B050"/>
                </a:solidFill>
              </a:rPr>
              <a:t> </a:t>
            </a: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The -d switch specifies the </a:t>
            </a:r>
            <a:r>
              <a:rPr lang="en-US" sz="1600" dirty="0" smtClean="0">
                <a:solidFill>
                  <a:srgbClr val="FF0000"/>
                </a:solidFill>
              </a:rPr>
              <a:t>destination </a:t>
            </a:r>
            <a:r>
              <a:rPr lang="en-US" sz="1600" dirty="0">
                <a:solidFill>
                  <a:srgbClr val="FF0000"/>
                </a:solidFill>
              </a:rPr>
              <a:t>where to put the generated class file</a:t>
            </a:r>
            <a:r>
              <a:rPr lang="en-US" sz="1600" dirty="0" smtClean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en-US" sz="1800" i="1" dirty="0" smtClean="0">
                <a:solidFill>
                  <a:schemeClr val="accent4">
                    <a:lumMod val="75000"/>
                  </a:schemeClr>
                </a:solidFill>
              </a:rPr>
              <a:t>C</a:t>
            </a:r>
            <a:r>
              <a:rPr lang="en-US" sz="1800" i="1" dirty="0">
                <a:solidFill>
                  <a:schemeClr val="accent4">
                    <a:lumMod val="75000"/>
                  </a:schemeClr>
                </a:solidFill>
              </a:rPr>
              <a:t>:\Users\kumar-pc\Desktop\JavaCodes&gt;javac -d C:\</a:t>
            </a:r>
            <a:r>
              <a:rPr lang="en-US" sz="1800" i="1" dirty="0" smtClean="0">
                <a:solidFill>
                  <a:schemeClr val="accent4">
                    <a:lumMod val="75000"/>
                  </a:schemeClr>
                </a:solidFill>
              </a:rPr>
              <a:t>Users\kumar-pc\Desktop\JavaCodes AccountBalance.java</a:t>
            </a:r>
          </a:p>
          <a:p>
            <a:pPr marL="0" indent="0">
              <a:buNone/>
            </a:pPr>
            <a:r>
              <a:rPr lang="en-US" sz="1800" i="1" dirty="0" smtClean="0">
                <a:solidFill>
                  <a:schemeClr val="accent4">
                    <a:lumMod val="75000"/>
                  </a:schemeClr>
                </a:solidFill>
              </a:rPr>
              <a:t>Or</a:t>
            </a:r>
          </a:p>
          <a:p>
            <a:pPr marL="0" indent="0">
              <a:buNone/>
            </a:pPr>
            <a:r>
              <a:rPr lang="en-US" sz="1800" i="1" dirty="0">
                <a:solidFill>
                  <a:schemeClr val="accent4">
                    <a:lumMod val="75000"/>
                  </a:schemeClr>
                </a:solidFill>
              </a:rPr>
              <a:t>C:\Users\kumar-pc\Desktop\JavaCodes&gt;javac -d </a:t>
            </a:r>
            <a:r>
              <a:rPr lang="en-US" sz="1800" i="1" dirty="0" smtClean="0">
                <a:solidFill>
                  <a:schemeClr val="accent4">
                    <a:lumMod val="75000"/>
                  </a:schemeClr>
                </a:solidFill>
              </a:rPr>
              <a:t>. AccountBalance.java</a:t>
            </a:r>
          </a:p>
          <a:p>
            <a:pPr marL="0" indent="0">
              <a:buNone/>
            </a:pPr>
            <a:r>
              <a:rPr lang="en-US" sz="1800" i="1" dirty="0" smtClean="0">
                <a:solidFill>
                  <a:srgbClr val="FF0000"/>
                </a:solidFill>
              </a:rPr>
              <a:t>Dot(.) represents the current folder</a:t>
            </a:r>
            <a:endParaRPr lang="en-US" sz="18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1800" i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i="1" dirty="0" smtClean="0">
                <a:solidFill>
                  <a:schemeClr val="accent4">
                    <a:lumMod val="75000"/>
                  </a:schemeClr>
                </a:solidFill>
              </a:rPr>
              <a:t>The above will create a package named </a:t>
            </a:r>
            <a:r>
              <a:rPr lang="en-US" sz="1800" i="1" dirty="0" err="1" smtClean="0">
                <a:solidFill>
                  <a:schemeClr val="accent4">
                    <a:lumMod val="75000"/>
                  </a:schemeClr>
                </a:solidFill>
              </a:rPr>
              <a:t>mypack</a:t>
            </a:r>
            <a:r>
              <a:rPr lang="en-US" sz="1800" i="1" dirty="0" smtClean="0">
                <a:solidFill>
                  <a:schemeClr val="accent4">
                    <a:lumMod val="75000"/>
                  </a:schemeClr>
                </a:solidFill>
              </a:rPr>
              <a:t> in the folder </a:t>
            </a:r>
            <a:r>
              <a:rPr lang="en-US" sz="1800" i="1" dirty="0" err="1" smtClean="0">
                <a:solidFill>
                  <a:schemeClr val="accent4">
                    <a:lumMod val="75000"/>
                  </a:schemeClr>
                </a:solidFill>
              </a:rPr>
              <a:t>JavaCodes</a:t>
            </a:r>
            <a:endParaRPr lang="en-US" sz="1800" i="1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 smtClean="0"/>
              <a:t>For </a:t>
            </a:r>
            <a:r>
              <a:rPr lang="en-US" dirty="0">
                <a:solidFill>
                  <a:srgbClr val="0070C0"/>
                </a:solidFill>
              </a:rPr>
              <a:t>running</a:t>
            </a:r>
            <a:r>
              <a:rPr lang="en-US" dirty="0" smtClean="0"/>
              <a:t> use the following command: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</a:rPr>
              <a:t>java </a:t>
            </a:r>
            <a:r>
              <a:rPr lang="en-US" dirty="0" err="1" smtClean="0">
                <a:solidFill>
                  <a:srgbClr val="00B050"/>
                </a:solidFill>
              </a:rPr>
              <a:t>mypack.Classfilename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 err="1"/>
              <a:t>Eg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sz="1800" i="1" dirty="0">
                <a:solidFill>
                  <a:schemeClr val="accent4">
                    <a:lumMod val="75000"/>
                  </a:schemeClr>
                </a:solidFill>
              </a:rPr>
              <a:t>C:\Users\kumar-pc\Desktop\JavaCodes&gt;java </a:t>
            </a:r>
            <a:r>
              <a:rPr lang="en-US" sz="1800" i="1" dirty="0" err="1">
                <a:solidFill>
                  <a:schemeClr val="accent4">
                    <a:lumMod val="75000"/>
                  </a:schemeClr>
                </a:solidFill>
              </a:rPr>
              <a:t>MyPack.AccountBalance</a:t>
            </a:r>
            <a:endParaRPr lang="en-US" sz="1800" i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29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All </a:t>
            </a:r>
            <a:r>
              <a:rPr lang="en-US" dirty="0"/>
              <a:t>of the standard </a:t>
            </a:r>
            <a:r>
              <a:rPr lang="en-US" dirty="0" smtClean="0"/>
              <a:t>core java classes are </a:t>
            </a:r>
            <a:r>
              <a:rPr lang="en-US" dirty="0"/>
              <a:t>stored in some named </a:t>
            </a:r>
            <a:r>
              <a:rPr lang="en-US" dirty="0" smtClean="0"/>
              <a:t>package.</a:t>
            </a:r>
          </a:p>
          <a:p>
            <a:pPr algn="just"/>
            <a:r>
              <a:rPr lang="en-US" dirty="0"/>
              <a:t>Since classes within packages must be fully qualified </a:t>
            </a:r>
            <a:r>
              <a:rPr lang="en-US" dirty="0" smtClean="0"/>
              <a:t>with their </a:t>
            </a:r>
            <a:r>
              <a:rPr lang="en-US" dirty="0"/>
              <a:t>package name or names, it could become tedious to type in the long </a:t>
            </a:r>
            <a:r>
              <a:rPr lang="en-US" dirty="0" smtClean="0"/>
              <a:t>dot-separated package </a:t>
            </a:r>
            <a:r>
              <a:rPr lang="en-US" dirty="0"/>
              <a:t>path name for every class you want to use</a:t>
            </a:r>
            <a:r>
              <a:rPr lang="en-US" dirty="0" smtClean="0"/>
              <a:t>.</a:t>
            </a:r>
          </a:p>
          <a:p>
            <a:r>
              <a:rPr lang="en-US" dirty="0"/>
              <a:t>For this reason, Java includes the </a:t>
            </a:r>
            <a:r>
              <a:rPr lang="en-US" b="1" dirty="0" smtClean="0"/>
              <a:t>import </a:t>
            </a:r>
            <a:r>
              <a:rPr lang="en-US" dirty="0" smtClean="0"/>
              <a:t>statement </a:t>
            </a:r>
            <a:r>
              <a:rPr lang="en-US" dirty="0"/>
              <a:t>to bring certain classes, or entire packages, into visibility.</a:t>
            </a:r>
          </a:p>
        </p:txBody>
      </p:sp>
    </p:spTree>
    <p:extLst>
      <p:ext uri="{BB962C8B-B14F-4D97-AF65-F5344CB8AC3E}">
        <p14:creationId xmlns:p14="http://schemas.microsoft.com/office/powerpoint/2010/main" val="161041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imported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create the package</a:t>
            </a:r>
          </a:p>
          <a:p>
            <a:r>
              <a:rPr lang="en-US" dirty="0" smtClean="0"/>
              <a:t>Then before compiling the file which is importing the package set the class path.</a:t>
            </a:r>
          </a:p>
          <a:p>
            <a:r>
              <a:rPr lang="en-US" dirty="0" smtClean="0"/>
              <a:t>C</a:t>
            </a:r>
            <a:r>
              <a:rPr lang="en-US" dirty="0"/>
              <a:t>:\Users\kumar-pc\Desktop\JavaCodes&gt;set </a:t>
            </a:r>
            <a:r>
              <a:rPr lang="en-US" dirty="0" err="1"/>
              <a:t>classpath</a:t>
            </a:r>
            <a:r>
              <a:rPr lang="en-US" dirty="0"/>
              <a:t>=C:\Users\kumar-pc\Desktop\JavaCodes\P1</a:t>
            </a:r>
            <a:r>
              <a:rPr lang="en-US" dirty="0" smtClean="0"/>
              <a:t>;.;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09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186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Packages</vt:lpstr>
      <vt:lpstr>Learning objective</vt:lpstr>
      <vt:lpstr>Packages – introduction:</vt:lpstr>
      <vt:lpstr>Predefined Java Packages</vt:lpstr>
      <vt:lpstr>Predefined Java Packages</vt:lpstr>
      <vt:lpstr>Example</vt:lpstr>
      <vt:lpstr>Compiling and Running the packages</vt:lpstr>
      <vt:lpstr>Importing Packages</vt:lpstr>
      <vt:lpstr>Running imported packages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</dc:title>
  <dc:creator>kumarpc</dc:creator>
  <cp:lastModifiedBy>Windows User</cp:lastModifiedBy>
  <cp:revision>31</cp:revision>
  <dcterms:created xsi:type="dcterms:W3CDTF">2016-08-26T11:21:07Z</dcterms:created>
  <dcterms:modified xsi:type="dcterms:W3CDTF">2023-06-22T17:00:15Z</dcterms:modified>
</cp:coreProperties>
</file>