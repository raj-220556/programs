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8" r:id="rId3"/>
    <p:sldId id="257" r:id="rId4"/>
    <p:sldId id="269" r:id="rId5"/>
    <p:sldId id="287" r:id="rId6"/>
    <p:sldId id="276" r:id="rId7"/>
    <p:sldId id="277" r:id="rId8"/>
    <p:sldId id="278" r:id="rId9"/>
    <p:sldId id="289" r:id="rId10"/>
    <p:sldId id="280" r:id="rId11"/>
    <p:sldId id="281" r:id="rId12"/>
    <p:sldId id="282" r:id="rId13"/>
    <p:sldId id="283" r:id="rId14"/>
    <p:sldId id="279" r:id="rId15"/>
    <p:sldId id="284" r:id="rId16"/>
    <p:sldId id="285" r:id="rId17"/>
    <p:sldId id="288" r:id="rId18"/>
    <p:sldId id="290" r:id="rId19"/>
    <p:sldId id="291" r:id="rId20"/>
    <p:sldId id="26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8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DBEBEF-8C23-4B9E-9BD6-1CA7D9AC449F}" type="datetimeFigureOut">
              <a:rPr lang="en-US" smtClean="0"/>
              <a:t>6/22/2023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8CE528-9F86-42EC-9214-283475E885E5}" type="slidenum">
              <a:rPr lang="en-US" smtClean="0"/>
              <a:t>‹#›</a:t>
            </a:fld>
            <a:endParaRPr lang="en-US"/>
          </a:p>
        </p:txBody>
      </p:sp>
    </p:spTree>
    <p:extLst>
      <p:ext uri="{BB962C8B-B14F-4D97-AF65-F5344CB8AC3E}">
        <p14:creationId xmlns:p14="http://schemas.microsoft.com/office/powerpoint/2010/main" val="852863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08CE528-9F86-42EC-9214-283475E885E5}" type="slidenum">
              <a:rPr lang="en-US" smtClean="0"/>
              <a:t>14</a:t>
            </a:fld>
            <a:endParaRPr lang="en-US"/>
          </a:p>
        </p:txBody>
      </p:sp>
    </p:spTree>
    <p:extLst>
      <p:ext uri="{BB962C8B-B14F-4D97-AF65-F5344CB8AC3E}">
        <p14:creationId xmlns:p14="http://schemas.microsoft.com/office/powerpoint/2010/main" val="2563658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C9A45BF-2118-4053-9FC2-070932A5B30D}"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DD12F3-E0AB-4B88-9987-CCC612BC0E05}" type="slidenum">
              <a:rPr lang="en-US" smtClean="0"/>
              <a:t>‹#›</a:t>
            </a:fld>
            <a:endParaRPr lang="en-US"/>
          </a:p>
        </p:txBody>
      </p:sp>
    </p:spTree>
    <p:extLst>
      <p:ext uri="{BB962C8B-B14F-4D97-AF65-F5344CB8AC3E}">
        <p14:creationId xmlns:p14="http://schemas.microsoft.com/office/powerpoint/2010/main" val="3626982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9A45BF-2118-4053-9FC2-070932A5B30D}"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DD12F3-E0AB-4B88-9987-CCC612BC0E05}" type="slidenum">
              <a:rPr lang="en-US" smtClean="0"/>
              <a:t>‹#›</a:t>
            </a:fld>
            <a:endParaRPr lang="en-US"/>
          </a:p>
        </p:txBody>
      </p:sp>
    </p:spTree>
    <p:extLst>
      <p:ext uri="{BB962C8B-B14F-4D97-AF65-F5344CB8AC3E}">
        <p14:creationId xmlns:p14="http://schemas.microsoft.com/office/powerpoint/2010/main" val="4057480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C9A45BF-2118-4053-9FC2-070932A5B30D}"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DD12F3-E0AB-4B88-9987-CCC612BC0E05}" type="slidenum">
              <a:rPr lang="en-US" smtClean="0"/>
              <a:t>‹#›</a:t>
            </a:fld>
            <a:endParaRPr lang="en-US"/>
          </a:p>
        </p:txBody>
      </p:sp>
    </p:spTree>
    <p:extLst>
      <p:ext uri="{BB962C8B-B14F-4D97-AF65-F5344CB8AC3E}">
        <p14:creationId xmlns:p14="http://schemas.microsoft.com/office/powerpoint/2010/main" val="2228691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C9A45BF-2118-4053-9FC2-070932A5B30D}" type="datetimeFigureOut">
              <a:rPr lang="en-US" smtClean="0"/>
              <a:t>6/22/2023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DD12F3-E0AB-4B88-9987-CCC612BC0E05}" type="slidenum">
              <a:rPr lang="en-US" smtClean="0"/>
              <a:t>‹#›</a:t>
            </a:fld>
            <a:endParaRPr lang="en-US"/>
          </a:p>
        </p:txBody>
      </p:sp>
    </p:spTree>
    <p:extLst>
      <p:ext uri="{BB962C8B-B14F-4D97-AF65-F5344CB8AC3E}">
        <p14:creationId xmlns:p14="http://schemas.microsoft.com/office/powerpoint/2010/main" val="3140663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C9A45BF-2118-4053-9FC2-070932A5B30D}" type="datetimeFigureOut">
              <a:rPr lang="en-US" smtClean="0"/>
              <a:t>6/22/2023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DD12F3-E0AB-4B88-9987-CCC612BC0E05}" type="slidenum">
              <a:rPr lang="en-US" smtClean="0"/>
              <a:t>‹#›</a:t>
            </a:fld>
            <a:endParaRPr lang="en-US"/>
          </a:p>
        </p:txBody>
      </p:sp>
    </p:spTree>
    <p:extLst>
      <p:ext uri="{BB962C8B-B14F-4D97-AF65-F5344CB8AC3E}">
        <p14:creationId xmlns:p14="http://schemas.microsoft.com/office/powerpoint/2010/main" val="357115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C9A45BF-2118-4053-9FC2-070932A5B30D}" type="datetimeFigureOut">
              <a:rPr lang="en-US" smtClean="0"/>
              <a:t>6/22/2023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DD12F3-E0AB-4B88-9987-CCC612BC0E05}" type="slidenum">
              <a:rPr lang="en-US" smtClean="0"/>
              <a:t>‹#›</a:t>
            </a:fld>
            <a:endParaRPr lang="en-US"/>
          </a:p>
        </p:txBody>
      </p:sp>
    </p:spTree>
    <p:extLst>
      <p:ext uri="{BB962C8B-B14F-4D97-AF65-F5344CB8AC3E}">
        <p14:creationId xmlns:p14="http://schemas.microsoft.com/office/powerpoint/2010/main" val="1757036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9A45BF-2118-4053-9FC2-070932A5B30D}" type="datetimeFigureOut">
              <a:rPr lang="en-US" smtClean="0"/>
              <a:t>6/22/2023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DD12F3-E0AB-4B88-9987-CCC612BC0E05}" type="slidenum">
              <a:rPr lang="en-US" smtClean="0"/>
              <a:t>‹#›</a:t>
            </a:fld>
            <a:endParaRPr lang="en-US"/>
          </a:p>
        </p:txBody>
      </p:sp>
    </p:spTree>
    <p:extLst>
      <p:ext uri="{BB962C8B-B14F-4D97-AF65-F5344CB8AC3E}">
        <p14:creationId xmlns:p14="http://schemas.microsoft.com/office/powerpoint/2010/main" val="1510287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C9A45BF-2118-4053-9FC2-070932A5B30D}" type="datetimeFigureOut">
              <a:rPr lang="en-US" smtClean="0"/>
              <a:t>6/22/2023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DD12F3-E0AB-4B88-9987-CCC612BC0E05}" type="slidenum">
              <a:rPr lang="en-US" smtClean="0"/>
              <a:t>‹#›</a:t>
            </a:fld>
            <a:endParaRPr lang="en-US"/>
          </a:p>
        </p:txBody>
      </p:sp>
    </p:spTree>
    <p:extLst>
      <p:ext uri="{BB962C8B-B14F-4D97-AF65-F5344CB8AC3E}">
        <p14:creationId xmlns:p14="http://schemas.microsoft.com/office/powerpoint/2010/main" val="2049646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C9A45BF-2118-4053-9FC2-070932A5B30D}" type="datetimeFigureOut">
              <a:rPr lang="en-US" smtClean="0"/>
              <a:t>6/22/2023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DD12F3-E0AB-4B88-9987-CCC612BC0E05}" type="slidenum">
              <a:rPr lang="en-US" smtClean="0"/>
              <a:t>‹#›</a:t>
            </a:fld>
            <a:endParaRPr lang="en-US"/>
          </a:p>
        </p:txBody>
      </p:sp>
    </p:spTree>
    <p:extLst>
      <p:ext uri="{BB962C8B-B14F-4D97-AF65-F5344CB8AC3E}">
        <p14:creationId xmlns:p14="http://schemas.microsoft.com/office/powerpoint/2010/main" val="2977329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9A45BF-2118-4053-9FC2-070932A5B30D}"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DD12F3-E0AB-4B88-9987-CCC612BC0E05}" type="slidenum">
              <a:rPr lang="en-US" smtClean="0"/>
              <a:t>‹#›</a:t>
            </a:fld>
            <a:endParaRPr lang="en-US"/>
          </a:p>
        </p:txBody>
      </p:sp>
    </p:spTree>
    <p:extLst>
      <p:ext uri="{BB962C8B-B14F-4D97-AF65-F5344CB8AC3E}">
        <p14:creationId xmlns:p14="http://schemas.microsoft.com/office/powerpoint/2010/main" val="798071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9A45BF-2118-4053-9FC2-070932A5B30D}" type="datetimeFigureOut">
              <a:rPr lang="en-US" smtClean="0"/>
              <a:t>6/22/2023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DD12F3-E0AB-4B88-9987-CCC612BC0E05}" type="slidenum">
              <a:rPr lang="en-US" smtClean="0"/>
              <a:t>‹#›</a:t>
            </a:fld>
            <a:endParaRPr lang="en-US"/>
          </a:p>
        </p:txBody>
      </p:sp>
    </p:spTree>
    <p:extLst>
      <p:ext uri="{BB962C8B-B14F-4D97-AF65-F5344CB8AC3E}">
        <p14:creationId xmlns:p14="http://schemas.microsoft.com/office/powerpoint/2010/main" val="2936999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9A45BF-2118-4053-9FC2-070932A5B30D}" type="datetimeFigureOut">
              <a:rPr lang="en-US" smtClean="0"/>
              <a:t>6/22/2023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D12F3-E0AB-4B88-9987-CCC612BC0E05}" type="slidenum">
              <a:rPr lang="en-US" smtClean="0"/>
              <a:t>‹#›</a:t>
            </a:fld>
            <a:endParaRPr lang="en-US"/>
          </a:p>
        </p:txBody>
      </p:sp>
    </p:spTree>
    <p:extLst>
      <p:ext uri="{BB962C8B-B14F-4D97-AF65-F5344CB8AC3E}">
        <p14:creationId xmlns:p14="http://schemas.microsoft.com/office/powerpoint/2010/main" val="29676758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java67.com/2016/05/how-to-use-multiple-threads-in-java.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Multithreading I</a:t>
            </a:r>
            <a:endParaRPr lang="en-US" dirty="0"/>
          </a:p>
        </p:txBody>
      </p:sp>
      <p:sp>
        <p:nvSpPr>
          <p:cNvPr id="3" name="Subtitle 2"/>
          <p:cNvSpPr>
            <a:spLocks noGrp="1"/>
          </p:cNvSpPr>
          <p:nvPr>
            <p:ph type="subTitle" idx="1"/>
          </p:nvPr>
        </p:nvSpPr>
        <p:spPr>
          <a:xfrm>
            <a:off x="1524000" y="5150135"/>
            <a:ext cx="9144000" cy="1655762"/>
          </a:xfrm>
        </p:spPr>
        <p:txBody>
          <a:bodyPr/>
          <a:lstStyle/>
          <a:p>
            <a:r>
              <a:rPr lang="en-US" dirty="0" smtClean="0"/>
              <a:t>Lecture 27</a:t>
            </a:r>
            <a:endParaRPr lang="en-US" dirty="0"/>
          </a:p>
        </p:txBody>
      </p:sp>
    </p:spTree>
    <p:extLst>
      <p:ext uri="{BB962C8B-B14F-4D97-AF65-F5344CB8AC3E}">
        <p14:creationId xmlns:p14="http://schemas.microsoft.com/office/powerpoint/2010/main" val="3885394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objectives</a:t>
            </a:r>
            <a:endParaRPr lang="en-US" dirty="0"/>
          </a:p>
        </p:txBody>
      </p:sp>
      <p:sp>
        <p:nvSpPr>
          <p:cNvPr id="3" name="Content Placeholder 2"/>
          <p:cNvSpPr>
            <a:spLocks noGrp="1"/>
          </p:cNvSpPr>
          <p:nvPr>
            <p:ph idx="1"/>
          </p:nvPr>
        </p:nvSpPr>
        <p:spPr/>
        <p:txBody>
          <a:bodyPr/>
          <a:lstStyle/>
          <a:p>
            <a:pPr marL="0" indent="0">
              <a:buNone/>
            </a:pPr>
            <a:r>
              <a:rPr lang="en-US" dirty="0" smtClean="0"/>
              <a:t>After the completion of today’s session you will be able to:</a:t>
            </a:r>
          </a:p>
          <a:p>
            <a:r>
              <a:rPr lang="en-US" dirty="0" smtClean="0"/>
              <a:t>Describe the concept of Multithreading.</a:t>
            </a:r>
          </a:p>
          <a:p>
            <a:r>
              <a:rPr lang="en-US" dirty="0" smtClean="0"/>
              <a:t>Illustrate the lifecycle of thread.</a:t>
            </a:r>
          </a:p>
          <a:p>
            <a:r>
              <a:rPr lang="en-US" dirty="0" smtClean="0"/>
              <a:t>Explain the usage and types of thread. </a:t>
            </a:r>
          </a:p>
          <a:p>
            <a:r>
              <a:rPr lang="en-US" dirty="0" smtClean="0"/>
              <a:t>Demonstrate the usage multithreading.</a:t>
            </a:r>
          </a:p>
          <a:p>
            <a:endParaRPr lang="en-US" dirty="0"/>
          </a:p>
        </p:txBody>
      </p:sp>
    </p:spTree>
    <p:extLst>
      <p:ext uri="{BB962C8B-B14F-4D97-AF65-F5344CB8AC3E}">
        <p14:creationId xmlns:p14="http://schemas.microsoft.com/office/powerpoint/2010/main" val="16514720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838200" y="1825625"/>
            <a:ext cx="10515600" cy="4384106"/>
          </a:xfrm>
        </p:spPr>
        <p:txBody>
          <a:bodyPr>
            <a:normAutofit/>
          </a:bodyPr>
          <a:lstStyle/>
          <a:p>
            <a:pPr algn="just"/>
            <a:r>
              <a:rPr lang="en-US" dirty="0"/>
              <a:t>Java provides built-in support for </a:t>
            </a:r>
            <a:r>
              <a:rPr lang="en-US" i="1" dirty="0">
                <a:solidFill>
                  <a:srgbClr val="0070C0"/>
                </a:solidFill>
              </a:rPr>
              <a:t>multithreaded programming</a:t>
            </a:r>
            <a:r>
              <a:rPr lang="en-US" dirty="0"/>
              <a:t>. </a:t>
            </a:r>
            <a:endParaRPr lang="en-US" dirty="0" smtClean="0"/>
          </a:p>
          <a:p>
            <a:pPr algn="just"/>
            <a:r>
              <a:rPr lang="en-US" dirty="0" smtClean="0"/>
              <a:t>A </a:t>
            </a:r>
            <a:r>
              <a:rPr lang="en-US" dirty="0"/>
              <a:t>multithreaded </a:t>
            </a:r>
            <a:r>
              <a:rPr lang="en-US" dirty="0" smtClean="0"/>
              <a:t>program contains </a:t>
            </a:r>
            <a:r>
              <a:rPr lang="en-US" dirty="0"/>
              <a:t>two or more parts that can run concurrently. </a:t>
            </a:r>
            <a:endParaRPr lang="en-US" dirty="0" smtClean="0"/>
          </a:p>
          <a:p>
            <a:pPr algn="just"/>
            <a:r>
              <a:rPr lang="en-US" dirty="0" smtClean="0"/>
              <a:t>Each </a:t>
            </a:r>
            <a:r>
              <a:rPr lang="en-US" dirty="0"/>
              <a:t>part of such a program is called </a:t>
            </a:r>
            <a:r>
              <a:rPr lang="en-US" dirty="0" smtClean="0"/>
              <a:t>a </a:t>
            </a:r>
            <a:r>
              <a:rPr lang="en-US" i="1" dirty="0" smtClean="0">
                <a:solidFill>
                  <a:srgbClr val="0070C0"/>
                </a:solidFill>
              </a:rPr>
              <a:t>thread</a:t>
            </a:r>
            <a:r>
              <a:rPr lang="en-US" dirty="0"/>
              <a:t>, and each thread defines a separate path of execution. </a:t>
            </a:r>
            <a:endParaRPr lang="en-US" dirty="0" smtClean="0"/>
          </a:p>
          <a:p>
            <a:pPr algn="just"/>
            <a:r>
              <a:rPr lang="en-US" dirty="0" smtClean="0"/>
              <a:t>Thus</a:t>
            </a:r>
            <a:r>
              <a:rPr lang="en-US" dirty="0"/>
              <a:t>, multithreading is </a:t>
            </a:r>
            <a:r>
              <a:rPr lang="en-US" dirty="0" smtClean="0"/>
              <a:t>a specialized </a:t>
            </a:r>
            <a:r>
              <a:rPr lang="en-US" dirty="0"/>
              <a:t>form of multitasking</a:t>
            </a:r>
            <a:r>
              <a:rPr lang="en-US" dirty="0" smtClean="0"/>
              <a:t>.</a:t>
            </a:r>
          </a:p>
          <a:p>
            <a:pPr algn="just"/>
            <a:r>
              <a:rPr lang="en-US" dirty="0"/>
              <a:t>However, there are two distinct types of multitasking:</a:t>
            </a:r>
          </a:p>
          <a:p>
            <a:pPr marL="0" indent="0" algn="just">
              <a:buNone/>
            </a:pPr>
            <a:r>
              <a:rPr lang="en-US" dirty="0" smtClean="0"/>
              <a:t>   </a:t>
            </a:r>
            <a:r>
              <a:rPr lang="en-US" dirty="0" smtClean="0">
                <a:solidFill>
                  <a:schemeClr val="accent2">
                    <a:lumMod val="75000"/>
                  </a:schemeClr>
                </a:solidFill>
              </a:rPr>
              <a:t>Process-based</a:t>
            </a:r>
            <a:r>
              <a:rPr lang="en-US" dirty="0" smtClean="0"/>
              <a:t> </a:t>
            </a:r>
            <a:r>
              <a:rPr lang="en-US" dirty="0"/>
              <a:t>and </a:t>
            </a:r>
            <a:endParaRPr lang="en-US" dirty="0" smtClean="0"/>
          </a:p>
          <a:p>
            <a:pPr marL="0" indent="0" algn="just">
              <a:buNone/>
            </a:pPr>
            <a:r>
              <a:rPr lang="en-US" dirty="0"/>
              <a:t> </a:t>
            </a:r>
            <a:r>
              <a:rPr lang="en-US" dirty="0" smtClean="0"/>
              <a:t>  </a:t>
            </a:r>
            <a:r>
              <a:rPr lang="en-US" dirty="0" smtClean="0">
                <a:solidFill>
                  <a:schemeClr val="accent2">
                    <a:lumMod val="75000"/>
                  </a:schemeClr>
                </a:solidFill>
              </a:rPr>
              <a:t>Thread-based</a:t>
            </a:r>
          </a:p>
          <a:p>
            <a:pPr marL="0" indent="0" algn="just">
              <a:buNone/>
            </a:pPr>
            <a:endParaRPr lang="en-US" dirty="0">
              <a:solidFill>
                <a:schemeClr val="accent2">
                  <a:lumMod val="75000"/>
                </a:schemeClr>
              </a:solidFill>
            </a:endParaRPr>
          </a:p>
        </p:txBody>
      </p:sp>
    </p:spTree>
    <p:extLst>
      <p:ext uri="{BB962C8B-B14F-4D97-AF65-F5344CB8AC3E}">
        <p14:creationId xmlns:p14="http://schemas.microsoft.com/office/powerpoint/2010/main" val="10748455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VS Thread</a:t>
            </a:r>
            <a:endParaRPr lang="en-US" dirty="0"/>
          </a:p>
        </p:txBody>
      </p:sp>
      <p:sp>
        <p:nvSpPr>
          <p:cNvPr id="3" name="Content Placeholder 2"/>
          <p:cNvSpPr>
            <a:spLocks noGrp="1"/>
          </p:cNvSpPr>
          <p:nvPr>
            <p:ph idx="1"/>
          </p:nvPr>
        </p:nvSpPr>
        <p:spPr>
          <a:xfrm>
            <a:off x="838200" y="1825625"/>
            <a:ext cx="10515600" cy="4848130"/>
          </a:xfrm>
        </p:spPr>
        <p:txBody>
          <a:bodyPr>
            <a:normAutofit fontScale="85000" lnSpcReduction="20000"/>
          </a:bodyPr>
          <a:lstStyle/>
          <a:p>
            <a:pPr algn="just"/>
            <a:r>
              <a:rPr lang="en-US" dirty="0" smtClean="0"/>
              <a:t>A </a:t>
            </a:r>
            <a:r>
              <a:rPr lang="en-US" i="1" dirty="0">
                <a:solidFill>
                  <a:schemeClr val="accent2">
                    <a:lumMod val="75000"/>
                  </a:schemeClr>
                </a:solidFill>
              </a:rPr>
              <a:t>process</a:t>
            </a:r>
            <a:r>
              <a:rPr lang="en-US" i="1" dirty="0"/>
              <a:t> </a:t>
            </a:r>
            <a:r>
              <a:rPr lang="en-US" dirty="0" smtClean="0"/>
              <a:t>is, in </a:t>
            </a:r>
            <a:r>
              <a:rPr lang="en-US" dirty="0"/>
              <a:t>essence, a program that is executing. </a:t>
            </a:r>
            <a:endParaRPr lang="en-US" dirty="0" smtClean="0"/>
          </a:p>
          <a:p>
            <a:pPr algn="just"/>
            <a:r>
              <a:rPr lang="en-US" dirty="0" smtClean="0"/>
              <a:t>Thus</a:t>
            </a:r>
            <a:r>
              <a:rPr lang="en-US" dirty="0"/>
              <a:t>, </a:t>
            </a:r>
            <a:r>
              <a:rPr lang="en-US" i="1" dirty="0"/>
              <a:t>process-based </a:t>
            </a:r>
            <a:r>
              <a:rPr lang="en-US" dirty="0"/>
              <a:t>multitasking is the feature </a:t>
            </a:r>
            <a:r>
              <a:rPr lang="en-US" dirty="0" smtClean="0"/>
              <a:t>that allows </a:t>
            </a:r>
            <a:r>
              <a:rPr lang="en-US" dirty="0"/>
              <a:t>your computer to run two or more </a:t>
            </a:r>
            <a:r>
              <a:rPr lang="en-US" dirty="0" smtClean="0"/>
              <a:t>programs </a:t>
            </a:r>
            <a:r>
              <a:rPr lang="en-US" dirty="0"/>
              <a:t>concurrently. </a:t>
            </a:r>
            <a:r>
              <a:rPr lang="en-US" dirty="0" smtClean="0"/>
              <a:t>For </a:t>
            </a:r>
            <a:r>
              <a:rPr lang="en-US" dirty="0"/>
              <a:t>example, </a:t>
            </a:r>
            <a:r>
              <a:rPr lang="en-US" dirty="0" smtClean="0"/>
              <a:t>process based multitasking </a:t>
            </a:r>
            <a:r>
              <a:rPr lang="en-US" dirty="0"/>
              <a:t>enables you to run the Java compiler at the same time that you are </a:t>
            </a:r>
            <a:r>
              <a:rPr lang="en-US" dirty="0" smtClean="0"/>
              <a:t>using a </a:t>
            </a:r>
            <a:r>
              <a:rPr lang="en-US" dirty="0"/>
              <a:t>text editor or visiting a web site. </a:t>
            </a:r>
            <a:endParaRPr lang="en-US" dirty="0" smtClean="0"/>
          </a:p>
          <a:p>
            <a:pPr algn="just"/>
            <a:r>
              <a:rPr lang="en-US" dirty="0" smtClean="0"/>
              <a:t>In </a:t>
            </a:r>
            <a:r>
              <a:rPr lang="en-US" dirty="0"/>
              <a:t>process-based multitasking, a program is the </a:t>
            </a:r>
            <a:r>
              <a:rPr lang="en-US" dirty="0" smtClean="0"/>
              <a:t>smallest unit </a:t>
            </a:r>
            <a:r>
              <a:rPr lang="en-US" dirty="0"/>
              <a:t>of code that can be dispatched by the scheduler.</a:t>
            </a:r>
          </a:p>
          <a:p>
            <a:pPr algn="just"/>
            <a:r>
              <a:rPr lang="en-US" dirty="0"/>
              <a:t>In a </a:t>
            </a:r>
            <a:r>
              <a:rPr lang="en-US" i="1" dirty="0">
                <a:solidFill>
                  <a:schemeClr val="accent2">
                    <a:lumMod val="75000"/>
                  </a:schemeClr>
                </a:solidFill>
              </a:rPr>
              <a:t>thread-based</a:t>
            </a:r>
            <a:r>
              <a:rPr lang="en-US" i="1" dirty="0"/>
              <a:t> </a:t>
            </a:r>
            <a:r>
              <a:rPr lang="en-US" dirty="0"/>
              <a:t>multitasking environment, the thread is the smallest unit of </a:t>
            </a:r>
            <a:r>
              <a:rPr lang="en-US" dirty="0" err="1" smtClean="0"/>
              <a:t>dispatchable</a:t>
            </a:r>
            <a:r>
              <a:rPr lang="en-US" dirty="0" smtClean="0"/>
              <a:t> code</a:t>
            </a:r>
            <a:r>
              <a:rPr lang="en-US" dirty="0"/>
              <a:t>. </a:t>
            </a:r>
            <a:endParaRPr lang="en-US" dirty="0" smtClean="0"/>
          </a:p>
          <a:p>
            <a:pPr algn="just"/>
            <a:r>
              <a:rPr lang="en-US" dirty="0" smtClean="0"/>
              <a:t>This </a:t>
            </a:r>
            <a:r>
              <a:rPr lang="en-US" dirty="0"/>
              <a:t>means that a single program can perform two or more tasks simultaneously. </a:t>
            </a:r>
            <a:endParaRPr lang="en-US" dirty="0" smtClean="0"/>
          </a:p>
          <a:p>
            <a:pPr algn="just"/>
            <a:r>
              <a:rPr lang="en-US" dirty="0" smtClean="0"/>
              <a:t>For instance</a:t>
            </a:r>
            <a:r>
              <a:rPr lang="en-US" dirty="0"/>
              <a:t>, a text editor can format text at the same time that it is printing, as long as these </a:t>
            </a:r>
            <a:r>
              <a:rPr lang="en-US" dirty="0" smtClean="0"/>
              <a:t>two actions </a:t>
            </a:r>
            <a:r>
              <a:rPr lang="en-US" dirty="0"/>
              <a:t>are being performed by two separate threads. </a:t>
            </a:r>
            <a:endParaRPr lang="en-US" dirty="0" smtClean="0"/>
          </a:p>
          <a:p>
            <a:pPr algn="just"/>
            <a:r>
              <a:rPr lang="en-US" dirty="0" smtClean="0"/>
              <a:t>Thus</a:t>
            </a:r>
            <a:r>
              <a:rPr lang="en-US" dirty="0"/>
              <a:t>, process-based multitasking </a:t>
            </a:r>
            <a:r>
              <a:rPr lang="en-US" dirty="0" smtClean="0"/>
              <a:t>deals with </a:t>
            </a:r>
            <a:r>
              <a:rPr lang="en-US" dirty="0"/>
              <a:t>the “big picture,” and thread-based multitasking handles the </a:t>
            </a:r>
            <a:r>
              <a:rPr lang="en-US" dirty="0" smtClean="0"/>
              <a:t>details.</a:t>
            </a:r>
            <a:endParaRPr lang="en-US" dirty="0"/>
          </a:p>
        </p:txBody>
      </p:sp>
    </p:spTree>
    <p:extLst>
      <p:ext uri="{BB962C8B-B14F-4D97-AF65-F5344CB8AC3E}">
        <p14:creationId xmlns:p14="http://schemas.microsoft.com/office/powerpoint/2010/main" val="37336838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multithreading</a:t>
            </a:r>
            <a:endParaRPr lang="en-US" dirty="0"/>
          </a:p>
        </p:txBody>
      </p:sp>
      <p:sp>
        <p:nvSpPr>
          <p:cNvPr id="3" name="Content Placeholder 2"/>
          <p:cNvSpPr>
            <a:spLocks noGrp="1"/>
          </p:cNvSpPr>
          <p:nvPr>
            <p:ph idx="1"/>
          </p:nvPr>
        </p:nvSpPr>
        <p:spPr/>
        <p:txBody>
          <a:bodyPr/>
          <a:lstStyle/>
          <a:p>
            <a:pPr algn="just"/>
            <a:r>
              <a:rPr lang="en-US" dirty="0" smtClean="0"/>
              <a:t>It</a:t>
            </a:r>
            <a:r>
              <a:rPr lang="en-US" dirty="0"/>
              <a:t> </a:t>
            </a:r>
            <a:r>
              <a:rPr lang="en-US" b="1" dirty="0"/>
              <a:t>doesn't block the user</a:t>
            </a:r>
            <a:r>
              <a:rPr lang="en-US" dirty="0"/>
              <a:t> because threads are independent and you can perform multiple operations at the same time.</a:t>
            </a:r>
          </a:p>
          <a:p>
            <a:pPr algn="just"/>
            <a:r>
              <a:rPr lang="en-US" dirty="0" smtClean="0"/>
              <a:t>You</a:t>
            </a:r>
            <a:r>
              <a:rPr lang="en-US" dirty="0"/>
              <a:t> </a:t>
            </a:r>
            <a:r>
              <a:rPr lang="en-US" b="1" dirty="0"/>
              <a:t>can perform many operations together, so it saves time</a:t>
            </a:r>
            <a:r>
              <a:rPr lang="en-US" dirty="0"/>
              <a:t>.</a:t>
            </a:r>
          </a:p>
          <a:p>
            <a:pPr algn="just"/>
            <a:r>
              <a:rPr lang="en-US" dirty="0" smtClean="0"/>
              <a:t>Threads </a:t>
            </a:r>
            <a:r>
              <a:rPr lang="en-US" dirty="0"/>
              <a:t>are </a:t>
            </a:r>
            <a:r>
              <a:rPr lang="en-US" b="1" dirty="0"/>
              <a:t>independent</a:t>
            </a:r>
            <a:r>
              <a:rPr lang="en-US" dirty="0"/>
              <a:t>, so it doesn't affect other threads if an exception occurs in a single thread</a:t>
            </a:r>
            <a:r>
              <a:rPr lang="en-US" dirty="0" smtClean="0"/>
              <a:t>.</a:t>
            </a:r>
          </a:p>
          <a:p>
            <a:pPr algn="just"/>
            <a:r>
              <a:rPr lang="en-US"/>
              <a:t>Java Multithreading is mostly used in games, animation, etc.</a:t>
            </a:r>
            <a:endParaRPr lang="en-US" dirty="0"/>
          </a:p>
          <a:p>
            <a:pPr algn="just"/>
            <a:endParaRPr lang="en-US" dirty="0"/>
          </a:p>
        </p:txBody>
      </p:sp>
    </p:spTree>
    <p:extLst>
      <p:ext uri="{BB962C8B-B14F-4D97-AF65-F5344CB8AC3E}">
        <p14:creationId xmlns:p14="http://schemas.microsoft.com/office/powerpoint/2010/main" val="36287964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6" name="Rectangle 4"/>
          <p:cNvSpPr>
            <a:spLocks noGrp="1" noChangeArrowheads="1"/>
          </p:cNvSpPr>
          <p:nvPr>
            <p:ph type="title"/>
          </p:nvPr>
        </p:nvSpPr>
        <p:spPr/>
        <p:txBody>
          <a:bodyPr/>
          <a:lstStyle/>
          <a:p>
            <a:r>
              <a:rPr lang="en-GB"/>
              <a:t>A single threaded program</a:t>
            </a:r>
          </a:p>
        </p:txBody>
      </p:sp>
      <p:sp>
        <p:nvSpPr>
          <p:cNvPr id="525317" name="Rectangle 5"/>
          <p:cNvSpPr>
            <a:spLocks noGrp="1" noChangeArrowheads="1"/>
          </p:cNvSpPr>
          <p:nvPr>
            <p:ph type="body" idx="1"/>
          </p:nvPr>
        </p:nvSpPr>
        <p:spPr>
          <a:xfrm>
            <a:off x="2362200" y="1676401"/>
            <a:ext cx="3886200" cy="4456113"/>
          </a:xfrm>
          <a:noFill/>
          <a:ln>
            <a:solidFill>
              <a:schemeClr val="tx1"/>
            </a:solidFill>
            <a:miter lim="800000"/>
            <a:headEnd/>
            <a:tailEnd/>
          </a:ln>
        </p:spPr>
        <p:txBody>
          <a:bodyPr/>
          <a:lstStyle/>
          <a:p>
            <a:pPr>
              <a:buFont typeface="Wingdings" panose="05000000000000000000" pitchFamily="2" charset="2"/>
              <a:buNone/>
            </a:pPr>
            <a:r>
              <a:rPr lang="en-GB"/>
              <a:t>class ABC</a:t>
            </a:r>
          </a:p>
          <a:p>
            <a:pPr>
              <a:buFont typeface="Wingdings" panose="05000000000000000000" pitchFamily="2" charset="2"/>
              <a:buNone/>
            </a:pPr>
            <a:r>
              <a:rPr lang="en-GB"/>
              <a:t>{</a:t>
            </a:r>
          </a:p>
          <a:p>
            <a:pPr>
              <a:buFont typeface="Wingdings" panose="05000000000000000000" pitchFamily="2" charset="2"/>
              <a:buNone/>
            </a:pPr>
            <a:r>
              <a:rPr lang="en-GB"/>
              <a:t>….</a:t>
            </a:r>
          </a:p>
          <a:p>
            <a:pPr lvl="1">
              <a:buFont typeface="Wingdings" panose="05000000000000000000" pitchFamily="2" charset="2"/>
              <a:buNone/>
            </a:pPr>
            <a:r>
              <a:rPr lang="en-GB"/>
              <a:t>public void main(..)</a:t>
            </a:r>
          </a:p>
          <a:p>
            <a:pPr lvl="1">
              <a:buFont typeface="Wingdings" panose="05000000000000000000" pitchFamily="2" charset="2"/>
              <a:buNone/>
            </a:pPr>
            <a:r>
              <a:rPr lang="en-GB"/>
              <a:t>{</a:t>
            </a:r>
          </a:p>
          <a:p>
            <a:pPr lvl="1">
              <a:buFont typeface="Wingdings" panose="05000000000000000000" pitchFamily="2" charset="2"/>
              <a:buNone/>
            </a:pPr>
            <a:r>
              <a:rPr lang="en-GB"/>
              <a:t>…</a:t>
            </a:r>
          </a:p>
          <a:p>
            <a:pPr lvl="1">
              <a:buFont typeface="Wingdings" panose="05000000000000000000" pitchFamily="2" charset="2"/>
              <a:buNone/>
            </a:pPr>
            <a:r>
              <a:rPr lang="en-GB"/>
              <a:t>..</a:t>
            </a:r>
          </a:p>
          <a:p>
            <a:pPr lvl="1">
              <a:buFont typeface="Wingdings" panose="05000000000000000000" pitchFamily="2" charset="2"/>
              <a:buNone/>
            </a:pPr>
            <a:r>
              <a:rPr lang="en-GB"/>
              <a:t>}</a:t>
            </a:r>
          </a:p>
          <a:p>
            <a:pPr>
              <a:buFont typeface="Wingdings" panose="05000000000000000000" pitchFamily="2" charset="2"/>
              <a:buNone/>
            </a:pPr>
            <a:r>
              <a:rPr lang="en-GB"/>
              <a:t>}</a:t>
            </a:r>
          </a:p>
        </p:txBody>
      </p:sp>
      <p:sp>
        <p:nvSpPr>
          <p:cNvPr id="525318" name="Line 6"/>
          <p:cNvSpPr>
            <a:spLocks noChangeShapeType="1"/>
          </p:cNvSpPr>
          <p:nvPr/>
        </p:nvSpPr>
        <p:spPr bwMode="auto">
          <a:xfrm>
            <a:off x="6781800" y="1828800"/>
            <a:ext cx="0" cy="3505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25319" name="Text Box 7"/>
          <p:cNvSpPr txBox="1">
            <a:spLocks noChangeArrowheads="1"/>
          </p:cNvSpPr>
          <p:nvPr/>
        </p:nvSpPr>
        <p:spPr bwMode="auto">
          <a:xfrm>
            <a:off x="7680326" y="187801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GB"/>
          </a:p>
        </p:txBody>
      </p:sp>
      <p:sp>
        <p:nvSpPr>
          <p:cNvPr id="525321" name="Text Box 9"/>
          <p:cNvSpPr txBox="1">
            <a:spLocks noChangeArrowheads="1"/>
          </p:cNvSpPr>
          <p:nvPr/>
        </p:nvSpPr>
        <p:spPr bwMode="auto">
          <a:xfrm>
            <a:off x="7058025" y="3255963"/>
            <a:ext cx="7056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t>begin</a:t>
            </a:r>
          </a:p>
        </p:txBody>
      </p:sp>
      <p:sp>
        <p:nvSpPr>
          <p:cNvPr id="525322" name="Text Box 10"/>
          <p:cNvSpPr txBox="1">
            <a:spLocks noChangeArrowheads="1"/>
          </p:cNvSpPr>
          <p:nvPr/>
        </p:nvSpPr>
        <p:spPr bwMode="auto">
          <a:xfrm>
            <a:off x="7005638" y="4094163"/>
            <a:ext cx="6543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t>body</a:t>
            </a:r>
          </a:p>
        </p:txBody>
      </p:sp>
      <p:sp>
        <p:nvSpPr>
          <p:cNvPr id="525323" name="Text Box 11"/>
          <p:cNvSpPr txBox="1">
            <a:spLocks noChangeArrowheads="1"/>
          </p:cNvSpPr>
          <p:nvPr/>
        </p:nvSpPr>
        <p:spPr bwMode="auto">
          <a:xfrm>
            <a:off x="6907214" y="4779963"/>
            <a:ext cx="5437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t>end</a:t>
            </a:r>
          </a:p>
        </p:txBody>
      </p:sp>
    </p:spTree>
    <p:extLst>
      <p:ext uri="{BB962C8B-B14F-4D97-AF65-F5344CB8AC3E}">
        <p14:creationId xmlns:p14="http://schemas.microsoft.com/office/powerpoint/2010/main" val="1231511162"/>
      </p:ext>
    </p:extLst>
  </p:cSld>
  <p:clrMapOvr>
    <a:masterClrMapping/>
  </p:clrMapOvr>
  <mc:AlternateContent xmlns:mc="http://schemas.openxmlformats.org/markup-compatibility/2006" xmlns:p14="http://schemas.microsoft.com/office/powerpoint/2010/main">
    <mc:Choice Requires="p14">
      <p:transition spd="slow" p14:dur="2000" advTm="1000"/>
    </mc:Choice>
    <mc:Fallback xmlns="">
      <p:transition spd="slow" advTm="1000"/>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8" name="Rectangle 4"/>
          <p:cNvSpPr>
            <a:spLocks noGrp="1" noChangeArrowheads="1"/>
          </p:cNvSpPr>
          <p:nvPr>
            <p:ph type="title"/>
          </p:nvPr>
        </p:nvSpPr>
        <p:spPr/>
        <p:txBody>
          <a:bodyPr/>
          <a:lstStyle/>
          <a:p>
            <a:r>
              <a:rPr lang="en-GB"/>
              <a:t>A Multithreaded Program</a:t>
            </a:r>
          </a:p>
        </p:txBody>
      </p:sp>
      <p:sp>
        <p:nvSpPr>
          <p:cNvPr id="528389" name="Rectangle 5"/>
          <p:cNvSpPr>
            <a:spLocks noChangeArrowheads="1"/>
          </p:cNvSpPr>
          <p:nvPr/>
        </p:nvSpPr>
        <p:spPr bwMode="auto">
          <a:xfrm>
            <a:off x="4876800" y="1524000"/>
            <a:ext cx="1905000" cy="1752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t>Main Thread</a:t>
            </a:r>
          </a:p>
        </p:txBody>
      </p:sp>
      <p:sp>
        <p:nvSpPr>
          <p:cNvPr id="528390" name="Rectangle 6"/>
          <p:cNvSpPr>
            <a:spLocks noChangeArrowheads="1"/>
          </p:cNvSpPr>
          <p:nvPr/>
        </p:nvSpPr>
        <p:spPr bwMode="auto">
          <a:xfrm>
            <a:off x="2971800" y="4191000"/>
            <a:ext cx="914400" cy="1600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t>Thread A</a:t>
            </a:r>
          </a:p>
        </p:txBody>
      </p:sp>
      <p:sp>
        <p:nvSpPr>
          <p:cNvPr id="528391" name="Rectangle 7"/>
          <p:cNvSpPr>
            <a:spLocks noChangeArrowheads="1"/>
          </p:cNvSpPr>
          <p:nvPr/>
        </p:nvSpPr>
        <p:spPr bwMode="auto">
          <a:xfrm>
            <a:off x="5029200" y="4191000"/>
            <a:ext cx="1066800" cy="1752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t>Thread B</a:t>
            </a:r>
          </a:p>
        </p:txBody>
      </p:sp>
      <p:sp>
        <p:nvSpPr>
          <p:cNvPr id="528392" name="Rectangle 8"/>
          <p:cNvSpPr>
            <a:spLocks noChangeArrowheads="1"/>
          </p:cNvSpPr>
          <p:nvPr/>
        </p:nvSpPr>
        <p:spPr bwMode="auto">
          <a:xfrm>
            <a:off x="7543800" y="4191000"/>
            <a:ext cx="914400" cy="1752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t>Thread C</a:t>
            </a:r>
          </a:p>
        </p:txBody>
      </p:sp>
      <p:sp>
        <p:nvSpPr>
          <p:cNvPr id="528397" name="Line 13"/>
          <p:cNvSpPr>
            <a:spLocks noChangeShapeType="1"/>
          </p:cNvSpPr>
          <p:nvPr/>
        </p:nvSpPr>
        <p:spPr bwMode="auto">
          <a:xfrm flipH="1">
            <a:off x="3505200" y="3352800"/>
            <a:ext cx="1905000" cy="762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28398" name="Line 14"/>
          <p:cNvSpPr>
            <a:spLocks noChangeShapeType="1"/>
          </p:cNvSpPr>
          <p:nvPr/>
        </p:nvSpPr>
        <p:spPr bwMode="auto">
          <a:xfrm flipH="1">
            <a:off x="5638800" y="3352800"/>
            <a:ext cx="76200" cy="762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28399" name="Line 15"/>
          <p:cNvSpPr>
            <a:spLocks noChangeShapeType="1"/>
          </p:cNvSpPr>
          <p:nvPr/>
        </p:nvSpPr>
        <p:spPr bwMode="auto">
          <a:xfrm>
            <a:off x="6172200" y="3352800"/>
            <a:ext cx="1676400" cy="762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28400" name="Text Box 16"/>
          <p:cNvSpPr txBox="1">
            <a:spLocks noChangeArrowheads="1"/>
          </p:cNvSpPr>
          <p:nvPr/>
        </p:nvSpPr>
        <p:spPr bwMode="auto">
          <a:xfrm>
            <a:off x="3746500" y="3484563"/>
            <a:ext cx="6136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t>start</a:t>
            </a:r>
          </a:p>
        </p:txBody>
      </p:sp>
      <p:sp>
        <p:nvSpPr>
          <p:cNvPr id="528401" name="Text Box 17"/>
          <p:cNvSpPr txBox="1">
            <a:spLocks noChangeArrowheads="1"/>
          </p:cNvSpPr>
          <p:nvPr/>
        </p:nvSpPr>
        <p:spPr bwMode="auto">
          <a:xfrm>
            <a:off x="5276850" y="3505200"/>
            <a:ext cx="6136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t>start</a:t>
            </a:r>
          </a:p>
        </p:txBody>
      </p:sp>
      <p:sp>
        <p:nvSpPr>
          <p:cNvPr id="528402" name="Text Box 18"/>
          <p:cNvSpPr txBox="1">
            <a:spLocks noChangeArrowheads="1"/>
          </p:cNvSpPr>
          <p:nvPr/>
        </p:nvSpPr>
        <p:spPr bwMode="auto">
          <a:xfrm>
            <a:off x="6781800" y="3276600"/>
            <a:ext cx="6136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t>start</a:t>
            </a:r>
          </a:p>
        </p:txBody>
      </p:sp>
      <p:sp>
        <p:nvSpPr>
          <p:cNvPr id="528403" name="Line 19"/>
          <p:cNvSpPr>
            <a:spLocks noChangeShapeType="1"/>
          </p:cNvSpPr>
          <p:nvPr/>
        </p:nvSpPr>
        <p:spPr bwMode="auto">
          <a:xfrm>
            <a:off x="4038600" y="5029200"/>
            <a:ext cx="83820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28404" name="Text Box 20"/>
          <p:cNvSpPr txBox="1">
            <a:spLocks noChangeArrowheads="1"/>
          </p:cNvSpPr>
          <p:nvPr/>
        </p:nvSpPr>
        <p:spPr bwMode="auto">
          <a:xfrm>
            <a:off x="3124201" y="6096000"/>
            <a:ext cx="440441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t>Threads may switch or exchange data/results</a:t>
            </a:r>
          </a:p>
        </p:txBody>
      </p:sp>
      <p:sp>
        <p:nvSpPr>
          <p:cNvPr id="528405" name="Line 21"/>
          <p:cNvSpPr>
            <a:spLocks noChangeShapeType="1"/>
          </p:cNvSpPr>
          <p:nvPr/>
        </p:nvSpPr>
        <p:spPr bwMode="auto">
          <a:xfrm>
            <a:off x="7391400" y="1676400"/>
            <a:ext cx="0" cy="1371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28406" name="Line 22"/>
          <p:cNvSpPr>
            <a:spLocks noChangeShapeType="1"/>
          </p:cNvSpPr>
          <p:nvPr/>
        </p:nvSpPr>
        <p:spPr bwMode="auto">
          <a:xfrm>
            <a:off x="9067800" y="4343400"/>
            <a:ext cx="0" cy="1371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28407" name="Line 23"/>
          <p:cNvSpPr>
            <a:spLocks noChangeShapeType="1"/>
          </p:cNvSpPr>
          <p:nvPr/>
        </p:nvSpPr>
        <p:spPr bwMode="auto">
          <a:xfrm>
            <a:off x="6400800" y="4343400"/>
            <a:ext cx="0" cy="1371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28408" name="Line 24"/>
          <p:cNvSpPr>
            <a:spLocks noChangeShapeType="1"/>
          </p:cNvSpPr>
          <p:nvPr/>
        </p:nvSpPr>
        <p:spPr bwMode="auto">
          <a:xfrm>
            <a:off x="2743200" y="4343400"/>
            <a:ext cx="0" cy="1371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extLst>
      <p:ext uri="{BB962C8B-B14F-4D97-AF65-F5344CB8AC3E}">
        <p14:creationId xmlns:p14="http://schemas.microsoft.com/office/powerpoint/2010/main" val="2299891998"/>
      </p:ext>
    </p:extLst>
  </p:cSld>
  <p:clrMapOvr>
    <a:masterClrMapping/>
  </p:clrMapOvr>
  <mc:AlternateContent xmlns:mc="http://schemas.openxmlformats.org/markup-compatibility/2006" xmlns:p14="http://schemas.microsoft.com/office/powerpoint/2010/main">
    <mc:Choice Requires="p14">
      <p:transition spd="slow" p14:dur="2000" advTm="1000"/>
    </mc:Choice>
    <mc:Fallback xmlns="">
      <p:transition spd="slow" advTm="100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Lifecycle of a Thread</a:t>
            </a:r>
            <a:endParaRPr lang="en-US" dirty="0"/>
          </a:p>
        </p:txBody>
      </p:sp>
      <p:sp>
        <p:nvSpPr>
          <p:cNvPr id="3" name="Content Placeholder 2"/>
          <p:cNvSpPr>
            <a:spLocks noGrp="1"/>
          </p:cNvSpPr>
          <p:nvPr>
            <p:ph idx="1"/>
          </p:nvPr>
        </p:nvSpPr>
        <p:spPr>
          <a:xfrm>
            <a:off x="838200" y="1825625"/>
            <a:ext cx="10515600" cy="4848130"/>
          </a:xfrm>
        </p:spPr>
        <p:txBody>
          <a:bodyPr>
            <a:normAutofit lnSpcReduction="10000"/>
          </a:bodyPr>
          <a:lstStyle/>
          <a:p>
            <a:pPr marL="0" indent="0" algn="just">
              <a:buNone/>
            </a:pPr>
            <a:r>
              <a:rPr lang="en-US" dirty="0"/>
              <a:t>Following are the stages of the life cycle: </a:t>
            </a:r>
          </a:p>
          <a:p>
            <a:pPr algn="just"/>
            <a:r>
              <a:rPr lang="en-US" b="1" dirty="0" smtClean="0"/>
              <a:t>New</a:t>
            </a:r>
            <a:r>
              <a:rPr lang="en-US" b="1" dirty="0"/>
              <a:t>: </a:t>
            </a:r>
            <a:r>
              <a:rPr lang="en-US" dirty="0"/>
              <a:t>When a new thread is created, it is in the new state. The thread has not yet started to run when the thread is in this </a:t>
            </a:r>
            <a:r>
              <a:rPr lang="en-US" dirty="0" smtClean="0"/>
              <a:t>state</a:t>
            </a:r>
            <a:r>
              <a:rPr lang="en-US" dirty="0" smtClean="0"/>
              <a:t>. </a:t>
            </a:r>
            <a:r>
              <a:rPr lang="en-US" dirty="0"/>
              <a:t>It is also referred to as a </a:t>
            </a:r>
            <a:r>
              <a:rPr lang="en-US" b="1" dirty="0"/>
              <a:t>born thread</a:t>
            </a:r>
            <a:r>
              <a:rPr lang="en-US" dirty="0"/>
              <a:t>. </a:t>
            </a:r>
          </a:p>
          <a:p>
            <a:pPr algn="just"/>
            <a:r>
              <a:rPr lang="en-US" b="1" dirty="0" smtClean="0"/>
              <a:t>Runnable</a:t>
            </a:r>
            <a:r>
              <a:rPr lang="en-US" b="1" dirty="0"/>
              <a:t>: </a:t>
            </a:r>
            <a:r>
              <a:rPr lang="en-US" dirty="0"/>
              <a:t>A thread that is ready to run is moved to a runnable state. In this state, a thread might actually be running or it might be ready to run at any instant of time. It is the responsibility of the thread scheduler to give the thread, time to </a:t>
            </a:r>
            <a:r>
              <a:rPr lang="en-US" dirty="0" smtClean="0"/>
              <a:t>run</a:t>
            </a:r>
          </a:p>
          <a:p>
            <a:r>
              <a:rPr lang="en-US" b="1" dirty="0" smtClean="0"/>
              <a:t>Blocked/Waiting</a:t>
            </a:r>
            <a:r>
              <a:rPr lang="en-US" b="1" dirty="0"/>
              <a:t>: </a:t>
            </a:r>
            <a:r>
              <a:rPr lang="en-US" dirty="0"/>
              <a:t>When a thread is temporarily inactive, then it’s in one of the following states: </a:t>
            </a:r>
            <a:endParaRPr lang="en-US" dirty="0" smtClean="0"/>
          </a:p>
          <a:p>
            <a:pPr lvl="1"/>
            <a:r>
              <a:rPr lang="en-US" dirty="0" smtClean="0"/>
              <a:t>Blocked</a:t>
            </a:r>
            <a:endParaRPr lang="en-US" dirty="0"/>
          </a:p>
          <a:p>
            <a:pPr lvl="1"/>
            <a:r>
              <a:rPr lang="en-US" dirty="0"/>
              <a:t>Waiting</a:t>
            </a:r>
          </a:p>
          <a:p>
            <a:pPr algn="just"/>
            <a:endParaRPr lang="en-US" dirty="0"/>
          </a:p>
        </p:txBody>
      </p:sp>
    </p:spTree>
    <p:extLst>
      <p:ext uri="{BB962C8B-B14F-4D97-AF65-F5344CB8AC3E}">
        <p14:creationId xmlns:p14="http://schemas.microsoft.com/office/powerpoint/2010/main" val="1248155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Lifecycle of a Thread</a:t>
            </a:r>
            <a:endParaRPr lang="en-US" dirty="0"/>
          </a:p>
        </p:txBody>
      </p:sp>
      <p:sp>
        <p:nvSpPr>
          <p:cNvPr id="3" name="Content Placeholder 2"/>
          <p:cNvSpPr>
            <a:spLocks noGrp="1"/>
          </p:cNvSpPr>
          <p:nvPr>
            <p:ph idx="1"/>
          </p:nvPr>
        </p:nvSpPr>
        <p:spPr>
          <a:xfrm>
            <a:off x="838200" y="1825625"/>
            <a:ext cx="10515600" cy="4848130"/>
          </a:xfrm>
        </p:spPr>
        <p:txBody>
          <a:bodyPr>
            <a:normAutofit/>
          </a:bodyPr>
          <a:lstStyle/>
          <a:p>
            <a:pPr algn="just"/>
            <a:r>
              <a:rPr lang="en-US" b="1" dirty="0" smtClean="0"/>
              <a:t>Timed </a:t>
            </a:r>
            <a:r>
              <a:rPr lang="en-US" b="1" dirty="0"/>
              <a:t>Waiting: </a:t>
            </a:r>
            <a:r>
              <a:rPr lang="en-US" dirty="0"/>
              <a:t>A thread lies in a timed waiting state when it calls a method with a time-out parameter. A thread lies in this state until the timeout is completed or until a notification is received.</a:t>
            </a:r>
            <a:endParaRPr lang="en-US" dirty="0"/>
          </a:p>
          <a:p>
            <a:r>
              <a:rPr lang="en-US" b="1" dirty="0" smtClean="0"/>
              <a:t>Terminated </a:t>
            </a:r>
            <a:r>
              <a:rPr lang="en-US" b="1" dirty="0"/>
              <a:t>(Dead): </a:t>
            </a:r>
            <a:r>
              <a:rPr lang="en-US" dirty="0"/>
              <a:t>A thread terminates because of either of the following reasons: </a:t>
            </a:r>
            <a:endParaRPr lang="en-US" dirty="0" smtClean="0"/>
          </a:p>
          <a:p>
            <a:pPr lvl="1"/>
            <a:r>
              <a:rPr lang="en-US" dirty="0" smtClean="0"/>
              <a:t>Because </a:t>
            </a:r>
            <a:r>
              <a:rPr lang="en-US" dirty="0"/>
              <a:t>it exits normally. This happens when the code of the thread has been entirely executed by the program.</a:t>
            </a:r>
          </a:p>
          <a:p>
            <a:pPr lvl="1"/>
            <a:r>
              <a:rPr lang="en-US" dirty="0"/>
              <a:t>Because there occurred some unusual erroneous event, like a segmentation fault or an unhandled exception.</a:t>
            </a:r>
          </a:p>
          <a:p>
            <a:pPr algn="just"/>
            <a:endParaRPr lang="en-US" dirty="0"/>
          </a:p>
        </p:txBody>
      </p:sp>
    </p:spTree>
    <p:extLst>
      <p:ext uri="{BB962C8B-B14F-4D97-AF65-F5344CB8AC3E}">
        <p14:creationId xmlns:p14="http://schemas.microsoft.com/office/powerpoint/2010/main" val="12188376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199" y="123253"/>
            <a:ext cx="10515600" cy="1325563"/>
          </a:xfrm>
        </p:spPr>
        <p:txBody>
          <a:bodyPr/>
          <a:lstStyle/>
          <a:p>
            <a:r>
              <a:rPr lang="en-US" dirty="0"/>
              <a:t>Lifecycle of a Thread</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9531" y="1448816"/>
            <a:ext cx="11445153" cy="5305306"/>
          </a:xfrm>
        </p:spPr>
      </p:pic>
    </p:spTree>
    <p:extLst>
      <p:ext uri="{BB962C8B-B14F-4D97-AF65-F5344CB8AC3E}">
        <p14:creationId xmlns:p14="http://schemas.microsoft.com/office/powerpoint/2010/main" val="8497998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27797"/>
          </a:xfrm>
        </p:spPr>
        <p:txBody>
          <a:bodyPr>
            <a:normAutofit fontScale="90000"/>
          </a:bodyPr>
          <a:lstStyle/>
          <a:p>
            <a:r>
              <a:rPr lang="en-US" dirty="0" smtClean="0"/>
              <a:t>Thread Methods</a:t>
            </a:r>
            <a:endParaRPr lang="en-US" dirty="0"/>
          </a:p>
        </p:txBody>
      </p:sp>
      <p:pic>
        <p:nvPicPr>
          <p:cNvPr id="6" name="Content Placeholder 5"/>
          <p:cNvPicPr>
            <a:picLocks noGrp="1" noChangeAspect="1"/>
          </p:cNvPicPr>
          <p:nvPr>
            <p:ph idx="1"/>
          </p:nvPr>
        </p:nvPicPr>
        <p:blipFill>
          <a:blip r:embed="rId2"/>
          <a:stretch>
            <a:fillRect/>
          </a:stretch>
        </p:blipFill>
        <p:spPr>
          <a:xfrm>
            <a:off x="109181" y="650310"/>
            <a:ext cx="10563367" cy="5912602"/>
          </a:xfrm>
          <a:prstGeom prst="rect">
            <a:avLst/>
          </a:prstGeom>
        </p:spPr>
      </p:pic>
    </p:spTree>
    <p:extLst>
      <p:ext uri="{BB962C8B-B14F-4D97-AF65-F5344CB8AC3E}">
        <p14:creationId xmlns:p14="http://schemas.microsoft.com/office/powerpoint/2010/main" val="16251247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27797"/>
          </a:xfrm>
        </p:spPr>
        <p:txBody>
          <a:bodyPr>
            <a:normAutofit fontScale="90000"/>
          </a:bodyPr>
          <a:lstStyle/>
          <a:p>
            <a:r>
              <a:rPr lang="en-US" dirty="0" smtClean="0"/>
              <a:t>Thread Methods</a:t>
            </a:r>
            <a:endParaRPr lang="en-US" dirty="0"/>
          </a:p>
        </p:txBody>
      </p:sp>
      <p:pic>
        <p:nvPicPr>
          <p:cNvPr id="7" name="Content Placeholder 6"/>
          <p:cNvPicPr>
            <a:picLocks noGrp="1" noChangeAspect="1"/>
          </p:cNvPicPr>
          <p:nvPr>
            <p:ph idx="1"/>
          </p:nvPr>
        </p:nvPicPr>
        <p:blipFill>
          <a:blip r:embed="rId2"/>
          <a:stretch>
            <a:fillRect/>
          </a:stretch>
        </p:blipFill>
        <p:spPr>
          <a:xfrm>
            <a:off x="116174" y="627797"/>
            <a:ext cx="10610262" cy="5486400"/>
          </a:xfrm>
          <a:prstGeom prst="rect">
            <a:avLst/>
          </a:prstGeom>
        </p:spPr>
      </p:pic>
    </p:spTree>
    <p:extLst>
      <p:ext uri="{BB962C8B-B14F-4D97-AF65-F5344CB8AC3E}">
        <p14:creationId xmlns:p14="http://schemas.microsoft.com/office/powerpoint/2010/main" val="40623008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27797"/>
          </a:xfrm>
        </p:spPr>
        <p:txBody>
          <a:bodyPr>
            <a:normAutofit fontScale="90000"/>
          </a:bodyPr>
          <a:lstStyle/>
          <a:p>
            <a:r>
              <a:rPr lang="en-US" dirty="0" smtClean="0"/>
              <a:t>Thread Methods</a:t>
            </a:r>
            <a:endParaRPr lang="en-US" dirty="0"/>
          </a:p>
        </p:txBody>
      </p:sp>
      <p:pic>
        <p:nvPicPr>
          <p:cNvPr id="4" name="Content Placeholder 3"/>
          <p:cNvPicPr>
            <a:picLocks noGrp="1" noChangeAspect="1"/>
          </p:cNvPicPr>
          <p:nvPr>
            <p:ph idx="1"/>
          </p:nvPr>
        </p:nvPicPr>
        <p:blipFill>
          <a:blip r:embed="rId2"/>
          <a:stretch>
            <a:fillRect/>
          </a:stretch>
        </p:blipFill>
        <p:spPr>
          <a:xfrm>
            <a:off x="122504" y="627797"/>
            <a:ext cx="10668098" cy="5595582"/>
          </a:xfrm>
          <a:prstGeom prst="rect">
            <a:avLst/>
          </a:prstGeom>
        </p:spPr>
      </p:pic>
    </p:spTree>
    <p:extLst>
      <p:ext uri="{BB962C8B-B14F-4D97-AF65-F5344CB8AC3E}">
        <p14:creationId xmlns:p14="http://schemas.microsoft.com/office/powerpoint/2010/main" val="31725843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Threads</a:t>
            </a:r>
            <a:endParaRPr lang="en-US" dirty="0"/>
          </a:p>
        </p:txBody>
      </p:sp>
      <p:sp>
        <p:nvSpPr>
          <p:cNvPr id="3" name="Content Placeholder 2"/>
          <p:cNvSpPr>
            <a:spLocks noGrp="1"/>
          </p:cNvSpPr>
          <p:nvPr>
            <p:ph idx="1"/>
          </p:nvPr>
        </p:nvSpPr>
        <p:spPr>
          <a:xfrm>
            <a:off x="838200" y="1825625"/>
            <a:ext cx="10515600" cy="4848130"/>
          </a:xfrm>
        </p:spPr>
        <p:txBody>
          <a:bodyPr>
            <a:normAutofit/>
          </a:bodyPr>
          <a:lstStyle/>
          <a:p>
            <a:pPr algn="just"/>
            <a:r>
              <a:rPr lang="en-US" dirty="0"/>
              <a:t>In the most general sense, you create a thread by instantiating an object of type </a:t>
            </a:r>
            <a:r>
              <a:rPr lang="en-US" b="1" dirty="0"/>
              <a:t>Thread</a:t>
            </a:r>
            <a:r>
              <a:rPr lang="en-US" dirty="0"/>
              <a:t>.</a:t>
            </a:r>
          </a:p>
          <a:p>
            <a:pPr algn="just"/>
            <a:r>
              <a:rPr lang="en-US" dirty="0"/>
              <a:t>Java defines two ways in which this can be accomplished:</a:t>
            </a:r>
          </a:p>
          <a:p>
            <a:pPr algn="just">
              <a:buFont typeface="Wingdings" panose="05000000000000000000" pitchFamily="2" charset="2"/>
              <a:buChar char="Ø"/>
            </a:pPr>
            <a:r>
              <a:rPr lang="en-US" sz="2400" dirty="0" smtClean="0"/>
              <a:t>You </a:t>
            </a:r>
            <a:r>
              <a:rPr lang="en-US" sz="2400" dirty="0"/>
              <a:t>can implement the </a:t>
            </a:r>
            <a:r>
              <a:rPr lang="en-US" sz="2400" b="1" dirty="0"/>
              <a:t>Runnable </a:t>
            </a:r>
            <a:r>
              <a:rPr lang="en-US" sz="2400" dirty="0" smtClean="0"/>
              <a:t>interface.</a:t>
            </a:r>
          </a:p>
          <a:p>
            <a:pPr algn="just">
              <a:buFont typeface="Wingdings" panose="05000000000000000000" pitchFamily="2" charset="2"/>
              <a:buChar char="Ø"/>
            </a:pPr>
            <a:r>
              <a:rPr lang="en-US" sz="2400" dirty="0" smtClean="0"/>
              <a:t>You </a:t>
            </a:r>
            <a:r>
              <a:rPr lang="en-US" sz="2400" dirty="0"/>
              <a:t>can extend the </a:t>
            </a:r>
            <a:r>
              <a:rPr lang="en-US" sz="2400" b="1" dirty="0"/>
              <a:t>Thread </a:t>
            </a:r>
            <a:r>
              <a:rPr lang="en-US" sz="2400" dirty="0"/>
              <a:t>class, itself.</a:t>
            </a:r>
          </a:p>
        </p:txBody>
      </p:sp>
    </p:spTree>
    <p:extLst>
      <p:ext uri="{BB962C8B-B14F-4D97-AF65-F5344CB8AC3E}">
        <p14:creationId xmlns:p14="http://schemas.microsoft.com/office/powerpoint/2010/main" val="36462798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dirty="0"/>
              <a:t>Java Thread Example by extending Thread </a:t>
            </a:r>
            <a:r>
              <a:rPr lang="en-US" dirty="0" smtClean="0"/>
              <a:t>class</a:t>
            </a:r>
            <a:endParaRPr lang="en-US" dirty="0"/>
          </a:p>
        </p:txBody>
      </p:sp>
      <p:pic>
        <p:nvPicPr>
          <p:cNvPr id="4" name="Content Placeholder 3"/>
          <p:cNvPicPr>
            <a:picLocks noGrp="1" noChangeAspect="1"/>
          </p:cNvPicPr>
          <p:nvPr>
            <p:ph idx="1"/>
          </p:nvPr>
        </p:nvPicPr>
        <p:blipFill>
          <a:blip r:embed="rId2"/>
          <a:stretch>
            <a:fillRect/>
          </a:stretch>
        </p:blipFill>
        <p:spPr>
          <a:xfrm>
            <a:off x="838200" y="1690688"/>
            <a:ext cx="5453134" cy="4482028"/>
          </a:xfrm>
          <a:prstGeom prst="rect">
            <a:avLst/>
          </a:prstGeom>
        </p:spPr>
      </p:pic>
    </p:spTree>
    <p:extLst>
      <p:ext uri="{BB962C8B-B14F-4D97-AF65-F5344CB8AC3E}">
        <p14:creationId xmlns:p14="http://schemas.microsoft.com/office/powerpoint/2010/main" val="7053884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dirty="0"/>
              <a:t>Java Thread Example by implementing Runnable interface</a:t>
            </a:r>
          </a:p>
        </p:txBody>
      </p:sp>
      <p:pic>
        <p:nvPicPr>
          <p:cNvPr id="5" name="Picture 4"/>
          <p:cNvPicPr>
            <a:picLocks noChangeAspect="1"/>
          </p:cNvPicPr>
          <p:nvPr/>
        </p:nvPicPr>
        <p:blipFill>
          <a:blip r:embed="rId2"/>
          <a:stretch>
            <a:fillRect/>
          </a:stretch>
        </p:blipFill>
        <p:spPr>
          <a:xfrm>
            <a:off x="963019" y="1796812"/>
            <a:ext cx="4714449" cy="4880451"/>
          </a:xfrm>
          <a:prstGeom prst="rect">
            <a:avLst/>
          </a:prstGeom>
        </p:spPr>
      </p:pic>
    </p:spTree>
    <p:extLst>
      <p:ext uri="{BB962C8B-B14F-4D97-AF65-F5344CB8AC3E}">
        <p14:creationId xmlns:p14="http://schemas.microsoft.com/office/powerpoint/2010/main" val="3616386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515600" cy="604684"/>
          </a:xfrm>
        </p:spPr>
        <p:txBody>
          <a:bodyPr>
            <a:normAutofit fontScale="90000"/>
          </a:bodyPr>
          <a:lstStyle/>
          <a:p>
            <a:r>
              <a:rPr lang="en-US" dirty="0" smtClean="0"/>
              <a:t>Running Multiple threads</a:t>
            </a:r>
            <a:endParaRPr lang="en-US" dirty="0"/>
          </a:p>
        </p:txBody>
      </p:sp>
      <p:pic>
        <p:nvPicPr>
          <p:cNvPr id="5" name="Content Placeholder 4"/>
          <p:cNvPicPr>
            <a:picLocks noGrp="1" noChangeAspect="1"/>
          </p:cNvPicPr>
          <p:nvPr>
            <p:ph idx="1"/>
          </p:nvPr>
        </p:nvPicPr>
        <p:blipFill>
          <a:blip r:embed="rId2"/>
          <a:stretch>
            <a:fillRect/>
          </a:stretch>
        </p:blipFill>
        <p:spPr>
          <a:xfrm>
            <a:off x="0" y="604685"/>
            <a:ext cx="10694010" cy="5648631"/>
          </a:xfrm>
          <a:prstGeom prst="rect">
            <a:avLst/>
          </a:prstGeom>
        </p:spPr>
      </p:pic>
    </p:spTree>
    <p:extLst>
      <p:ext uri="{BB962C8B-B14F-4D97-AF65-F5344CB8AC3E}">
        <p14:creationId xmlns:p14="http://schemas.microsoft.com/office/powerpoint/2010/main" val="7480629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515600" cy="604684"/>
          </a:xfrm>
        </p:spPr>
        <p:txBody>
          <a:bodyPr>
            <a:normAutofit fontScale="90000"/>
          </a:bodyPr>
          <a:lstStyle/>
          <a:p>
            <a:r>
              <a:rPr lang="en-US" dirty="0" smtClean="0"/>
              <a:t>Running Multiple threads</a:t>
            </a:r>
            <a:endParaRPr lang="en-US" dirty="0"/>
          </a:p>
        </p:txBody>
      </p:sp>
      <p:pic>
        <p:nvPicPr>
          <p:cNvPr id="6" name="Picture 5"/>
          <p:cNvPicPr>
            <a:picLocks noChangeAspect="1"/>
          </p:cNvPicPr>
          <p:nvPr/>
        </p:nvPicPr>
        <p:blipFill>
          <a:blip r:embed="rId2"/>
          <a:stretch>
            <a:fillRect/>
          </a:stretch>
        </p:blipFill>
        <p:spPr>
          <a:xfrm>
            <a:off x="0" y="604685"/>
            <a:ext cx="10117395" cy="6159802"/>
          </a:xfrm>
          <a:prstGeom prst="rect">
            <a:avLst/>
          </a:prstGeom>
        </p:spPr>
      </p:pic>
    </p:spTree>
    <p:extLst>
      <p:ext uri="{BB962C8B-B14F-4D97-AF65-F5344CB8AC3E}">
        <p14:creationId xmlns:p14="http://schemas.microsoft.com/office/powerpoint/2010/main" val="12092247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a:t>
            </a:r>
            <a:endParaRPr lang="en-US" dirty="0"/>
          </a:p>
        </p:txBody>
      </p:sp>
      <p:sp>
        <p:nvSpPr>
          <p:cNvPr id="3" name="Content Placeholder 2"/>
          <p:cNvSpPr>
            <a:spLocks noGrp="1"/>
          </p:cNvSpPr>
          <p:nvPr>
            <p:ph idx="1"/>
          </p:nvPr>
        </p:nvSpPr>
        <p:spPr/>
        <p:txBody>
          <a:bodyPr/>
          <a:lstStyle/>
          <a:p>
            <a:r>
              <a:rPr lang="en-US" dirty="0">
                <a:hlinkClick r:id="rId2"/>
              </a:rPr>
              <a:t>https://www.geeksforgeeks.org/lifecycle-and-states-of-a-thread-in-java/</a:t>
            </a:r>
          </a:p>
          <a:p>
            <a:r>
              <a:rPr lang="en-US" dirty="0" smtClean="0">
                <a:hlinkClick r:id="rId2"/>
              </a:rPr>
              <a:t>https</a:t>
            </a:r>
            <a:r>
              <a:rPr lang="en-US" dirty="0">
                <a:hlinkClick r:id="rId2"/>
              </a:rPr>
              <a:t>://</a:t>
            </a:r>
            <a:r>
              <a:rPr lang="en-US" dirty="0" smtClean="0">
                <a:hlinkClick r:id="rId2"/>
              </a:rPr>
              <a:t>www.java67.com/2016/05/how-to-use-multiple-threads-in-java.html</a:t>
            </a:r>
            <a:endParaRPr lang="en-US" dirty="0" smtClean="0"/>
          </a:p>
          <a:p>
            <a:endParaRPr lang="en-US" dirty="0"/>
          </a:p>
        </p:txBody>
      </p:sp>
    </p:spTree>
    <p:extLst>
      <p:ext uri="{BB962C8B-B14F-4D97-AF65-F5344CB8AC3E}">
        <p14:creationId xmlns:p14="http://schemas.microsoft.com/office/powerpoint/2010/main" val="3393606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ctr">
              <a:buNone/>
            </a:pPr>
            <a:endParaRPr lang="en-US" dirty="0" smtClean="0"/>
          </a:p>
          <a:p>
            <a:pPr marL="0" indent="0" algn="ctr">
              <a:buNone/>
            </a:pPr>
            <a:endParaRPr lang="en-US" dirty="0"/>
          </a:p>
          <a:p>
            <a:pPr marL="0" indent="0" algn="ctr">
              <a:buNone/>
            </a:pPr>
            <a:endParaRPr lang="en-US" dirty="0" smtClean="0"/>
          </a:p>
          <a:p>
            <a:pPr marL="0" indent="0" algn="ctr">
              <a:buNone/>
            </a:pPr>
            <a:r>
              <a:rPr lang="en-US" dirty="0" smtClean="0"/>
              <a:t>Thanks</a:t>
            </a:r>
            <a:endParaRPr lang="en-US" dirty="0"/>
          </a:p>
        </p:txBody>
      </p:sp>
    </p:spTree>
    <p:extLst>
      <p:ext uri="{BB962C8B-B14F-4D97-AF65-F5344CB8AC3E}">
        <p14:creationId xmlns:p14="http://schemas.microsoft.com/office/powerpoint/2010/main" val="8208454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357</TotalTime>
  <Words>593</Words>
  <Application>Microsoft Office PowerPoint</Application>
  <PresentationFormat>Widescreen</PresentationFormat>
  <Paragraphs>84</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Wingdings</vt:lpstr>
      <vt:lpstr>Office Theme</vt:lpstr>
      <vt:lpstr>Multithreading I</vt:lpstr>
      <vt:lpstr>Learning objectives</vt:lpstr>
      <vt:lpstr>Introduction</vt:lpstr>
      <vt:lpstr>Process VS Thread</vt:lpstr>
      <vt:lpstr>Advantages of multithreading</vt:lpstr>
      <vt:lpstr>A single threaded program</vt:lpstr>
      <vt:lpstr>A Multithreaded Program</vt:lpstr>
      <vt:lpstr>Lifecycle of a Thread</vt:lpstr>
      <vt:lpstr>Lifecycle of a Thread</vt:lpstr>
      <vt:lpstr>Lifecycle of a Thread</vt:lpstr>
      <vt:lpstr>Thread Methods</vt:lpstr>
      <vt:lpstr>Thread Methods</vt:lpstr>
      <vt:lpstr>Thread Methods</vt:lpstr>
      <vt:lpstr>Creating Threads</vt:lpstr>
      <vt:lpstr>Java Thread Example by extending Thread class</vt:lpstr>
      <vt:lpstr>Java Thread Example by implementing Runnable interface</vt:lpstr>
      <vt:lpstr>Running Multiple threads</vt:lpstr>
      <vt:lpstr>Running Multiple threads</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Interface</dc:title>
  <dc:creator>kumarpc</dc:creator>
  <cp:lastModifiedBy>Windows User</cp:lastModifiedBy>
  <cp:revision>28</cp:revision>
  <dcterms:created xsi:type="dcterms:W3CDTF">2016-09-14T14:18:40Z</dcterms:created>
  <dcterms:modified xsi:type="dcterms:W3CDTF">2023-06-22T17:18:15Z</dcterms:modified>
</cp:coreProperties>
</file>