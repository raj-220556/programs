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1" r:id="rId15"/>
    <p:sldId id="275" r:id="rId16"/>
    <p:sldId id="272" r:id="rId17"/>
    <p:sldId id="274" r:id="rId18"/>
    <p:sldId id="273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7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5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0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6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6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9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7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2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5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7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8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7C47E-A2FE-4AE2-9F6B-AF2182E87C0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119AB-6316-4D14-80A6-128FF1C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aw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- AWT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dirty="0" smtClean="0"/>
              <a:t>Lecture 30</a:t>
            </a:r>
          </a:p>
        </p:txBody>
      </p:sp>
    </p:spTree>
    <p:extLst>
      <p:ext uri="{BB962C8B-B14F-4D97-AF65-F5344CB8AC3E}">
        <p14:creationId xmlns:p14="http://schemas.microsoft.com/office/powerpoint/2010/main" val="162489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Learn the basics of Java AWT and its hierarchy.</a:t>
            </a:r>
          </a:p>
          <a:p>
            <a:r>
              <a:rPr lang="en-US" dirty="0" smtClean="0"/>
              <a:t>Define </a:t>
            </a:r>
            <a:r>
              <a:rPr lang="en-US" dirty="0"/>
              <a:t>v</a:t>
            </a:r>
            <a:r>
              <a:rPr lang="en-US" dirty="0" smtClean="0"/>
              <a:t>arious terminologies in Java AWT environment.</a:t>
            </a:r>
          </a:p>
          <a:p>
            <a:r>
              <a:rPr lang="en-US" dirty="0" smtClean="0"/>
              <a:t>Analyze frame class in Java AWT.</a:t>
            </a:r>
          </a:p>
          <a:p>
            <a:r>
              <a:rPr lang="en-US" dirty="0" smtClean="0"/>
              <a:t>Explore components in AWT environment.</a:t>
            </a:r>
          </a:p>
          <a:p>
            <a:r>
              <a:rPr lang="en-US" dirty="0" smtClean="0"/>
              <a:t>Implement Applet components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7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Java AWT</a:t>
            </a:r>
            <a:r>
              <a:rPr lang="en-US" dirty="0" smtClean="0"/>
              <a:t> (Abstract Windowing Toolkit) is </a:t>
            </a:r>
            <a:r>
              <a:rPr lang="en-US" i="1" dirty="0" smtClean="0"/>
              <a:t>an API to develop GUI or window-based application in java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Java AWT components are platform-dependent i.e. components are displayed according to the view of operating system. </a:t>
            </a:r>
          </a:p>
          <a:p>
            <a:pPr algn="just"/>
            <a:r>
              <a:rPr lang="en-US" dirty="0" smtClean="0"/>
              <a:t>AWT is heavyweight i.e. its components uses the resources of system.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 err="1" smtClean="0"/>
              <a:t>java.awt</a:t>
            </a:r>
            <a:r>
              <a:rPr lang="en-US" dirty="0" smtClean="0"/>
              <a:t> package provides classes for AWT </a:t>
            </a:r>
            <a:r>
              <a:rPr lang="en-US" dirty="0" err="1" smtClean="0"/>
              <a:t>api</a:t>
            </a:r>
            <a:r>
              <a:rPr lang="en-US" dirty="0" smtClean="0"/>
              <a:t> such as </a:t>
            </a:r>
            <a:r>
              <a:rPr lang="en-US" dirty="0" err="1" smtClean="0"/>
              <a:t>TextField</a:t>
            </a:r>
            <a:r>
              <a:rPr lang="en-US" dirty="0" smtClean="0"/>
              <a:t>, Label, </a:t>
            </a:r>
            <a:r>
              <a:rPr lang="en-US" dirty="0" err="1" smtClean="0"/>
              <a:t>TextArea</a:t>
            </a:r>
            <a:r>
              <a:rPr lang="en-US" dirty="0" smtClean="0"/>
              <a:t>, </a:t>
            </a:r>
            <a:r>
              <a:rPr lang="en-US" dirty="0" err="1" smtClean="0"/>
              <a:t>RadioButton</a:t>
            </a:r>
            <a:r>
              <a:rPr lang="en-US" dirty="0" smtClean="0"/>
              <a:t>, </a:t>
            </a:r>
            <a:r>
              <a:rPr lang="en-US" dirty="0" err="1" smtClean="0"/>
              <a:t>CheckBox</a:t>
            </a:r>
            <a:r>
              <a:rPr lang="en-US" dirty="0" smtClean="0"/>
              <a:t>, Choice, List etc.</a:t>
            </a:r>
          </a:p>
          <a:p>
            <a:pPr algn="just"/>
            <a:r>
              <a:rPr lang="en-US" dirty="0"/>
              <a:t>It is important to state at the outset that you will seldom create GUIs based solely on </a:t>
            </a:r>
            <a:r>
              <a:rPr lang="en-US" dirty="0" smtClean="0"/>
              <a:t>the AWT </a:t>
            </a:r>
            <a:r>
              <a:rPr lang="en-US" dirty="0"/>
              <a:t>because more powerful GUI frameworks (Swing and </a:t>
            </a:r>
            <a:r>
              <a:rPr lang="en-US" dirty="0" err="1"/>
              <a:t>JavaFX</a:t>
            </a:r>
            <a:r>
              <a:rPr lang="en-US" dirty="0"/>
              <a:t>) have been developed </a:t>
            </a:r>
            <a:r>
              <a:rPr lang="en-US" dirty="0" smtClean="0"/>
              <a:t>for Java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65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9684"/>
          </a:xfrm>
        </p:spPr>
        <p:txBody>
          <a:bodyPr/>
          <a:lstStyle/>
          <a:p>
            <a:r>
              <a:rPr lang="en-US" dirty="0" smtClean="0"/>
              <a:t>Java AWT hierarchy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3702" y="709685"/>
            <a:ext cx="4708478" cy="596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3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AWT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Page 852 of - Java: The complete Reference </a:t>
            </a:r>
            <a:r>
              <a:rPr lang="en-US" smtClean="0"/>
              <a:t>– </a:t>
            </a:r>
            <a:r>
              <a:rPr lang="en-US" smtClean="0"/>
              <a:t>12th</a:t>
            </a:r>
            <a:r>
              <a:rPr lang="en-US" smtClean="0"/>
              <a:t> </a:t>
            </a:r>
            <a:r>
              <a:rPr lang="en-US" dirty="0" smtClean="0"/>
              <a:t>edition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9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Window Fundamentals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4681" y="1491086"/>
            <a:ext cx="5300268" cy="439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At the top of the AWT hierarchy is the </a:t>
            </a:r>
            <a:r>
              <a:rPr lang="en-US" b="1" dirty="0"/>
              <a:t>Component </a:t>
            </a:r>
            <a:r>
              <a:rPr lang="en-US" dirty="0"/>
              <a:t>class. </a:t>
            </a:r>
            <a:endParaRPr lang="en-US" dirty="0" smtClean="0"/>
          </a:p>
          <a:p>
            <a:pPr algn="just"/>
            <a:r>
              <a:rPr lang="en-US" b="1" dirty="0" smtClean="0"/>
              <a:t>Component </a:t>
            </a:r>
            <a:r>
              <a:rPr lang="en-US" dirty="0"/>
              <a:t>is an abstract </a:t>
            </a:r>
            <a:r>
              <a:rPr lang="en-US" dirty="0" smtClean="0"/>
              <a:t>class that </a:t>
            </a:r>
            <a:r>
              <a:rPr lang="en-US" dirty="0"/>
              <a:t>encapsulates all of the attributes of a visual component. </a:t>
            </a:r>
            <a:endParaRPr lang="en-US" dirty="0" smtClean="0"/>
          </a:p>
          <a:p>
            <a:pPr algn="just"/>
            <a:r>
              <a:rPr lang="en-US" dirty="0" smtClean="0"/>
              <a:t>Except </a:t>
            </a:r>
            <a:r>
              <a:rPr lang="en-US" dirty="0"/>
              <a:t>for menus, all </a:t>
            </a:r>
            <a:r>
              <a:rPr lang="en-US" dirty="0" smtClean="0"/>
              <a:t>user interface </a:t>
            </a:r>
            <a:r>
              <a:rPr lang="en-US" dirty="0"/>
              <a:t>elements that are displayed on the screen and that interact with the user </a:t>
            </a:r>
            <a:r>
              <a:rPr lang="en-US" dirty="0" smtClean="0"/>
              <a:t>are </a:t>
            </a:r>
            <a:r>
              <a:rPr lang="en-US" dirty="0"/>
              <a:t>subclasses of </a:t>
            </a:r>
            <a:r>
              <a:rPr lang="en-US" b="1" dirty="0"/>
              <a:t>Component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defines over a hundred public methods that are </a:t>
            </a:r>
            <a:r>
              <a:rPr lang="en-US" dirty="0" smtClean="0"/>
              <a:t>responsible for </a:t>
            </a:r>
            <a:r>
              <a:rPr lang="en-US" dirty="0"/>
              <a:t>managing events, such as mouse and keyboard input, positioning and sizing the </a:t>
            </a:r>
            <a:r>
              <a:rPr lang="en-US" dirty="0" smtClean="0"/>
              <a:t>window, and repainting.</a:t>
            </a:r>
          </a:p>
          <a:p>
            <a:pPr algn="just"/>
            <a:r>
              <a:rPr lang="en-US" dirty="0" smtClean="0"/>
              <a:t>A </a:t>
            </a:r>
            <a:r>
              <a:rPr lang="en-US" b="1" dirty="0"/>
              <a:t>Component </a:t>
            </a:r>
            <a:r>
              <a:rPr lang="en-US" dirty="0"/>
              <a:t>object is responsible for remembering the </a:t>
            </a:r>
            <a:r>
              <a:rPr lang="en-US" dirty="0" smtClean="0"/>
              <a:t>current foreground </a:t>
            </a:r>
            <a:r>
              <a:rPr lang="en-US" dirty="0"/>
              <a:t>and background colors and the currently selected text font.</a:t>
            </a:r>
          </a:p>
        </p:txBody>
      </p:sp>
    </p:spTree>
    <p:extLst>
      <p:ext uri="{BB962C8B-B14F-4D97-AF65-F5344CB8AC3E}">
        <p14:creationId xmlns:p14="http://schemas.microsoft.com/office/powerpoint/2010/main" val="139796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Container </a:t>
            </a:r>
            <a:r>
              <a:rPr lang="en-US" dirty="0"/>
              <a:t>class is a subclass of </a:t>
            </a:r>
            <a:r>
              <a:rPr lang="en-US" b="1" dirty="0"/>
              <a:t>Component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has additional methods that allow </a:t>
            </a:r>
            <a:r>
              <a:rPr lang="en-US" dirty="0" smtClean="0"/>
              <a:t>other </a:t>
            </a:r>
            <a:r>
              <a:rPr lang="en-US" b="1" dirty="0" smtClean="0"/>
              <a:t>Component </a:t>
            </a:r>
            <a:r>
              <a:rPr lang="en-US" dirty="0"/>
              <a:t>objects to be nested within it. </a:t>
            </a:r>
            <a:endParaRPr lang="en-US" dirty="0" smtClean="0"/>
          </a:p>
          <a:p>
            <a:pPr algn="just"/>
            <a:r>
              <a:rPr lang="en-US" dirty="0" smtClean="0"/>
              <a:t>Other </a:t>
            </a:r>
            <a:r>
              <a:rPr lang="en-US" b="1" dirty="0"/>
              <a:t>Container </a:t>
            </a:r>
            <a:r>
              <a:rPr lang="en-US" dirty="0"/>
              <a:t>objects can be stored inside of </a:t>
            </a:r>
            <a:r>
              <a:rPr lang="en-US" dirty="0" smtClean="0"/>
              <a:t>a </a:t>
            </a:r>
            <a:r>
              <a:rPr lang="en-US" b="1" dirty="0" smtClean="0"/>
              <a:t>Container </a:t>
            </a:r>
            <a:r>
              <a:rPr lang="en-US" dirty="0"/>
              <a:t>(since they are themselves instances of </a:t>
            </a:r>
            <a:r>
              <a:rPr lang="en-US" b="1" dirty="0"/>
              <a:t>Component</a:t>
            </a:r>
            <a:r>
              <a:rPr lang="en-US" dirty="0"/>
              <a:t>).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makes for a </a:t>
            </a:r>
            <a:r>
              <a:rPr lang="en-US" dirty="0" smtClean="0"/>
              <a:t>multileveled containment </a:t>
            </a:r>
            <a:r>
              <a:rPr lang="en-US" dirty="0"/>
              <a:t>system.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container is responsible for laying out (that is, positioning) </a:t>
            </a:r>
            <a:r>
              <a:rPr lang="en-US" dirty="0" smtClean="0"/>
              <a:t>any components </a:t>
            </a:r>
            <a:r>
              <a:rPr lang="en-US" dirty="0"/>
              <a:t>that it contains.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does this through the use of various layout </a:t>
            </a:r>
            <a:r>
              <a:rPr lang="en-US" dirty="0" smtClean="0"/>
              <a:t>managers.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4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Panel </a:t>
            </a:r>
            <a:r>
              <a:rPr lang="en-US" dirty="0"/>
              <a:t>class is a concrete subclass of </a:t>
            </a:r>
            <a:r>
              <a:rPr lang="en-US" b="1" dirty="0"/>
              <a:t>Container</a:t>
            </a:r>
            <a:r>
              <a:rPr lang="en-US" dirty="0"/>
              <a:t>. A </a:t>
            </a:r>
            <a:r>
              <a:rPr lang="en-US" b="1" dirty="0"/>
              <a:t>Panel </a:t>
            </a:r>
            <a:r>
              <a:rPr lang="en-US" dirty="0"/>
              <a:t>may be thought of as </a:t>
            </a:r>
            <a:r>
              <a:rPr lang="en-US" dirty="0" smtClean="0"/>
              <a:t>a recursively </a:t>
            </a:r>
            <a:r>
              <a:rPr lang="en-US" dirty="0"/>
              <a:t>nestable, concrete screen component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Panel </a:t>
            </a:r>
            <a:r>
              <a:rPr lang="en-US" dirty="0"/>
              <a:t>is the superclass for </a:t>
            </a:r>
            <a:r>
              <a:rPr lang="en-US" b="1" dirty="0"/>
              <a:t>Applet</a:t>
            </a:r>
            <a:r>
              <a:rPr lang="en-US" dirty="0"/>
              <a:t>. </a:t>
            </a:r>
            <a:r>
              <a:rPr lang="en-US" dirty="0" smtClean="0"/>
              <a:t>When screen </a:t>
            </a:r>
            <a:r>
              <a:rPr lang="en-US" dirty="0"/>
              <a:t>output is directed to an applet, it is drawn on the surface of a </a:t>
            </a:r>
            <a:r>
              <a:rPr lang="en-US" b="1" dirty="0"/>
              <a:t>Panel </a:t>
            </a:r>
            <a:r>
              <a:rPr lang="en-US" dirty="0"/>
              <a:t>object. </a:t>
            </a:r>
            <a:endParaRPr lang="en-US" dirty="0" smtClean="0"/>
          </a:p>
          <a:p>
            <a:pPr algn="just"/>
            <a:r>
              <a:rPr lang="en-US" dirty="0" smtClean="0"/>
              <a:t>In essence</a:t>
            </a:r>
            <a:r>
              <a:rPr lang="en-US" dirty="0"/>
              <a:t>, a </a:t>
            </a:r>
            <a:r>
              <a:rPr lang="en-US" b="1" dirty="0"/>
              <a:t>Panel </a:t>
            </a:r>
            <a:r>
              <a:rPr lang="en-US" dirty="0"/>
              <a:t>is a window that does not contain a title bar, menu bar, or border. This </a:t>
            </a:r>
            <a:r>
              <a:rPr lang="en-US" dirty="0" smtClean="0"/>
              <a:t>is why </a:t>
            </a:r>
            <a:r>
              <a:rPr lang="en-US" dirty="0"/>
              <a:t>you don’t see these items when an applet is run inside a browser.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you run </a:t>
            </a:r>
            <a:r>
              <a:rPr lang="en-US" dirty="0" smtClean="0"/>
              <a:t>an applet </a:t>
            </a:r>
            <a:r>
              <a:rPr lang="en-US" dirty="0"/>
              <a:t>using an applet viewer, the applet viewer provides the title and border.</a:t>
            </a:r>
          </a:p>
          <a:p>
            <a:pPr algn="just"/>
            <a:r>
              <a:rPr lang="en-US" dirty="0"/>
              <a:t>Other components can be added to a </a:t>
            </a:r>
            <a:r>
              <a:rPr lang="en-US" b="1" dirty="0"/>
              <a:t>Panel </a:t>
            </a:r>
            <a:r>
              <a:rPr lang="en-US" dirty="0"/>
              <a:t>object by its </a:t>
            </a:r>
            <a:r>
              <a:rPr lang="en-US" b="1" dirty="0"/>
              <a:t>add( ) </a:t>
            </a:r>
            <a:r>
              <a:rPr lang="en-US" dirty="0"/>
              <a:t>method (inherited </a:t>
            </a:r>
            <a:r>
              <a:rPr lang="en-US" dirty="0" smtClean="0"/>
              <a:t>from </a:t>
            </a:r>
            <a:r>
              <a:rPr lang="en-US" b="1" dirty="0" smtClean="0"/>
              <a:t>Container</a:t>
            </a:r>
            <a:r>
              <a:rPr lang="en-US" dirty="0"/>
              <a:t>). </a:t>
            </a:r>
            <a:endParaRPr lang="en-US" dirty="0" smtClean="0"/>
          </a:p>
          <a:p>
            <a:pPr algn="just"/>
            <a:r>
              <a:rPr lang="en-US" dirty="0" smtClean="0"/>
              <a:t>Once </a:t>
            </a:r>
            <a:r>
              <a:rPr lang="en-US" dirty="0"/>
              <a:t>these components have been added, you can position and resize </a:t>
            </a:r>
            <a:r>
              <a:rPr lang="en-US" dirty="0" smtClean="0"/>
              <a:t>them manually </a:t>
            </a:r>
            <a:r>
              <a:rPr lang="en-US" dirty="0"/>
              <a:t>using the </a:t>
            </a:r>
            <a:r>
              <a:rPr lang="en-US" b="1" dirty="0" err="1"/>
              <a:t>setLocation</a:t>
            </a:r>
            <a:r>
              <a:rPr lang="en-US" b="1" dirty="0"/>
              <a:t>( )</a:t>
            </a:r>
            <a:r>
              <a:rPr lang="en-US" dirty="0"/>
              <a:t>, </a:t>
            </a:r>
            <a:r>
              <a:rPr lang="en-US" b="1" dirty="0" err="1"/>
              <a:t>setSize</a:t>
            </a:r>
            <a:r>
              <a:rPr lang="en-US" b="1" dirty="0"/>
              <a:t>( )</a:t>
            </a:r>
            <a:r>
              <a:rPr lang="en-US" dirty="0"/>
              <a:t>, </a:t>
            </a:r>
            <a:r>
              <a:rPr lang="en-US" b="1" dirty="0" err="1"/>
              <a:t>setPreferredSize</a:t>
            </a:r>
            <a:r>
              <a:rPr lang="en-US" b="1" dirty="0"/>
              <a:t>( )</a:t>
            </a:r>
            <a:r>
              <a:rPr lang="en-US" dirty="0"/>
              <a:t>, or </a:t>
            </a:r>
            <a:r>
              <a:rPr lang="en-US" b="1" dirty="0" err="1"/>
              <a:t>setBounds</a:t>
            </a:r>
            <a:r>
              <a:rPr lang="en-US" b="1" dirty="0"/>
              <a:t>( ) </a:t>
            </a:r>
            <a:r>
              <a:rPr lang="en-US" dirty="0" smtClean="0"/>
              <a:t>methods defined </a:t>
            </a:r>
            <a:r>
              <a:rPr lang="en-US" dirty="0"/>
              <a:t>by </a:t>
            </a:r>
            <a:r>
              <a:rPr lang="en-US" b="1" dirty="0"/>
              <a:t>Component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37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Window </a:t>
            </a:r>
            <a:r>
              <a:rPr lang="en-US" dirty="0"/>
              <a:t>class creates a top-level window.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i="1" dirty="0"/>
              <a:t>top-level window </a:t>
            </a:r>
            <a:r>
              <a:rPr lang="en-US" dirty="0"/>
              <a:t>is not contained within </a:t>
            </a:r>
            <a:r>
              <a:rPr lang="en-US" dirty="0" smtClean="0"/>
              <a:t>any other </a:t>
            </a:r>
            <a:r>
              <a:rPr lang="en-US" dirty="0"/>
              <a:t>object; it sits directly on the desktop. </a:t>
            </a:r>
            <a:endParaRPr lang="en-US" dirty="0" smtClean="0"/>
          </a:p>
          <a:p>
            <a:r>
              <a:rPr lang="en-US" dirty="0" smtClean="0"/>
              <a:t>Generally</a:t>
            </a:r>
            <a:r>
              <a:rPr lang="en-US" dirty="0"/>
              <a:t>, you won’t create </a:t>
            </a:r>
            <a:r>
              <a:rPr lang="en-US" b="1" dirty="0"/>
              <a:t>Window </a:t>
            </a:r>
            <a:r>
              <a:rPr lang="en-US" dirty="0" smtClean="0"/>
              <a:t>objects directly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Instead</a:t>
            </a:r>
            <a:r>
              <a:rPr lang="en-US" dirty="0"/>
              <a:t>, you will use a subclass of </a:t>
            </a:r>
            <a:r>
              <a:rPr lang="en-US" b="1" dirty="0"/>
              <a:t>Window </a:t>
            </a:r>
            <a:r>
              <a:rPr lang="en-US" dirty="0"/>
              <a:t>called </a:t>
            </a:r>
            <a:r>
              <a:rPr lang="en-US" b="1" dirty="0" smtClean="0"/>
              <a:t>Frame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17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Frame </a:t>
            </a:r>
            <a:r>
              <a:rPr lang="en-US" dirty="0"/>
              <a:t>encapsulates what is commonly thought of as a “window.”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subclass of </a:t>
            </a:r>
            <a:r>
              <a:rPr lang="en-US" b="1" dirty="0" smtClean="0"/>
              <a:t>Window </a:t>
            </a:r>
            <a:r>
              <a:rPr lang="en-US" dirty="0" smtClean="0"/>
              <a:t>and </a:t>
            </a:r>
            <a:r>
              <a:rPr lang="en-US" dirty="0"/>
              <a:t>has a title bar, menu bar, borders, and resizing corners.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precise look of a </a:t>
            </a:r>
            <a:r>
              <a:rPr lang="en-US" b="1" dirty="0" smtClean="0"/>
              <a:t>Frame </a:t>
            </a:r>
            <a:r>
              <a:rPr lang="en-US" dirty="0" smtClean="0"/>
              <a:t>will </a:t>
            </a:r>
            <a:r>
              <a:rPr lang="en-US" dirty="0"/>
              <a:t>differ among environments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Frames can be implemented either through inheritance or association.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9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Canvas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it is not part of the hierarchy for applet or frame windows, there is one </a:t>
            </a:r>
            <a:r>
              <a:rPr lang="en-US" dirty="0" smtClean="0"/>
              <a:t>other type </a:t>
            </a:r>
            <a:r>
              <a:rPr lang="en-US" dirty="0"/>
              <a:t>of window that you will find valuable: </a:t>
            </a:r>
            <a:r>
              <a:rPr lang="en-US" b="1" dirty="0"/>
              <a:t>Canvas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Derived </a:t>
            </a:r>
            <a:r>
              <a:rPr lang="en-US" dirty="0"/>
              <a:t>from </a:t>
            </a:r>
            <a:r>
              <a:rPr lang="en-US" b="1" dirty="0"/>
              <a:t>Component</a:t>
            </a:r>
            <a:r>
              <a:rPr lang="en-US" dirty="0"/>
              <a:t>, </a:t>
            </a:r>
            <a:r>
              <a:rPr lang="en-US" b="1" dirty="0" smtClean="0"/>
              <a:t>Canvas </a:t>
            </a:r>
            <a:r>
              <a:rPr lang="en-US" dirty="0" smtClean="0"/>
              <a:t>encapsulates </a:t>
            </a:r>
            <a:r>
              <a:rPr lang="en-US" dirty="0"/>
              <a:t>a blank window upon which you can draw.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15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Methods of Component class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414" y="1828801"/>
            <a:ext cx="10735171" cy="257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Frames Example by inheritance: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8322"/>
            <a:ext cx="11808787" cy="367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7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Frames Example </a:t>
            </a:r>
            <a:r>
              <a:rPr lang="en-US" smtClean="0"/>
              <a:t>by Association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80" y="928712"/>
            <a:ext cx="8453155" cy="54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2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AWT Components: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 AWT supports the following types of controls:</a:t>
            </a:r>
          </a:p>
          <a:p>
            <a:pPr algn="just"/>
            <a:r>
              <a:rPr lang="en-US" dirty="0" smtClean="0"/>
              <a:t>Labels</a:t>
            </a:r>
            <a:endParaRPr lang="en-US" dirty="0"/>
          </a:p>
          <a:p>
            <a:pPr algn="just"/>
            <a:r>
              <a:rPr lang="en-US" dirty="0" smtClean="0"/>
              <a:t>Buttons</a:t>
            </a:r>
            <a:endParaRPr lang="en-US" dirty="0"/>
          </a:p>
          <a:p>
            <a:pPr algn="just"/>
            <a:r>
              <a:rPr lang="en-US" dirty="0" smtClean="0"/>
              <a:t>Check </a:t>
            </a:r>
            <a:r>
              <a:rPr lang="en-US" dirty="0"/>
              <a:t>boxes</a:t>
            </a:r>
          </a:p>
          <a:p>
            <a:pPr algn="just"/>
            <a:r>
              <a:rPr lang="en-US" dirty="0" smtClean="0"/>
              <a:t>Choice</a:t>
            </a:r>
            <a:endParaRPr lang="en-US" dirty="0"/>
          </a:p>
          <a:p>
            <a:pPr algn="just"/>
            <a:r>
              <a:rPr lang="en-US" dirty="0" smtClean="0"/>
              <a:t>Lists</a:t>
            </a:r>
            <a:endParaRPr lang="en-US" dirty="0"/>
          </a:p>
          <a:p>
            <a:pPr algn="just"/>
            <a:r>
              <a:rPr lang="en-US" dirty="0" smtClean="0"/>
              <a:t>Others like </a:t>
            </a:r>
            <a:r>
              <a:rPr lang="en-US" dirty="0" err="1" smtClean="0"/>
              <a:t>TextArea</a:t>
            </a:r>
            <a:r>
              <a:rPr lang="en-US" dirty="0" smtClean="0"/>
              <a:t>, </a:t>
            </a:r>
            <a:r>
              <a:rPr lang="en-US" dirty="0" err="1" smtClean="0"/>
              <a:t>TextField</a:t>
            </a:r>
            <a:r>
              <a:rPr lang="en-US" dirty="0" smtClean="0"/>
              <a:t>, </a:t>
            </a:r>
            <a:r>
              <a:rPr lang="en-US" dirty="0" err="1" smtClean="0"/>
              <a:t>CheckBoxGroup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These controls are subclasses of </a:t>
            </a:r>
            <a:r>
              <a:rPr lang="en-US" b="1" dirty="0"/>
              <a:t>Component</a:t>
            </a:r>
            <a:r>
              <a:rPr lang="en-US" dirty="0"/>
              <a:t>. Although this is not a particularly rich set </a:t>
            </a:r>
            <a:r>
              <a:rPr lang="en-US" dirty="0" smtClean="0"/>
              <a:t>of controls</a:t>
            </a:r>
            <a:r>
              <a:rPr lang="en-US" dirty="0"/>
              <a:t>, it is sufficient for simple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24877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341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504" y="430033"/>
            <a:ext cx="5575253" cy="62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0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Java: The complete Reference by Herbert </a:t>
            </a:r>
            <a:r>
              <a:rPr lang="en-US" dirty="0" err="1" smtClean="0"/>
              <a:t>Shieldt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www.javatpoint.com/java-awt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52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71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762</Words>
  <Application>Microsoft Office PowerPoint</Application>
  <PresentationFormat>Widescreen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Java - AWT</vt:lpstr>
      <vt:lpstr>Learning objectives:</vt:lpstr>
      <vt:lpstr>Introduction</vt:lpstr>
      <vt:lpstr>Java AWT hierarchy</vt:lpstr>
      <vt:lpstr>AWT classes</vt:lpstr>
      <vt:lpstr>Window Fundamentals</vt:lpstr>
      <vt:lpstr>Component</vt:lpstr>
      <vt:lpstr>Container</vt:lpstr>
      <vt:lpstr>Panel</vt:lpstr>
      <vt:lpstr>Window</vt:lpstr>
      <vt:lpstr>Frame</vt:lpstr>
      <vt:lpstr>Canvas</vt:lpstr>
      <vt:lpstr>Useful Methods of Component class</vt:lpstr>
      <vt:lpstr>Frames Example by inheritance:</vt:lpstr>
      <vt:lpstr>Frames Example by Association:</vt:lpstr>
      <vt:lpstr>AWT Components:</vt:lpstr>
      <vt:lpstr>Example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- AWT</dc:title>
  <dc:creator>kumar</dc:creator>
  <cp:lastModifiedBy>Kumar Anurupam</cp:lastModifiedBy>
  <cp:revision>25</cp:revision>
  <dcterms:created xsi:type="dcterms:W3CDTF">2016-10-31T04:30:56Z</dcterms:created>
  <dcterms:modified xsi:type="dcterms:W3CDTF">2025-03-18T03:57:21Z</dcterms:modified>
</cp:coreProperties>
</file>