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8" r:id="rId3"/>
    <p:sldId id="261" r:id="rId4"/>
    <p:sldId id="309" r:id="rId5"/>
    <p:sldId id="264" r:id="rId6"/>
    <p:sldId id="310" r:id="rId7"/>
    <p:sldId id="311" r:id="rId8"/>
    <p:sldId id="312" r:id="rId9"/>
    <p:sldId id="269" r:id="rId10"/>
    <p:sldId id="314" r:id="rId11"/>
    <p:sldId id="266" r:id="rId12"/>
    <p:sldId id="315" r:id="rId13"/>
    <p:sldId id="316" r:id="rId14"/>
    <p:sldId id="317" r:id="rId15"/>
    <p:sldId id="318" r:id="rId16"/>
    <p:sldId id="320" r:id="rId17"/>
    <p:sldId id="319" r:id="rId18"/>
    <p:sldId id="321" r:id="rId19"/>
    <p:sldId id="260"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83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15F18CF-6D15-4658-B5EE-609636CADDBE}" type="datetimeFigureOut">
              <a:rPr lang="en-US" smtClean="0"/>
              <a:t>6/15/2023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8EE0C4-F4AF-4DB3-B48D-529E62E224BD}" type="slidenum">
              <a:rPr lang="en-US" smtClean="0"/>
              <a:t>‹#›</a:t>
            </a:fld>
            <a:endParaRPr lang="en-US"/>
          </a:p>
        </p:txBody>
      </p:sp>
    </p:spTree>
    <p:extLst>
      <p:ext uri="{BB962C8B-B14F-4D97-AF65-F5344CB8AC3E}">
        <p14:creationId xmlns:p14="http://schemas.microsoft.com/office/powerpoint/2010/main" val="604693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6AB5921-5760-4FFC-A19A-9CEBC1C648F5}" type="datetimeFigureOut">
              <a:rPr lang="en-US" smtClean="0"/>
              <a:t>6/15/2023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9A30FA-91AA-4061-9CB1-F554923A6C7E}" type="slidenum">
              <a:rPr lang="en-US" smtClean="0"/>
              <a:t>‹#›</a:t>
            </a:fld>
            <a:endParaRPr lang="en-US"/>
          </a:p>
        </p:txBody>
      </p:sp>
    </p:spTree>
    <p:extLst>
      <p:ext uri="{BB962C8B-B14F-4D97-AF65-F5344CB8AC3E}">
        <p14:creationId xmlns:p14="http://schemas.microsoft.com/office/powerpoint/2010/main" val="7010112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AB5921-5760-4FFC-A19A-9CEBC1C648F5}" type="datetimeFigureOut">
              <a:rPr lang="en-US" smtClean="0"/>
              <a:t>6/15/2023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9A30FA-91AA-4061-9CB1-F554923A6C7E}" type="slidenum">
              <a:rPr lang="en-US" smtClean="0"/>
              <a:t>‹#›</a:t>
            </a:fld>
            <a:endParaRPr lang="en-US"/>
          </a:p>
        </p:txBody>
      </p:sp>
    </p:spTree>
    <p:extLst>
      <p:ext uri="{BB962C8B-B14F-4D97-AF65-F5344CB8AC3E}">
        <p14:creationId xmlns:p14="http://schemas.microsoft.com/office/powerpoint/2010/main" val="35724626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6AB5921-5760-4FFC-A19A-9CEBC1C648F5}" type="datetimeFigureOut">
              <a:rPr lang="en-US" smtClean="0"/>
              <a:t>6/15/2023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9A30FA-91AA-4061-9CB1-F554923A6C7E}" type="slidenum">
              <a:rPr lang="en-US" smtClean="0"/>
              <a:t>‹#›</a:t>
            </a:fld>
            <a:endParaRPr lang="en-US"/>
          </a:p>
        </p:txBody>
      </p:sp>
    </p:spTree>
    <p:extLst>
      <p:ext uri="{BB962C8B-B14F-4D97-AF65-F5344CB8AC3E}">
        <p14:creationId xmlns:p14="http://schemas.microsoft.com/office/powerpoint/2010/main" val="20574434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6AB5921-5760-4FFC-A19A-9CEBC1C648F5}" type="datetimeFigureOut">
              <a:rPr lang="en-US" smtClean="0"/>
              <a:t>6/15/2023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A30FA-91AA-4061-9CB1-F554923A6C7E}" type="slidenum">
              <a:rPr lang="en-US" smtClean="0"/>
              <a:t>‹#›</a:t>
            </a:fld>
            <a:endParaRPr lang="en-US"/>
          </a:p>
        </p:txBody>
      </p:sp>
    </p:spTree>
    <p:extLst>
      <p:ext uri="{BB962C8B-B14F-4D97-AF65-F5344CB8AC3E}">
        <p14:creationId xmlns:p14="http://schemas.microsoft.com/office/powerpoint/2010/main" val="1155674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6AB5921-5760-4FFC-A19A-9CEBC1C648F5}" type="datetimeFigureOut">
              <a:rPr lang="en-US" smtClean="0"/>
              <a:t>6/15/2023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19A30FA-91AA-4061-9CB1-F554923A6C7E}" type="slidenum">
              <a:rPr lang="en-US" smtClean="0"/>
              <a:t>‹#›</a:t>
            </a:fld>
            <a:endParaRPr lang="en-US"/>
          </a:p>
        </p:txBody>
      </p:sp>
    </p:spTree>
    <p:extLst>
      <p:ext uri="{BB962C8B-B14F-4D97-AF65-F5344CB8AC3E}">
        <p14:creationId xmlns:p14="http://schemas.microsoft.com/office/powerpoint/2010/main" val="3491058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6AB5921-5760-4FFC-A19A-9CEBC1C648F5}" type="datetimeFigureOut">
              <a:rPr lang="en-US" smtClean="0"/>
              <a:t>6/15/2023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19A30FA-91AA-4061-9CB1-F554923A6C7E}" type="slidenum">
              <a:rPr lang="en-US" smtClean="0"/>
              <a:t>‹#›</a:t>
            </a:fld>
            <a:endParaRPr lang="en-US"/>
          </a:p>
        </p:txBody>
      </p:sp>
    </p:spTree>
    <p:extLst>
      <p:ext uri="{BB962C8B-B14F-4D97-AF65-F5344CB8AC3E}">
        <p14:creationId xmlns:p14="http://schemas.microsoft.com/office/powerpoint/2010/main" val="4178614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AB5921-5760-4FFC-A19A-9CEBC1C648F5}" type="datetimeFigureOut">
              <a:rPr lang="en-US" smtClean="0"/>
              <a:t>6/15/2023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19A30FA-91AA-4061-9CB1-F554923A6C7E}" type="slidenum">
              <a:rPr lang="en-US" smtClean="0"/>
              <a:t>‹#›</a:t>
            </a:fld>
            <a:endParaRPr lang="en-US"/>
          </a:p>
        </p:txBody>
      </p:sp>
    </p:spTree>
    <p:extLst>
      <p:ext uri="{BB962C8B-B14F-4D97-AF65-F5344CB8AC3E}">
        <p14:creationId xmlns:p14="http://schemas.microsoft.com/office/powerpoint/2010/main" val="4047972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AB5921-5760-4FFC-A19A-9CEBC1C648F5}" type="datetimeFigureOut">
              <a:rPr lang="en-US" smtClean="0"/>
              <a:t>6/15/2023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A30FA-91AA-4061-9CB1-F554923A6C7E}" type="slidenum">
              <a:rPr lang="en-US" smtClean="0"/>
              <a:t>‹#›</a:t>
            </a:fld>
            <a:endParaRPr lang="en-US"/>
          </a:p>
        </p:txBody>
      </p:sp>
    </p:spTree>
    <p:extLst>
      <p:ext uri="{BB962C8B-B14F-4D97-AF65-F5344CB8AC3E}">
        <p14:creationId xmlns:p14="http://schemas.microsoft.com/office/powerpoint/2010/main" val="4259195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AB5921-5760-4FFC-A19A-9CEBC1C648F5}" type="datetimeFigureOut">
              <a:rPr lang="en-US" smtClean="0"/>
              <a:t>6/15/2023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19A30FA-91AA-4061-9CB1-F554923A6C7E}" type="slidenum">
              <a:rPr lang="en-US" smtClean="0"/>
              <a:t>‹#›</a:t>
            </a:fld>
            <a:endParaRPr lang="en-US"/>
          </a:p>
        </p:txBody>
      </p:sp>
    </p:spTree>
    <p:extLst>
      <p:ext uri="{BB962C8B-B14F-4D97-AF65-F5344CB8AC3E}">
        <p14:creationId xmlns:p14="http://schemas.microsoft.com/office/powerpoint/2010/main" val="30720853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AB5921-5760-4FFC-A19A-9CEBC1C648F5}" type="datetimeFigureOut">
              <a:rPr lang="en-US" smtClean="0"/>
              <a:t>6/15/2023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9A30FA-91AA-4061-9CB1-F554923A6C7E}" type="slidenum">
              <a:rPr lang="en-US" smtClean="0"/>
              <a:t>‹#›</a:t>
            </a:fld>
            <a:endParaRPr lang="en-US"/>
          </a:p>
        </p:txBody>
      </p:sp>
    </p:spTree>
    <p:extLst>
      <p:ext uri="{BB962C8B-B14F-4D97-AF65-F5344CB8AC3E}">
        <p14:creationId xmlns:p14="http://schemas.microsoft.com/office/powerpoint/2010/main" val="1251837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6AB5921-5760-4FFC-A19A-9CEBC1C648F5}" type="datetimeFigureOut">
              <a:rPr lang="en-US" smtClean="0"/>
              <a:t>6/15/2023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9A30FA-91AA-4061-9CB1-F554923A6C7E}" type="slidenum">
              <a:rPr lang="en-US" smtClean="0"/>
              <a:t>‹#›</a:t>
            </a:fld>
            <a:endParaRPr lang="en-US"/>
          </a:p>
        </p:txBody>
      </p:sp>
    </p:spTree>
    <p:extLst>
      <p:ext uri="{BB962C8B-B14F-4D97-AF65-F5344CB8AC3E}">
        <p14:creationId xmlns:p14="http://schemas.microsoft.com/office/powerpoint/2010/main" val="33635950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AB5921-5760-4FFC-A19A-9CEBC1C648F5}" type="datetimeFigureOut">
              <a:rPr lang="en-US" smtClean="0"/>
              <a:t>6/15/2023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19A30FA-91AA-4061-9CB1-F554923A6C7E}" type="slidenum">
              <a:rPr lang="en-US" smtClean="0"/>
              <a:t>‹#›</a:t>
            </a:fld>
            <a:endParaRPr lang="en-US"/>
          </a:p>
        </p:txBody>
      </p:sp>
    </p:spTree>
    <p:extLst>
      <p:ext uri="{BB962C8B-B14F-4D97-AF65-F5344CB8AC3E}">
        <p14:creationId xmlns:p14="http://schemas.microsoft.com/office/powerpoint/2010/main" val="39584577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Java I/O - I</a:t>
            </a:r>
            <a:endParaRPr lang="en-US" dirty="0"/>
          </a:p>
        </p:txBody>
      </p:sp>
      <p:sp>
        <p:nvSpPr>
          <p:cNvPr id="3" name="Subtitle 2"/>
          <p:cNvSpPr>
            <a:spLocks noGrp="1"/>
          </p:cNvSpPr>
          <p:nvPr>
            <p:ph type="subTitle" idx="1"/>
          </p:nvPr>
        </p:nvSpPr>
        <p:spPr>
          <a:xfrm>
            <a:off x="1524000" y="5202238"/>
            <a:ext cx="9144000" cy="1655762"/>
          </a:xfrm>
        </p:spPr>
        <p:txBody>
          <a:bodyPr/>
          <a:lstStyle/>
          <a:p>
            <a:r>
              <a:rPr lang="en-US" dirty="0" smtClean="0"/>
              <a:t>Lecture </a:t>
            </a:r>
            <a:r>
              <a:rPr lang="en-US" dirty="0" smtClean="0"/>
              <a:t>22</a:t>
            </a:r>
            <a:endParaRPr lang="en-US" dirty="0" smtClean="0"/>
          </a:p>
        </p:txBody>
      </p:sp>
    </p:spTree>
    <p:extLst>
      <p:ext uri="{BB962C8B-B14F-4D97-AF65-F5344CB8AC3E}">
        <p14:creationId xmlns:p14="http://schemas.microsoft.com/office/powerpoint/2010/main" val="1492075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Learning objectives:</a:t>
            </a:r>
            <a:endParaRPr lang="en-US" dirty="0"/>
          </a:p>
        </p:txBody>
      </p:sp>
      <p:sp>
        <p:nvSpPr>
          <p:cNvPr id="3" name="Content Placeholder 2"/>
          <p:cNvSpPr>
            <a:spLocks noGrp="1"/>
          </p:cNvSpPr>
          <p:nvPr>
            <p:ph idx="1"/>
          </p:nvPr>
        </p:nvSpPr>
        <p:spPr/>
        <p:txBody>
          <a:bodyPr/>
          <a:lstStyle/>
          <a:p>
            <a:pPr marL="0" indent="0">
              <a:buNone/>
            </a:pPr>
            <a:r>
              <a:rPr lang="en-US" dirty="0" smtClean="0"/>
              <a:t>After the completion of today’s session you will be able to:</a:t>
            </a:r>
          </a:p>
          <a:p>
            <a:pPr marL="0" indent="0">
              <a:buNone/>
            </a:pPr>
            <a:endParaRPr lang="en-US" dirty="0" smtClean="0"/>
          </a:p>
          <a:p>
            <a:r>
              <a:rPr lang="en-US" dirty="0" smtClean="0"/>
              <a:t>Learn the basics of java i/o</a:t>
            </a:r>
          </a:p>
          <a:p>
            <a:r>
              <a:rPr lang="en-US" dirty="0" smtClean="0"/>
              <a:t>Illustrate the use of stream in java</a:t>
            </a:r>
          </a:p>
          <a:p>
            <a:endParaRPr lang="en-US" dirty="0" smtClean="0"/>
          </a:p>
          <a:p>
            <a:endParaRPr lang="en-US" dirty="0"/>
          </a:p>
        </p:txBody>
      </p:sp>
    </p:spTree>
    <p:extLst>
      <p:ext uri="{BB962C8B-B14F-4D97-AF65-F5344CB8AC3E}">
        <p14:creationId xmlns:p14="http://schemas.microsoft.com/office/powerpoint/2010/main" val="41982160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pPr algn="just"/>
            <a:r>
              <a:rPr lang="en-US" b="1" dirty="0"/>
              <a:t>Java I/O</a:t>
            </a:r>
            <a:r>
              <a:rPr lang="en-US" dirty="0"/>
              <a:t> (Input and Output) is used to process the input and produce the output based on the input.</a:t>
            </a:r>
          </a:p>
          <a:p>
            <a:pPr algn="just"/>
            <a:r>
              <a:rPr lang="en-US" dirty="0"/>
              <a:t>Java uses the concept of stream to make I/O operation fast. The </a:t>
            </a:r>
            <a:r>
              <a:rPr lang="en-US" b="1" dirty="0"/>
              <a:t>java.io</a:t>
            </a:r>
            <a:r>
              <a:rPr lang="en-US" dirty="0"/>
              <a:t> package contains all the classes required for input and output operations.</a:t>
            </a:r>
          </a:p>
          <a:p>
            <a:pPr algn="just"/>
            <a:r>
              <a:rPr lang="en-US" dirty="0"/>
              <a:t>We can </a:t>
            </a:r>
            <a:r>
              <a:rPr lang="en-US" dirty="0" smtClean="0"/>
              <a:t>also perform </a:t>
            </a:r>
            <a:r>
              <a:rPr lang="en-US" b="1" dirty="0"/>
              <a:t>file handling in java</a:t>
            </a:r>
            <a:r>
              <a:rPr lang="en-US" dirty="0"/>
              <a:t> by java IO API.</a:t>
            </a:r>
          </a:p>
          <a:p>
            <a:endParaRPr lang="en-US" dirty="0"/>
          </a:p>
        </p:txBody>
      </p:sp>
    </p:spTree>
    <p:extLst>
      <p:ext uri="{BB962C8B-B14F-4D97-AF65-F5344CB8AC3E}">
        <p14:creationId xmlns:p14="http://schemas.microsoft.com/office/powerpoint/2010/main" val="304654101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Stream</a:t>
            </a:r>
            <a:endParaRPr lang="en-US" dirty="0"/>
          </a:p>
        </p:txBody>
      </p:sp>
      <p:sp>
        <p:nvSpPr>
          <p:cNvPr id="3" name="Content Placeholder 2"/>
          <p:cNvSpPr>
            <a:spLocks noGrp="1"/>
          </p:cNvSpPr>
          <p:nvPr>
            <p:ph idx="1"/>
          </p:nvPr>
        </p:nvSpPr>
        <p:spPr>
          <a:xfrm>
            <a:off x="838200" y="1825625"/>
            <a:ext cx="10515600" cy="4789488"/>
          </a:xfrm>
        </p:spPr>
        <p:txBody>
          <a:bodyPr>
            <a:normAutofit/>
          </a:bodyPr>
          <a:lstStyle/>
          <a:p>
            <a:r>
              <a:rPr lang="en-US" sz="2400" b="1" i="1" dirty="0"/>
              <a:t>Stream</a:t>
            </a:r>
            <a:r>
              <a:rPr lang="en-US" sz="2400" dirty="0"/>
              <a:t>: an object that either delivers data to its destination (screen, file, etc.) or that takes data from a source (keyboard, file, etc.)</a:t>
            </a:r>
          </a:p>
          <a:p>
            <a:pPr lvl="1"/>
            <a:r>
              <a:rPr lang="en-US" dirty="0"/>
              <a:t>it acts as a buffer between the data source and destination</a:t>
            </a:r>
          </a:p>
          <a:p>
            <a:r>
              <a:rPr lang="en-US" sz="2400" b="1" i="1" dirty="0"/>
              <a:t>Input stream</a:t>
            </a:r>
            <a:r>
              <a:rPr lang="en-US" sz="2400" dirty="0"/>
              <a:t>: a stream that provides input to a program</a:t>
            </a:r>
          </a:p>
          <a:p>
            <a:pPr lvl="1"/>
            <a:r>
              <a:rPr lang="en-US" dirty="0"/>
              <a:t>System.in is an input stream</a:t>
            </a:r>
          </a:p>
          <a:p>
            <a:r>
              <a:rPr lang="en-US" sz="2400" b="1" i="1" dirty="0"/>
              <a:t>Output stream</a:t>
            </a:r>
            <a:r>
              <a:rPr lang="en-US" sz="2400" dirty="0"/>
              <a:t>: a stream that accepts output from a program</a:t>
            </a:r>
          </a:p>
          <a:p>
            <a:pPr lvl="1"/>
            <a:r>
              <a:rPr lang="en-US" dirty="0" err="1"/>
              <a:t>System.out</a:t>
            </a:r>
            <a:r>
              <a:rPr lang="en-US" dirty="0"/>
              <a:t> is an output stream</a:t>
            </a:r>
          </a:p>
          <a:p>
            <a:r>
              <a:rPr lang="en-US" sz="2400" dirty="0"/>
              <a:t>A stream connects a program to an I/O object</a:t>
            </a:r>
          </a:p>
          <a:p>
            <a:pPr lvl="1"/>
            <a:r>
              <a:rPr lang="en-US" dirty="0" err="1"/>
              <a:t>System.out</a:t>
            </a:r>
            <a:r>
              <a:rPr lang="en-US" dirty="0"/>
              <a:t> connects a program to the screen</a:t>
            </a:r>
          </a:p>
          <a:p>
            <a:pPr lvl="1"/>
            <a:r>
              <a:rPr lang="en-US" dirty="0"/>
              <a:t>System.in connects a program to the keyboard</a:t>
            </a:r>
          </a:p>
          <a:p>
            <a:pPr marL="0" lvl="1" indent="0" algn="just">
              <a:buNone/>
            </a:pPr>
            <a:endParaRPr lang="en-US" dirty="0" smtClean="0"/>
          </a:p>
        </p:txBody>
      </p:sp>
    </p:spTree>
    <p:extLst>
      <p:ext uri="{BB962C8B-B14F-4D97-AF65-F5344CB8AC3E}">
        <p14:creationId xmlns:p14="http://schemas.microsoft.com/office/powerpoint/2010/main" val="329338213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InputStream</a:t>
            </a:r>
            <a:r>
              <a:rPr lang="en-US" dirty="0"/>
              <a:t> and </a:t>
            </a:r>
            <a:r>
              <a:rPr lang="en-US" dirty="0" err="1" smtClean="0"/>
              <a:t>OutputStream</a:t>
            </a:r>
            <a:r>
              <a:rPr lang="en-US" dirty="0" smtClean="0"/>
              <a:t> diagram</a:t>
            </a:r>
            <a:endParaRPr lang="en-US" dirty="0"/>
          </a:p>
        </p:txBody>
      </p:sp>
      <p:pic>
        <p:nvPicPr>
          <p:cNvPr id="4" name="Content Placeholder 3"/>
          <p:cNvPicPr>
            <a:picLocks noGrp="1" noChangeAspect="1"/>
          </p:cNvPicPr>
          <p:nvPr>
            <p:ph idx="1"/>
          </p:nvPr>
        </p:nvPicPr>
        <p:blipFill>
          <a:blip r:embed="rId2"/>
          <a:stretch>
            <a:fillRect/>
          </a:stretch>
        </p:blipFill>
        <p:spPr>
          <a:xfrm>
            <a:off x="440100" y="2128067"/>
            <a:ext cx="11311799" cy="3180912"/>
          </a:xfrm>
          <a:prstGeom prst="rect">
            <a:avLst/>
          </a:prstGeom>
        </p:spPr>
      </p:pic>
    </p:spTree>
    <p:extLst>
      <p:ext uri="{BB962C8B-B14F-4D97-AF65-F5344CB8AC3E}">
        <p14:creationId xmlns:p14="http://schemas.microsoft.com/office/powerpoint/2010/main" val="4255284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Stream</a:t>
            </a:r>
            <a:endParaRPr lang="en-US" dirty="0"/>
          </a:p>
        </p:txBody>
      </p:sp>
      <p:sp>
        <p:nvSpPr>
          <p:cNvPr id="3" name="Content Placeholder 2"/>
          <p:cNvSpPr>
            <a:spLocks noGrp="1"/>
          </p:cNvSpPr>
          <p:nvPr>
            <p:ph idx="1"/>
          </p:nvPr>
        </p:nvSpPr>
        <p:spPr/>
        <p:txBody>
          <a:bodyPr/>
          <a:lstStyle/>
          <a:p>
            <a:pPr marL="0" indent="0">
              <a:buNone/>
            </a:pPr>
            <a:r>
              <a:rPr lang="en-US" dirty="0" smtClean="0"/>
              <a:t>There are two kinds of streams:</a:t>
            </a:r>
          </a:p>
          <a:p>
            <a:r>
              <a:rPr lang="en-US" dirty="0" smtClean="0"/>
              <a:t>Byte Streams</a:t>
            </a:r>
          </a:p>
          <a:p>
            <a:r>
              <a:rPr lang="en-US" dirty="0" smtClean="0"/>
              <a:t>Character Streams</a:t>
            </a:r>
            <a:endParaRPr lang="en-US" dirty="0"/>
          </a:p>
        </p:txBody>
      </p:sp>
    </p:spTree>
    <p:extLst>
      <p:ext uri="{BB962C8B-B14F-4D97-AF65-F5344CB8AC3E}">
        <p14:creationId xmlns:p14="http://schemas.microsoft.com/office/powerpoint/2010/main" val="12061034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Byte Stream</a:t>
            </a:r>
            <a:endParaRPr lang="en-US" dirty="0"/>
          </a:p>
        </p:txBody>
      </p:sp>
      <p:sp>
        <p:nvSpPr>
          <p:cNvPr id="3" name="Content Placeholder 2"/>
          <p:cNvSpPr>
            <a:spLocks noGrp="1"/>
          </p:cNvSpPr>
          <p:nvPr>
            <p:ph idx="1"/>
          </p:nvPr>
        </p:nvSpPr>
        <p:spPr/>
        <p:txBody>
          <a:bodyPr>
            <a:normAutofit lnSpcReduction="10000"/>
          </a:bodyPr>
          <a:lstStyle/>
          <a:p>
            <a:pPr algn="just"/>
            <a:r>
              <a:rPr lang="en-US" i="1" dirty="0"/>
              <a:t>Byte streams </a:t>
            </a:r>
            <a:r>
              <a:rPr lang="en-US" dirty="0"/>
              <a:t>provide a </a:t>
            </a:r>
            <a:r>
              <a:rPr lang="en-US" dirty="0" smtClean="0"/>
              <a:t>convenient means </a:t>
            </a:r>
            <a:r>
              <a:rPr lang="en-US" dirty="0"/>
              <a:t>for handling input and output of bytes. </a:t>
            </a:r>
            <a:endParaRPr lang="en-US" dirty="0" smtClean="0"/>
          </a:p>
          <a:p>
            <a:pPr algn="just"/>
            <a:r>
              <a:rPr lang="en-US" dirty="0" smtClean="0"/>
              <a:t>Byte </a:t>
            </a:r>
            <a:r>
              <a:rPr lang="en-US" dirty="0"/>
              <a:t>streams are used, for example, </a:t>
            </a:r>
            <a:r>
              <a:rPr lang="en-US" dirty="0" smtClean="0"/>
              <a:t>when reading </a:t>
            </a:r>
            <a:r>
              <a:rPr lang="en-US" dirty="0"/>
              <a:t>or writing binary </a:t>
            </a:r>
            <a:r>
              <a:rPr lang="en-US" dirty="0" smtClean="0"/>
              <a:t>data like image data, audio, video etc.</a:t>
            </a:r>
          </a:p>
          <a:p>
            <a:pPr algn="just"/>
            <a:r>
              <a:rPr lang="en-US" dirty="0" smtClean="0"/>
              <a:t>Byte </a:t>
            </a:r>
            <a:r>
              <a:rPr lang="en-US" dirty="0"/>
              <a:t>streams create binary files.  </a:t>
            </a:r>
            <a:endParaRPr lang="en-US" dirty="0" smtClean="0"/>
          </a:p>
          <a:p>
            <a:pPr algn="just"/>
            <a:r>
              <a:rPr lang="en-US" dirty="0" smtClean="0"/>
              <a:t>A </a:t>
            </a:r>
            <a:r>
              <a:rPr lang="en-US" dirty="0"/>
              <a:t>binary file essentially contains the memory image of the data.  That is, it stores bits as they are in </a:t>
            </a:r>
            <a:r>
              <a:rPr lang="en-US" dirty="0" smtClean="0"/>
              <a:t>memory.</a:t>
            </a:r>
          </a:p>
          <a:p>
            <a:pPr algn="just"/>
            <a:r>
              <a:rPr lang="en-US" dirty="0" smtClean="0"/>
              <a:t>Binary </a:t>
            </a:r>
            <a:r>
              <a:rPr lang="en-US" dirty="0"/>
              <a:t>files are faster to read and write because no translation need take place.  </a:t>
            </a:r>
            <a:endParaRPr lang="en-US" dirty="0" smtClean="0"/>
          </a:p>
          <a:p>
            <a:pPr algn="just"/>
            <a:r>
              <a:rPr lang="en-US" dirty="0" smtClean="0"/>
              <a:t>Binary </a:t>
            </a:r>
            <a:r>
              <a:rPr lang="en-US" dirty="0"/>
              <a:t>files, however, cannot be read with a text editor.</a:t>
            </a:r>
          </a:p>
          <a:p>
            <a:pPr algn="just"/>
            <a:endParaRPr lang="en-US" dirty="0"/>
          </a:p>
        </p:txBody>
      </p:sp>
    </p:spTree>
    <p:extLst>
      <p:ext uri="{BB962C8B-B14F-4D97-AF65-F5344CB8AC3E}">
        <p14:creationId xmlns:p14="http://schemas.microsoft.com/office/powerpoint/2010/main" val="2381767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Byte Stream classes</a:t>
            </a:r>
            <a:endParaRPr lang="en-US" dirty="0"/>
          </a:p>
        </p:txBody>
      </p:sp>
      <p:sp>
        <p:nvSpPr>
          <p:cNvPr id="3" name="Content Placeholder 2"/>
          <p:cNvSpPr>
            <a:spLocks noGrp="1"/>
          </p:cNvSpPr>
          <p:nvPr>
            <p:ph idx="1"/>
          </p:nvPr>
        </p:nvSpPr>
        <p:spPr/>
        <p:txBody>
          <a:bodyPr/>
          <a:lstStyle/>
          <a:p>
            <a:r>
              <a:rPr lang="en-US" dirty="0"/>
              <a:t>Byte streams are defined by using two class hierarchies. </a:t>
            </a:r>
            <a:endParaRPr lang="en-US" dirty="0" smtClean="0"/>
          </a:p>
          <a:p>
            <a:r>
              <a:rPr lang="en-US" dirty="0" smtClean="0"/>
              <a:t>At </a:t>
            </a:r>
            <a:r>
              <a:rPr lang="en-US" dirty="0"/>
              <a:t>the top are two abstract classes:</a:t>
            </a:r>
          </a:p>
          <a:p>
            <a:pPr>
              <a:buFont typeface="Wingdings" panose="05000000000000000000" pitchFamily="2" charset="2"/>
              <a:buChar char="ü"/>
            </a:pPr>
            <a:r>
              <a:rPr lang="en-US" b="1" dirty="0" err="1"/>
              <a:t>InputStream</a:t>
            </a:r>
            <a:r>
              <a:rPr lang="en-US" b="1" dirty="0"/>
              <a:t> </a:t>
            </a:r>
            <a:r>
              <a:rPr lang="en-US" dirty="0"/>
              <a:t>and </a:t>
            </a:r>
            <a:endParaRPr lang="en-US" dirty="0" smtClean="0"/>
          </a:p>
          <a:p>
            <a:pPr>
              <a:buFont typeface="Wingdings" panose="05000000000000000000" pitchFamily="2" charset="2"/>
              <a:buChar char="ü"/>
            </a:pPr>
            <a:r>
              <a:rPr lang="en-US" b="1" dirty="0" err="1" smtClean="0"/>
              <a:t>OutputStream</a:t>
            </a:r>
            <a:r>
              <a:rPr lang="en-US" dirty="0"/>
              <a:t>.</a:t>
            </a:r>
          </a:p>
        </p:txBody>
      </p:sp>
    </p:spTree>
    <p:extLst>
      <p:ext uri="{BB962C8B-B14F-4D97-AF65-F5344CB8AC3E}">
        <p14:creationId xmlns:p14="http://schemas.microsoft.com/office/powerpoint/2010/main" val="16920031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0025"/>
            <a:ext cx="10515600" cy="1410106"/>
          </a:xfrm>
        </p:spPr>
        <p:txBody>
          <a:bodyPr>
            <a:noAutofit/>
          </a:bodyPr>
          <a:lstStyle/>
          <a:p>
            <a:r>
              <a:rPr lang="en-US" sz="2800" b="1" dirty="0" err="1" smtClean="0"/>
              <a:t>InputStream</a:t>
            </a:r>
            <a:r>
              <a:rPr lang="en-US" sz="2800" b="1" dirty="0" smtClean="0"/>
              <a:t> </a:t>
            </a:r>
            <a:r>
              <a:rPr lang="en-US" sz="2800" b="1" dirty="0"/>
              <a:t>class:</a:t>
            </a:r>
            <a:r>
              <a:rPr lang="en-US" sz="2400" dirty="0"/>
              <a:t/>
            </a:r>
            <a:br>
              <a:rPr lang="en-US" sz="2400" dirty="0"/>
            </a:br>
            <a:r>
              <a:rPr lang="en-US" sz="2400" dirty="0" err="1"/>
              <a:t>InputStream</a:t>
            </a:r>
            <a:r>
              <a:rPr lang="en-US" sz="2400" dirty="0"/>
              <a:t> class is an abstract class. It is the superclass of all classes representing an input stream of bytes.</a:t>
            </a:r>
            <a:br>
              <a:rPr lang="en-US" sz="2400" dirty="0"/>
            </a:br>
            <a:endParaRPr lang="en-US" sz="2400" dirty="0"/>
          </a:p>
        </p:txBody>
      </p:sp>
      <p:pic>
        <p:nvPicPr>
          <p:cNvPr id="5" name="Content Placeholder 4"/>
          <p:cNvPicPr>
            <a:picLocks noGrp="1" noChangeAspect="1"/>
          </p:cNvPicPr>
          <p:nvPr>
            <p:ph idx="1"/>
          </p:nvPr>
        </p:nvPicPr>
        <p:blipFill>
          <a:blip r:embed="rId2"/>
          <a:stretch>
            <a:fillRect/>
          </a:stretch>
        </p:blipFill>
        <p:spPr>
          <a:xfrm>
            <a:off x="838200" y="1610131"/>
            <a:ext cx="10781097" cy="5006048"/>
          </a:xfrm>
          <a:prstGeom prst="rect">
            <a:avLst/>
          </a:prstGeom>
        </p:spPr>
      </p:pic>
    </p:spTree>
    <p:extLst>
      <p:ext uri="{BB962C8B-B14F-4D97-AF65-F5344CB8AC3E}">
        <p14:creationId xmlns:p14="http://schemas.microsoft.com/office/powerpoint/2010/main" val="228642427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smtClean="0"/>
              <a:t>Methods in </a:t>
            </a:r>
            <a:r>
              <a:rPr lang="en-US" dirty="0" err="1" smtClean="0"/>
              <a:t>InputStream</a:t>
            </a:r>
            <a:r>
              <a:rPr lang="en-US" dirty="0" smtClean="0"/>
              <a:t> class</a:t>
            </a:r>
            <a:endParaRPr lang="en-US" dirty="0"/>
          </a:p>
        </p:txBody>
      </p:sp>
      <p:pic>
        <p:nvPicPr>
          <p:cNvPr id="4" name="Content Placeholder 3"/>
          <p:cNvPicPr>
            <a:picLocks noGrp="1" noChangeAspect="1"/>
          </p:cNvPicPr>
          <p:nvPr>
            <p:ph idx="1"/>
          </p:nvPr>
        </p:nvPicPr>
        <p:blipFill>
          <a:blip r:embed="rId2"/>
          <a:stretch>
            <a:fillRect/>
          </a:stretch>
        </p:blipFill>
        <p:spPr>
          <a:xfrm>
            <a:off x="0" y="905669"/>
            <a:ext cx="9672638" cy="5951234"/>
          </a:xfrm>
          <a:prstGeom prst="rect">
            <a:avLst/>
          </a:prstGeom>
        </p:spPr>
      </p:pic>
    </p:spTree>
    <p:extLst>
      <p:ext uri="{BB962C8B-B14F-4D97-AF65-F5344CB8AC3E}">
        <p14:creationId xmlns:p14="http://schemas.microsoft.com/office/powerpoint/2010/main" val="16160502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412939" y="2154854"/>
            <a:ext cx="11477714" cy="4408226"/>
          </a:xfrm>
          <a:prstGeom prst="rect">
            <a:avLst/>
          </a:prstGeom>
        </p:spPr>
      </p:pic>
      <p:sp>
        <p:nvSpPr>
          <p:cNvPr id="4" name="Title 1"/>
          <p:cNvSpPr txBox="1">
            <a:spLocks/>
          </p:cNvSpPr>
          <p:nvPr/>
        </p:nvSpPr>
        <p:spPr>
          <a:xfrm>
            <a:off x="738188" y="263939"/>
            <a:ext cx="10515600" cy="200777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2800" b="1" dirty="0" err="1" smtClean="0"/>
              <a:t>OutputStream</a:t>
            </a:r>
            <a:r>
              <a:rPr lang="en-US" sz="2800" b="1" dirty="0" smtClean="0"/>
              <a:t> class:</a:t>
            </a:r>
            <a:r>
              <a:rPr lang="en-US" sz="2400" dirty="0" smtClean="0"/>
              <a:t/>
            </a:r>
            <a:br>
              <a:rPr lang="en-US" sz="2400" dirty="0" smtClean="0"/>
            </a:br>
            <a:r>
              <a:rPr lang="en-US" sz="2400" dirty="0" err="1" smtClean="0"/>
              <a:t>OutputStream</a:t>
            </a:r>
            <a:r>
              <a:rPr lang="en-US" sz="2400" dirty="0" smtClean="0"/>
              <a:t> </a:t>
            </a:r>
            <a:r>
              <a:rPr lang="en-US" sz="2400" dirty="0"/>
              <a:t>class is an abstract class. It is the superclass of all classes representing an output stream of bytes. An output stream accepts output bytes and sends them to some sink. </a:t>
            </a:r>
          </a:p>
          <a:p>
            <a:r>
              <a:rPr lang="en-US" sz="2400" dirty="0" smtClean="0"/>
              <a:t/>
            </a:r>
            <a:br>
              <a:rPr lang="en-US" sz="2400" dirty="0" smtClean="0"/>
            </a:br>
            <a:endParaRPr lang="en-US" sz="2400" dirty="0"/>
          </a:p>
        </p:txBody>
      </p:sp>
    </p:spTree>
    <p:extLst>
      <p:ext uri="{BB962C8B-B14F-4D97-AF65-F5344CB8AC3E}">
        <p14:creationId xmlns:p14="http://schemas.microsoft.com/office/powerpoint/2010/main" val="138662547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dirty="0" smtClean="0"/>
              <a:t>Methods in </a:t>
            </a:r>
            <a:r>
              <a:rPr lang="en-US" dirty="0" err="1" smtClean="0"/>
              <a:t>OutputStream</a:t>
            </a:r>
            <a:r>
              <a:rPr lang="en-US" dirty="0" smtClean="0"/>
              <a:t> class</a:t>
            </a:r>
            <a:endParaRPr lang="en-US" dirty="0"/>
          </a:p>
        </p:txBody>
      </p:sp>
      <p:pic>
        <p:nvPicPr>
          <p:cNvPr id="5" name="Content Placeholder 4"/>
          <p:cNvPicPr>
            <a:picLocks noGrp="1" noChangeAspect="1"/>
          </p:cNvPicPr>
          <p:nvPr>
            <p:ph idx="1"/>
          </p:nvPr>
        </p:nvPicPr>
        <p:blipFill>
          <a:blip r:embed="rId2"/>
          <a:stretch>
            <a:fillRect/>
          </a:stretch>
        </p:blipFill>
        <p:spPr>
          <a:xfrm>
            <a:off x="0" y="1000126"/>
            <a:ext cx="9272288" cy="3486149"/>
          </a:xfrm>
          <a:prstGeom prst="rect">
            <a:avLst/>
          </a:prstGeom>
        </p:spPr>
      </p:pic>
    </p:spTree>
    <p:extLst>
      <p:ext uri="{BB962C8B-B14F-4D97-AF65-F5344CB8AC3E}">
        <p14:creationId xmlns:p14="http://schemas.microsoft.com/office/powerpoint/2010/main" val="254062047"/>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 Stream</a:t>
            </a:r>
            <a:endParaRPr lang="en-US" dirty="0"/>
          </a:p>
        </p:txBody>
      </p:sp>
      <p:sp>
        <p:nvSpPr>
          <p:cNvPr id="3" name="Content Placeholder 2"/>
          <p:cNvSpPr>
            <a:spLocks noGrp="1"/>
          </p:cNvSpPr>
          <p:nvPr>
            <p:ph idx="1"/>
          </p:nvPr>
        </p:nvSpPr>
        <p:spPr/>
        <p:txBody>
          <a:bodyPr>
            <a:normAutofit/>
          </a:bodyPr>
          <a:lstStyle/>
          <a:p>
            <a:pPr algn="just"/>
            <a:r>
              <a:rPr lang="en-US" dirty="0"/>
              <a:t>Character streams provide a convenient means for handling input and output of characters. </a:t>
            </a:r>
          </a:p>
          <a:p>
            <a:pPr algn="just"/>
            <a:r>
              <a:rPr lang="en-US" dirty="0"/>
              <a:t>Also, in some cases, character streams are more efficient than byte streams.</a:t>
            </a:r>
          </a:p>
          <a:p>
            <a:pPr algn="just"/>
            <a:r>
              <a:rPr lang="en-US" dirty="0"/>
              <a:t>Character streams create text files.</a:t>
            </a:r>
          </a:p>
          <a:p>
            <a:pPr algn="just"/>
            <a:r>
              <a:rPr lang="en-US" dirty="0"/>
              <a:t>These are files designed to be read with a text editor.</a:t>
            </a:r>
          </a:p>
          <a:p>
            <a:pPr algn="just"/>
            <a:r>
              <a:rPr lang="en-US" dirty="0"/>
              <a:t>Java automatically converts its internal </a:t>
            </a:r>
            <a:r>
              <a:rPr lang="en-US" dirty="0" err="1"/>
              <a:t>unicode</a:t>
            </a:r>
            <a:r>
              <a:rPr lang="en-US" dirty="0"/>
              <a:t> characters to the local machine representation (ASCII in our case).</a:t>
            </a:r>
          </a:p>
          <a:p>
            <a:endParaRPr lang="en-US" dirty="0"/>
          </a:p>
        </p:txBody>
      </p:sp>
    </p:spTree>
    <p:extLst>
      <p:ext uri="{BB962C8B-B14F-4D97-AF65-F5344CB8AC3E}">
        <p14:creationId xmlns:p14="http://schemas.microsoft.com/office/powerpoint/2010/main" val="198381021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Character Stream classes</a:t>
            </a:r>
            <a:endParaRPr lang="en-US" dirty="0"/>
          </a:p>
        </p:txBody>
      </p:sp>
      <p:sp>
        <p:nvSpPr>
          <p:cNvPr id="3" name="Content Placeholder 2"/>
          <p:cNvSpPr>
            <a:spLocks noGrp="1"/>
          </p:cNvSpPr>
          <p:nvPr>
            <p:ph idx="1"/>
          </p:nvPr>
        </p:nvSpPr>
        <p:spPr/>
        <p:txBody>
          <a:bodyPr/>
          <a:lstStyle/>
          <a:p>
            <a:r>
              <a:rPr lang="en-US" dirty="0"/>
              <a:t>Character streams are defined by using two class hierarchies. </a:t>
            </a:r>
            <a:endParaRPr lang="en-US" dirty="0" smtClean="0"/>
          </a:p>
          <a:p>
            <a:r>
              <a:rPr lang="en-US" dirty="0" smtClean="0"/>
              <a:t>At </a:t>
            </a:r>
            <a:r>
              <a:rPr lang="en-US" dirty="0"/>
              <a:t>the top are two </a:t>
            </a:r>
            <a:r>
              <a:rPr lang="en-US" dirty="0" smtClean="0"/>
              <a:t>abstract classes</a:t>
            </a:r>
            <a:r>
              <a:rPr lang="en-US" dirty="0"/>
              <a:t>: </a:t>
            </a:r>
            <a:endParaRPr lang="en-US" dirty="0" smtClean="0"/>
          </a:p>
          <a:p>
            <a:pPr>
              <a:buFont typeface="Wingdings" panose="05000000000000000000" pitchFamily="2" charset="2"/>
              <a:buChar char="Ø"/>
            </a:pPr>
            <a:r>
              <a:rPr lang="en-US" b="1" dirty="0" smtClean="0"/>
              <a:t>Reader </a:t>
            </a:r>
            <a:r>
              <a:rPr lang="en-US" dirty="0"/>
              <a:t>and </a:t>
            </a:r>
            <a:endParaRPr lang="en-US" dirty="0" smtClean="0"/>
          </a:p>
          <a:p>
            <a:pPr>
              <a:buFont typeface="Wingdings" panose="05000000000000000000" pitchFamily="2" charset="2"/>
              <a:buChar char="Ø"/>
            </a:pPr>
            <a:r>
              <a:rPr lang="en-US" b="1" dirty="0" smtClean="0"/>
              <a:t>Writer</a:t>
            </a:r>
            <a:endParaRPr lang="en-US" dirty="0"/>
          </a:p>
        </p:txBody>
      </p:sp>
    </p:spTree>
    <p:extLst>
      <p:ext uri="{BB962C8B-B14F-4D97-AF65-F5344CB8AC3E}">
        <p14:creationId xmlns:p14="http://schemas.microsoft.com/office/powerpoint/2010/main" val="340273685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0025"/>
            <a:ext cx="10515600" cy="2228850"/>
          </a:xfrm>
        </p:spPr>
        <p:txBody>
          <a:bodyPr>
            <a:noAutofit/>
          </a:bodyPr>
          <a:lstStyle/>
          <a:p>
            <a:r>
              <a:rPr lang="en-US" sz="2800" b="1" dirty="0" smtClean="0"/>
              <a:t>Reader </a:t>
            </a:r>
            <a:r>
              <a:rPr lang="en-US" sz="2800" b="1" dirty="0"/>
              <a:t>class:</a:t>
            </a:r>
            <a:r>
              <a:rPr lang="en-US" sz="2400" dirty="0"/>
              <a:t/>
            </a:r>
            <a:br>
              <a:rPr lang="en-US" sz="2400" dirty="0"/>
            </a:br>
            <a:r>
              <a:rPr lang="en-US" sz="2400" b="1" dirty="0"/>
              <a:t>Reader </a:t>
            </a:r>
            <a:r>
              <a:rPr lang="en-US" sz="2400" dirty="0"/>
              <a:t>is an abstract class that defines Java’s model of streaming character input. </a:t>
            </a:r>
            <a:r>
              <a:rPr lang="en-US" sz="2400" dirty="0" smtClean="0"/>
              <a:t>It</a:t>
            </a:r>
            <a:r>
              <a:rPr lang="en-US" sz="2400" dirty="0"/>
              <a:t/>
            </a:r>
            <a:br>
              <a:rPr lang="en-US" sz="2400" dirty="0"/>
            </a:br>
            <a:r>
              <a:rPr lang="en-US" sz="2400" dirty="0"/>
              <a:t>implements the </a:t>
            </a:r>
            <a:r>
              <a:rPr lang="en-US" sz="2400" b="1" dirty="0" err="1"/>
              <a:t>AutoCloseable</a:t>
            </a:r>
            <a:r>
              <a:rPr lang="en-US" sz="2400" dirty="0"/>
              <a:t>, </a:t>
            </a:r>
            <a:r>
              <a:rPr lang="en-US" sz="2400" b="1" dirty="0"/>
              <a:t>Closeable</a:t>
            </a:r>
            <a:r>
              <a:rPr lang="en-US" sz="2400" dirty="0"/>
              <a:t>, and </a:t>
            </a:r>
            <a:r>
              <a:rPr lang="en-US" sz="2400" b="1" dirty="0"/>
              <a:t>Readable </a:t>
            </a:r>
            <a:r>
              <a:rPr lang="en-US" sz="2400" dirty="0"/>
              <a:t>interfaces. All of the methods </a:t>
            </a:r>
            <a:r>
              <a:rPr lang="en-US" sz="2400" dirty="0" smtClean="0"/>
              <a:t>in this </a:t>
            </a:r>
            <a:r>
              <a:rPr lang="en-US" sz="2400" dirty="0"/>
              <a:t>class (except for </a:t>
            </a:r>
            <a:r>
              <a:rPr lang="en-US" sz="2400" b="1" dirty="0" err="1"/>
              <a:t>markSupported</a:t>
            </a:r>
            <a:r>
              <a:rPr lang="en-US" sz="2400" b="1" dirty="0"/>
              <a:t>( )</a:t>
            </a:r>
            <a:r>
              <a:rPr lang="en-US" sz="2400" dirty="0"/>
              <a:t>) will throw an </a:t>
            </a:r>
            <a:r>
              <a:rPr lang="en-US" sz="2400" b="1" dirty="0" err="1"/>
              <a:t>IOException</a:t>
            </a:r>
            <a:r>
              <a:rPr lang="en-US" sz="2400" b="1" dirty="0"/>
              <a:t> </a:t>
            </a:r>
            <a:r>
              <a:rPr lang="en-US" sz="2400" dirty="0"/>
              <a:t>on error conditions.</a:t>
            </a:r>
            <a:r>
              <a:rPr lang="en-US" sz="2400" dirty="0" smtClean="0"/>
              <a:t>.</a:t>
            </a:r>
            <a:r>
              <a:rPr lang="en-US" sz="2400" dirty="0"/>
              <a:t/>
            </a:r>
            <a:br>
              <a:rPr lang="en-US" sz="2400" dirty="0"/>
            </a:br>
            <a:endParaRPr lang="en-US" sz="2400" dirty="0"/>
          </a:p>
        </p:txBody>
      </p:sp>
      <p:pic>
        <p:nvPicPr>
          <p:cNvPr id="4" name="Content Placeholder 3"/>
          <p:cNvPicPr>
            <a:picLocks noGrp="1" noChangeAspect="1"/>
          </p:cNvPicPr>
          <p:nvPr>
            <p:ph idx="1"/>
          </p:nvPr>
        </p:nvPicPr>
        <p:blipFill>
          <a:blip r:embed="rId2"/>
          <a:stretch>
            <a:fillRect/>
          </a:stretch>
        </p:blipFill>
        <p:spPr>
          <a:xfrm>
            <a:off x="1697702" y="2009719"/>
            <a:ext cx="8796596" cy="4332087"/>
          </a:xfrm>
          <a:prstGeom prst="rect">
            <a:avLst/>
          </a:prstGeom>
        </p:spPr>
      </p:pic>
    </p:spTree>
    <p:extLst>
      <p:ext uri="{BB962C8B-B14F-4D97-AF65-F5344CB8AC3E}">
        <p14:creationId xmlns:p14="http://schemas.microsoft.com/office/powerpoint/2010/main" val="1153292808"/>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515600" cy="571500"/>
          </a:xfrm>
        </p:spPr>
        <p:txBody>
          <a:bodyPr>
            <a:normAutofit fontScale="90000"/>
          </a:bodyPr>
          <a:lstStyle/>
          <a:p>
            <a:r>
              <a:rPr lang="en-US" dirty="0" smtClean="0"/>
              <a:t>Methods in Reader class</a:t>
            </a:r>
            <a:endParaRPr lang="en-US" dirty="0"/>
          </a:p>
        </p:txBody>
      </p:sp>
      <p:pic>
        <p:nvPicPr>
          <p:cNvPr id="4" name="Content Placeholder 3"/>
          <p:cNvPicPr>
            <a:picLocks noGrp="1" noChangeAspect="1"/>
          </p:cNvPicPr>
          <p:nvPr>
            <p:ph idx="1"/>
          </p:nvPr>
        </p:nvPicPr>
        <p:blipFill>
          <a:blip r:embed="rId2"/>
          <a:stretch>
            <a:fillRect/>
          </a:stretch>
        </p:blipFill>
        <p:spPr>
          <a:xfrm>
            <a:off x="-1" y="571501"/>
            <a:ext cx="8658225" cy="6268250"/>
          </a:xfrm>
          <a:prstGeom prst="rect">
            <a:avLst/>
          </a:prstGeom>
        </p:spPr>
      </p:pic>
    </p:spTree>
    <p:extLst>
      <p:ext uri="{BB962C8B-B14F-4D97-AF65-F5344CB8AC3E}">
        <p14:creationId xmlns:p14="http://schemas.microsoft.com/office/powerpoint/2010/main" val="42814957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00025"/>
            <a:ext cx="10515600" cy="2228850"/>
          </a:xfrm>
        </p:spPr>
        <p:txBody>
          <a:bodyPr>
            <a:noAutofit/>
          </a:bodyPr>
          <a:lstStyle/>
          <a:p>
            <a:r>
              <a:rPr lang="en-US" sz="2800" b="1" dirty="0" smtClean="0"/>
              <a:t>Writer </a:t>
            </a:r>
            <a:r>
              <a:rPr lang="en-US" sz="2800" b="1" dirty="0"/>
              <a:t>class:</a:t>
            </a:r>
            <a:r>
              <a:rPr lang="en-US" sz="2400" dirty="0"/>
              <a:t/>
            </a:r>
            <a:br>
              <a:rPr lang="en-US" sz="2400" dirty="0"/>
            </a:br>
            <a:r>
              <a:rPr lang="en-US" sz="2400" b="1" dirty="0"/>
              <a:t>Writer </a:t>
            </a:r>
            <a:r>
              <a:rPr lang="en-US" sz="2400" dirty="0"/>
              <a:t>is an abstract class that defines streaming character output. It implements </a:t>
            </a:r>
            <a:r>
              <a:rPr lang="en-US" sz="2400" dirty="0" smtClean="0"/>
              <a:t>the </a:t>
            </a:r>
            <a:r>
              <a:rPr lang="en-US" sz="2400" b="1" dirty="0" err="1" smtClean="0"/>
              <a:t>AutoCloseable</a:t>
            </a:r>
            <a:r>
              <a:rPr lang="en-US" sz="2400" dirty="0"/>
              <a:t>, </a:t>
            </a:r>
            <a:r>
              <a:rPr lang="en-US" sz="2400" b="1" dirty="0"/>
              <a:t>Closeable</a:t>
            </a:r>
            <a:r>
              <a:rPr lang="en-US" sz="2400" dirty="0"/>
              <a:t>, </a:t>
            </a:r>
            <a:r>
              <a:rPr lang="en-US" sz="2400" b="1" dirty="0"/>
              <a:t>Flushable</a:t>
            </a:r>
            <a:r>
              <a:rPr lang="en-US" sz="2400" dirty="0"/>
              <a:t>, and </a:t>
            </a:r>
            <a:r>
              <a:rPr lang="en-US" sz="2400" b="1" dirty="0" err="1"/>
              <a:t>Appendable</a:t>
            </a:r>
            <a:r>
              <a:rPr lang="en-US" sz="2400" b="1" dirty="0"/>
              <a:t> </a:t>
            </a:r>
            <a:r>
              <a:rPr lang="en-US" sz="2400" dirty="0"/>
              <a:t>interfaces. All of the methods </a:t>
            </a:r>
            <a:r>
              <a:rPr lang="en-US" sz="2400" dirty="0" smtClean="0"/>
              <a:t>in this </a:t>
            </a:r>
            <a:r>
              <a:rPr lang="en-US" sz="2400" dirty="0"/>
              <a:t>class throw an </a:t>
            </a:r>
            <a:r>
              <a:rPr lang="en-US" sz="2400" b="1" dirty="0" err="1"/>
              <a:t>IOException</a:t>
            </a:r>
            <a:r>
              <a:rPr lang="en-US" sz="2400" b="1" dirty="0"/>
              <a:t> </a:t>
            </a:r>
            <a:r>
              <a:rPr lang="en-US" sz="2400" dirty="0"/>
              <a:t>in the case of errors.</a:t>
            </a:r>
            <a:br>
              <a:rPr lang="en-US" sz="2400" dirty="0"/>
            </a:br>
            <a:endParaRPr lang="en-US" sz="2400" dirty="0"/>
          </a:p>
        </p:txBody>
      </p:sp>
      <p:pic>
        <p:nvPicPr>
          <p:cNvPr id="5" name="Content Placeholder 4"/>
          <p:cNvPicPr>
            <a:picLocks noGrp="1" noChangeAspect="1"/>
          </p:cNvPicPr>
          <p:nvPr>
            <p:ph idx="1"/>
          </p:nvPr>
        </p:nvPicPr>
        <p:blipFill>
          <a:blip r:embed="rId2"/>
          <a:stretch>
            <a:fillRect/>
          </a:stretch>
        </p:blipFill>
        <p:spPr>
          <a:xfrm>
            <a:off x="1985962" y="2167731"/>
            <a:ext cx="7882089" cy="3232944"/>
          </a:xfrm>
          <a:prstGeom prst="rect">
            <a:avLst/>
          </a:prstGeom>
        </p:spPr>
      </p:pic>
    </p:spTree>
    <p:extLst>
      <p:ext uri="{BB962C8B-B14F-4D97-AF65-F5344CB8AC3E}">
        <p14:creationId xmlns:p14="http://schemas.microsoft.com/office/powerpoint/2010/main" val="386855014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10515600" cy="571500"/>
          </a:xfrm>
        </p:spPr>
        <p:txBody>
          <a:bodyPr>
            <a:normAutofit fontScale="90000"/>
          </a:bodyPr>
          <a:lstStyle/>
          <a:p>
            <a:r>
              <a:rPr lang="en-US" dirty="0" smtClean="0"/>
              <a:t>Methods in Writer class</a:t>
            </a:r>
            <a:endParaRPr lang="en-US" dirty="0"/>
          </a:p>
        </p:txBody>
      </p:sp>
      <p:pic>
        <p:nvPicPr>
          <p:cNvPr id="5" name="Content Placeholder 4"/>
          <p:cNvPicPr>
            <a:picLocks noGrp="1" noChangeAspect="1"/>
          </p:cNvPicPr>
          <p:nvPr>
            <p:ph idx="1"/>
          </p:nvPr>
        </p:nvPicPr>
        <p:blipFill>
          <a:blip r:embed="rId2"/>
          <a:stretch>
            <a:fillRect/>
          </a:stretch>
        </p:blipFill>
        <p:spPr>
          <a:xfrm>
            <a:off x="-1" y="571501"/>
            <a:ext cx="9015413" cy="3186112"/>
          </a:xfrm>
          <a:prstGeom prst="rect">
            <a:avLst/>
          </a:prstGeom>
        </p:spPr>
      </p:pic>
      <p:pic>
        <p:nvPicPr>
          <p:cNvPr id="6" name="Picture 5"/>
          <p:cNvPicPr>
            <a:picLocks noChangeAspect="1"/>
          </p:cNvPicPr>
          <p:nvPr/>
        </p:nvPicPr>
        <p:blipFill>
          <a:blip r:embed="rId3"/>
          <a:stretch>
            <a:fillRect/>
          </a:stretch>
        </p:blipFill>
        <p:spPr>
          <a:xfrm>
            <a:off x="19050" y="3757613"/>
            <a:ext cx="8996362" cy="3100387"/>
          </a:xfrm>
          <a:prstGeom prst="rect">
            <a:avLst/>
          </a:prstGeom>
        </p:spPr>
      </p:pic>
    </p:spTree>
    <p:extLst>
      <p:ext uri="{BB962C8B-B14F-4D97-AF65-F5344CB8AC3E}">
        <p14:creationId xmlns:p14="http://schemas.microsoft.com/office/powerpoint/2010/main" val="146571251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0" indent="0" algn="ctr">
              <a:buNone/>
            </a:pPr>
            <a:endParaRPr lang="en-US" dirty="0" smtClean="0"/>
          </a:p>
          <a:p>
            <a:pPr marL="0" indent="0" algn="ctr">
              <a:buNone/>
            </a:pPr>
            <a:endParaRPr lang="en-US" dirty="0"/>
          </a:p>
          <a:p>
            <a:pPr marL="0" indent="0" algn="ctr">
              <a:buNone/>
            </a:pPr>
            <a:endParaRPr lang="en-US" dirty="0" smtClean="0"/>
          </a:p>
          <a:p>
            <a:pPr marL="0" indent="0" algn="ctr">
              <a:buNone/>
            </a:pPr>
            <a:r>
              <a:rPr lang="en-US" dirty="0" smtClean="0"/>
              <a:t>Thanks</a:t>
            </a:r>
            <a:endParaRPr lang="en-US" dirty="0"/>
          </a:p>
        </p:txBody>
      </p:sp>
    </p:spTree>
    <p:extLst>
      <p:ext uri="{BB962C8B-B14F-4D97-AF65-F5344CB8AC3E}">
        <p14:creationId xmlns:p14="http://schemas.microsoft.com/office/powerpoint/2010/main" val="3526549113"/>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TotalTime>
  <Words>455</Words>
  <Application>Microsoft Office PowerPoint</Application>
  <PresentationFormat>Widescreen</PresentationFormat>
  <Paragraphs>62</Paragraphs>
  <Slides>19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Wingdings</vt:lpstr>
      <vt:lpstr>Office Theme</vt:lpstr>
      <vt:lpstr>Java I/O - I</vt:lpstr>
      <vt:lpstr>Learning objectives:</vt:lpstr>
      <vt:lpstr>Introduction</vt:lpstr>
      <vt:lpstr>Stream</vt:lpstr>
      <vt:lpstr>InputStream and OutputStream diagram</vt:lpstr>
      <vt:lpstr>Types of Stream</vt:lpstr>
      <vt:lpstr>Byte Stream</vt:lpstr>
      <vt:lpstr>Byte Stream classes</vt:lpstr>
      <vt:lpstr>InputStream class: InputStream class is an abstract class. It is the superclass of all classes representing an input stream of bytes. </vt:lpstr>
      <vt:lpstr>Methods in InputStream class</vt:lpstr>
      <vt:lpstr>PowerPoint Presentation</vt:lpstr>
      <vt:lpstr>Methods in OutputStream class</vt:lpstr>
      <vt:lpstr>Character Stream</vt:lpstr>
      <vt:lpstr>Character Stream classes</vt:lpstr>
      <vt:lpstr>Reader class: Reader is an abstract class that defines Java’s model of streaming character input. It implements the AutoCloseable, Closeable, and Readable interfaces. All of the methods in this class (except for markSupported( )) will throw an IOException on error conditions.. </vt:lpstr>
      <vt:lpstr>Methods in Reader class</vt:lpstr>
      <vt:lpstr>Writer class: Writer is an abstract class that defines streaming character output. It implements the AutoCloseable, Closeable, Flushable, and Appendable interfaces. All of the methods in this class throw an IOException in the case of errors. </vt:lpstr>
      <vt:lpstr>Methods in Writer class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Exception Handling - III</dc:title>
  <dc:creator>kumarpc</dc:creator>
  <cp:lastModifiedBy>Windows User</cp:lastModifiedBy>
  <cp:revision>29</cp:revision>
  <dcterms:created xsi:type="dcterms:W3CDTF">2016-09-26T04:08:28Z</dcterms:created>
  <dcterms:modified xsi:type="dcterms:W3CDTF">2023-06-15T15:49:41Z</dcterms:modified>
</cp:coreProperties>
</file>