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257" r:id="rId3"/>
    <p:sldId id="259" r:id="rId4"/>
    <p:sldId id="260" r:id="rId5"/>
    <p:sldId id="261" r:id="rId6"/>
    <p:sldId id="286" r:id="rId7"/>
    <p:sldId id="258" r:id="rId8"/>
    <p:sldId id="292" r:id="rId9"/>
    <p:sldId id="293" r:id="rId10"/>
    <p:sldId id="288" r:id="rId11"/>
    <p:sldId id="262" r:id="rId12"/>
    <p:sldId id="294" r:id="rId13"/>
    <p:sldId id="295" r:id="rId14"/>
    <p:sldId id="296" r:id="rId15"/>
    <p:sldId id="297" r:id="rId16"/>
    <p:sldId id="298" r:id="rId17"/>
    <p:sldId id="299" r:id="rId18"/>
    <p:sldId id="300" r:id="rId19"/>
    <p:sldId id="301" r:id="rId20"/>
    <p:sldId id="284" r:id="rId21"/>
    <p:sldId id="263" r:id="rId22"/>
    <p:sldId id="265" r:id="rId23"/>
    <p:sldId id="266" r:id="rId24"/>
    <p:sldId id="267" r:id="rId25"/>
    <p:sldId id="272" r:id="rId26"/>
    <p:sldId id="273" r:id="rId27"/>
    <p:sldId id="274" r:id="rId28"/>
    <p:sldId id="275" r:id="rId29"/>
    <p:sldId id="276" r:id="rId30"/>
    <p:sldId id="289" r:id="rId31"/>
    <p:sldId id="290" r:id="rId32"/>
    <p:sldId id="302" r:id="rId33"/>
    <p:sldId id="303" r:id="rId34"/>
    <p:sldId id="304" r:id="rId35"/>
    <p:sldId id="305" r:id="rId36"/>
    <p:sldId id="306" r:id="rId37"/>
    <p:sldId id="307" r:id="rId38"/>
    <p:sldId id="277" r:id="rId39"/>
    <p:sldId id="285" r:id="rId40"/>
    <p:sldId id="287" r:id="rId41"/>
    <p:sldId id="308" r:id="rId42"/>
    <p:sldId id="282" r:id="rId43"/>
    <p:sldId id="278" r:id="rId44"/>
    <p:sldId id="279" r:id="rId45"/>
    <p:sldId id="280" r:id="rId46"/>
    <p:sldId id="309" r:id="rId47"/>
    <p:sldId id="281" r:id="rId48"/>
    <p:sldId id="283" r:id="rId49"/>
    <p:sldId id="310" r:id="rId50"/>
    <p:sldId id="311" r:id="rId51"/>
    <p:sldId id="312" r:id="rId52"/>
    <p:sldId id="313"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434" autoAdjust="0"/>
  </p:normalViewPr>
  <p:slideViewPr>
    <p:cSldViewPr snapToGrid="0">
      <p:cViewPr varScale="1">
        <p:scale>
          <a:sx n="70" d="100"/>
          <a:sy n="70" d="100"/>
        </p:scale>
        <p:origin x="73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0225E3-7A9B-4355-A032-5FAE3A1DC3E3}" type="datetimeFigureOut">
              <a:rPr lang="en-US" smtClean="0"/>
              <a:t>3/2/2026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0DB21A-90DE-443F-87C9-33BB63D51144}" type="slidenum">
              <a:rPr lang="en-US" smtClean="0"/>
              <a:t>‹#›</a:t>
            </a:fld>
            <a:endParaRPr lang="en-US"/>
          </a:p>
        </p:txBody>
      </p:sp>
    </p:spTree>
    <p:extLst>
      <p:ext uri="{BB962C8B-B14F-4D97-AF65-F5344CB8AC3E}">
        <p14:creationId xmlns:p14="http://schemas.microsoft.com/office/powerpoint/2010/main" val="4052908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C0DB21A-90DE-443F-87C9-33BB63D51144}" type="slidenum">
              <a:rPr lang="en-US" smtClean="0"/>
              <a:t>4</a:t>
            </a:fld>
            <a:endParaRPr lang="en-US"/>
          </a:p>
        </p:txBody>
      </p:sp>
    </p:spTree>
    <p:extLst>
      <p:ext uri="{BB962C8B-B14F-4D97-AF65-F5344CB8AC3E}">
        <p14:creationId xmlns:p14="http://schemas.microsoft.com/office/powerpoint/2010/main" val="30043241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F1F1F"/>
                </a:solidFill>
                <a:effectLst/>
                <a:latin typeface="Source Sans Pro" panose="020B0503030403020204" pitchFamily="34" charset="0"/>
              </a:rPr>
              <a:t>Simple linear regression or SLR is a method to help us understand the relationship between two variables. </a:t>
            </a:r>
            <a:endParaRPr lang="en-US" b="0" i="0" dirty="0">
              <a:solidFill>
                <a:srgbClr val="333333"/>
              </a:solidFill>
              <a:effectLst/>
              <a:latin typeface="Helvetica Neue"/>
            </a:endParaRPr>
          </a:p>
          <a:p>
            <a:pPr algn="l"/>
            <a:r>
              <a:rPr lang="en-US" b="0" i="0" dirty="0">
                <a:solidFill>
                  <a:srgbClr val="1F1F1F"/>
                </a:solidFill>
                <a:effectLst/>
                <a:latin typeface="Source Sans Pro" panose="020B0503030403020204" pitchFamily="34" charset="0"/>
              </a:rPr>
              <a:t>The predictor independent variable x and the target-dependent variable y.</a:t>
            </a:r>
          </a:p>
          <a:p>
            <a:pPr algn="l"/>
            <a:endParaRPr lang="en-US" b="0" i="0" dirty="0">
              <a:solidFill>
                <a:srgbClr val="333333"/>
              </a:solidFill>
              <a:effectLst/>
              <a:latin typeface="Helvetica Neue"/>
            </a:endParaRPr>
          </a:p>
          <a:p>
            <a:endParaRPr lang="en-US" dirty="0"/>
          </a:p>
        </p:txBody>
      </p:sp>
      <p:sp>
        <p:nvSpPr>
          <p:cNvPr id="4" name="Slide Number Placeholder 3"/>
          <p:cNvSpPr>
            <a:spLocks noGrp="1"/>
          </p:cNvSpPr>
          <p:nvPr>
            <p:ph type="sldNum" sz="quarter" idx="5"/>
          </p:nvPr>
        </p:nvSpPr>
        <p:spPr/>
        <p:txBody>
          <a:bodyPr/>
          <a:lstStyle/>
          <a:p>
            <a:fld id="{5C0DB21A-90DE-443F-87C9-33BB63D51144}" type="slidenum">
              <a:rPr lang="en-US" smtClean="0"/>
              <a:t>7</a:t>
            </a:fld>
            <a:endParaRPr lang="en-US"/>
          </a:p>
        </p:txBody>
      </p:sp>
    </p:spTree>
    <p:extLst>
      <p:ext uri="{BB962C8B-B14F-4D97-AF65-F5344CB8AC3E}">
        <p14:creationId xmlns:p14="http://schemas.microsoft.com/office/powerpoint/2010/main" val="2060008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F1F1F"/>
                </a:solidFill>
                <a:effectLst/>
                <a:latin typeface="Source Sans Pro" panose="020B0503030403020204" pitchFamily="34" charset="0"/>
              </a:rPr>
              <a:t>We would like to come up with a linear relationship between the variables shown here. </a:t>
            </a:r>
            <a:endParaRPr lang="en-US" b="0" i="0" dirty="0">
              <a:solidFill>
                <a:srgbClr val="333333"/>
              </a:solidFill>
              <a:effectLst/>
              <a:latin typeface="Helvetica Neue"/>
            </a:endParaRPr>
          </a:p>
          <a:p>
            <a:pPr algn="l"/>
            <a:r>
              <a:rPr lang="en-US" b="0" i="0" dirty="0">
                <a:solidFill>
                  <a:srgbClr val="1F1F1F"/>
                </a:solidFill>
                <a:effectLst/>
                <a:latin typeface="Source Sans Pro" panose="020B0503030403020204" pitchFamily="34" charset="0"/>
              </a:rPr>
              <a:t>The parameter b_0 is the intercept.</a:t>
            </a:r>
          </a:p>
          <a:p>
            <a:pPr algn="l"/>
            <a:r>
              <a:rPr lang="en-US" b="0" i="0" dirty="0">
                <a:solidFill>
                  <a:srgbClr val="1F1F1F"/>
                </a:solidFill>
                <a:effectLst/>
                <a:latin typeface="Source Sans Pro" panose="020B0503030403020204" pitchFamily="34" charset="0"/>
              </a:rPr>
              <a:t>The parameter b_1 is the slope. </a:t>
            </a:r>
            <a:endParaRPr lang="en-US" b="0" i="0" dirty="0">
              <a:solidFill>
                <a:srgbClr val="333333"/>
              </a:solidFill>
              <a:effectLst/>
              <a:latin typeface="Helvetica Neue"/>
            </a:endParaRPr>
          </a:p>
          <a:p>
            <a:pPr algn="l"/>
            <a:r>
              <a:rPr lang="en-US" b="0" i="0" dirty="0">
                <a:solidFill>
                  <a:srgbClr val="1F1F1F"/>
                </a:solidFill>
                <a:effectLst/>
                <a:latin typeface="Source Sans Pro" panose="020B0503030403020204" pitchFamily="34" charset="0"/>
              </a:rPr>
              <a:t>When we fit or train the model,  we will come up with these parameters.  </a:t>
            </a:r>
            <a:endParaRPr lang="en-US" b="0" i="0" dirty="0">
              <a:solidFill>
                <a:srgbClr val="333333"/>
              </a:solidFill>
              <a:effectLst/>
              <a:latin typeface="Helvetica Neue"/>
            </a:endParaRPr>
          </a:p>
          <a:p>
            <a:pPr algn="l"/>
            <a:r>
              <a:rPr lang="en-US" b="0" i="0" dirty="0">
                <a:solidFill>
                  <a:srgbClr val="1F1F1F"/>
                </a:solidFill>
                <a:effectLst/>
                <a:latin typeface="Source Sans Pro" panose="020B0503030403020204" pitchFamily="34" charset="0"/>
              </a:rPr>
              <a:t>Let's clarify the prediction step.  It's hard to figure out how much a car costs, </a:t>
            </a:r>
            <a:endParaRPr lang="en-US" b="0" i="0" dirty="0">
              <a:solidFill>
                <a:srgbClr val="333333"/>
              </a:solidFill>
              <a:effectLst/>
              <a:latin typeface="Helvetica Neue"/>
            </a:endParaRPr>
          </a:p>
          <a:p>
            <a:pPr algn="l"/>
            <a:r>
              <a:rPr lang="en-US" b="0" i="0" dirty="0">
                <a:solidFill>
                  <a:srgbClr val="1F1F1F"/>
                </a:solidFill>
                <a:effectLst/>
                <a:latin typeface="Source Sans Pro" panose="020B0503030403020204" pitchFamily="34" charset="0"/>
              </a:rPr>
              <a:t>but the highway miles per gallon is in the owner's manual. </a:t>
            </a:r>
            <a:endParaRPr lang="en-US" b="0" i="0" dirty="0">
              <a:solidFill>
                <a:srgbClr val="333333"/>
              </a:solidFill>
              <a:effectLst/>
              <a:latin typeface="Helvetica Neue"/>
            </a:endParaRPr>
          </a:p>
          <a:p>
            <a:pPr algn="l"/>
            <a:r>
              <a:rPr lang="en-US" b="0" i="0" dirty="0">
                <a:solidFill>
                  <a:srgbClr val="1F1F1F"/>
                </a:solidFill>
                <a:effectLst/>
                <a:latin typeface="Source Sans Pro" panose="020B0503030403020204" pitchFamily="34" charset="0"/>
              </a:rPr>
              <a:t>If we assume there is a linear relationship between these variables, we can use this relationship to formulate a model to determine the price of the car. </a:t>
            </a:r>
            <a:endParaRPr lang="en-US" b="0" i="0" dirty="0">
              <a:solidFill>
                <a:srgbClr val="333333"/>
              </a:solidFill>
              <a:effectLst/>
              <a:latin typeface="Helvetica Neue"/>
            </a:endParaRPr>
          </a:p>
          <a:p>
            <a:endParaRPr lang="en-US" dirty="0"/>
          </a:p>
        </p:txBody>
      </p:sp>
      <p:sp>
        <p:nvSpPr>
          <p:cNvPr id="4" name="Slide Number Placeholder 3"/>
          <p:cNvSpPr>
            <a:spLocks noGrp="1"/>
          </p:cNvSpPr>
          <p:nvPr>
            <p:ph type="sldNum" sz="quarter" idx="5"/>
          </p:nvPr>
        </p:nvSpPr>
        <p:spPr/>
        <p:txBody>
          <a:bodyPr/>
          <a:lstStyle/>
          <a:p>
            <a:fld id="{5C0DB21A-90DE-443F-87C9-33BB63D51144}" type="slidenum">
              <a:rPr lang="en-US" smtClean="0"/>
              <a:t>11</a:t>
            </a:fld>
            <a:endParaRPr lang="en-US"/>
          </a:p>
        </p:txBody>
      </p:sp>
    </p:spTree>
    <p:extLst>
      <p:ext uri="{BB962C8B-B14F-4D97-AF65-F5344CB8AC3E}">
        <p14:creationId xmlns:p14="http://schemas.microsoft.com/office/powerpoint/2010/main" val="10069603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0DB21A-90DE-443F-87C9-33BB63D51144}" type="slidenum">
              <a:rPr lang="en-US" smtClean="0"/>
              <a:t>18</a:t>
            </a:fld>
            <a:endParaRPr lang="en-US"/>
          </a:p>
        </p:txBody>
      </p:sp>
    </p:spTree>
    <p:extLst>
      <p:ext uri="{BB962C8B-B14F-4D97-AF65-F5344CB8AC3E}">
        <p14:creationId xmlns:p14="http://schemas.microsoft.com/office/powerpoint/2010/main" val="3234635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F1F1F"/>
                </a:solidFill>
                <a:effectLst/>
                <a:latin typeface="Source Sans Pro" panose="020B0503030403020204" pitchFamily="34" charset="0"/>
              </a:rPr>
              <a:t>If the highway miles per gallon is 20, we can input this value into the model to obtain a prediction of $22,000. </a:t>
            </a:r>
            <a:endParaRPr lang="en-US" b="0" i="0" dirty="0">
              <a:solidFill>
                <a:srgbClr val="333333"/>
              </a:solidFill>
              <a:effectLst/>
              <a:latin typeface="Helvetica Neue"/>
            </a:endParaRPr>
          </a:p>
          <a:p>
            <a:pPr algn="l"/>
            <a:r>
              <a:rPr lang="en-US" b="0" i="0" dirty="0">
                <a:solidFill>
                  <a:srgbClr val="1F1F1F"/>
                </a:solidFill>
                <a:effectLst/>
                <a:latin typeface="Source Sans Pro" panose="020B0503030403020204" pitchFamily="34" charset="0"/>
              </a:rPr>
              <a:t>In order to determine the line,  we take data points from our data set marked in red here. We then use these training points to fit our model. </a:t>
            </a:r>
            <a:endParaRPr lang="en-US" b="0" i="0" dirty="0">
              <a:solidFill>
                <a:srgbClr val="333333"/>
              </a:solidFill>
              <a:effectLst/>
              <a:latin typeface="Helvetica Neue"/>
            </a:endParaRPr>
          </a:p>
          <a:p>
            <a:endParaRPr lang="en-US" dirty="0"/>
          </a:p>
        </p:txBody>
      </p:sp>
      <p:sp>
        <p:nvSpPr>
          <p:cNvPr id="4" name="Slide Number Placeholder 3"/>
          <p:cNvSpPr>
            <a:spLocks noGrp="1"/>
          </p:cNvSpPr>
          <p:nvPr>
            <p:ph type="sldNum" sz="quarter" idx="5"/>
          </p:nvPr>
        </p:nvSpPr>
        <p:spPr/>
        <p:txBody>
          <a:bodyPr/>
          <a:lstStyle/>
          <a:p>
            <a:fld id="{5C0DB21A-90DE-443F-87C9-33BB63D51144}" type="slidenum">
              <a:rPr lang="en-US" smtClean="0"/>
              <a:t>21</a:t>
            </a:fld>
            <a:endParaRPr lang="en-US"/>
          </a:p>
        </p:txBody>
      </p:sp>
    </p:spTree>
    <p:extLst>
      <p:ext uri="{BB962C8B-B14F-4D97-AF65-F5344CB8AC3E}">
        <p14:creationId xmlns:p14="http://schemas.microsoft.com/office/powerpoint/2010/main" val="1906422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F1F1F"/>
                </a:solidFill>
                <a:effectLst/>
                <a:latin typeface="Source Sans Pro" panose="020B0503030403020204" pitchFamily="34" charset="0"/>
              </a:rPr>
              <a:t>For example, make or how old the car is. </a:t>
            </a:r>
            <a:endParaRPr lang="en-US" b="0" i="0" dirty="0">
              <a:solidFill>
                <a:srgbClr val="333333"/>
              </a:solidFill>
              <a:effectLst/>
              <a:latin typeface="Helvetica Neue"/>
            </a:endParaRPr>
          </a:p>
          <a:p>
            <a:pPr algn="l"/>
            <a:r>
              <a:rPr lang="en-US" b="0" i="0" dirty="0">
                <a:solidFill>
                  <a:srgbClr val="1F1F1F"/>
                </a:solidFill>
                <a:effectLst/>
                <a:latin typeface="Source Sans Pro" panose="020B0503030403020204" pitchFamily="34" charset="0"/>
              </a:rPr>
              <a:t>In this model, this uncertainty is taken into account by assuming a small random value is added to the point on the line. </a:t>
            </a:r>
            <a:endParaRPr lang="en-US" b="0" i="0" dirty="0">
              <a:solidFill>
                <a:srgbClr val="333333"/>
              </a:solidFill>
              <a:effectLst/>
              <a:latin typeface="Helvetica Neue"/>
            </a:endParaRPr>
          </a:p>
          <a:p>
            <a:pPr algn="l"/>
            <a:r>
              <a:rPr lang="en-US" b="0" i="0" dirty="0">
                <a:solidFill>
                  <a:srgbClr val="1F1F1F"/>
                </a:solidFill>
                <a:effectLst/>
                <a:latin typeface="Source Sans Pro" panose="020B0503030403020204" pitchFamily="34" charset="0"/>
              </a:rPr>
              <a:t>This is called noise. </a:t>
            </a:r>
            <a:endParaRPr lang="en-US" b="0" i="0" dirty="0">
              <a:solidFill>
                <a:srgbClr val="333333"/>
              </a:solidFill>
              <a:effectLst/>
              <a:latin typeface="Helvetica Neue"/>
            </a:endParaRPr>
          </a:p>
          <a:p>
            <a:pPr algn="l"/>
            <a:r>
              <a:rPr lang="en-US" b="0" i="0" dirty="0">
                <a:solidFill>
                  <a:srgbClr val="1F1F1F"/>
                </a:solidFill>
                <a:effectLst/>
                <a:latin typeface="Source Sans Pro" panose="020B0503030403020204" pitchFamily="34" charset="0"/>
              </a:rPr>
              <a:t>The figure on the left shows the distribution of the noise. </a:t>
            </a:r>
            <a:endParaRPr lang="en-US" b="0" i="0" dirty="0">
              <a:solidFill>
                <a:srgbClr val="333333"/>
              </a:solidFill>
              <a:effectLst/>
              <a:latin typeface="Helvetica Neue"/>
            </a:endParaRPr>
          </a:p>
          <a:p>
            <a:pPr algn="l"/>
            <a:r>
              <a:rPr lang="en-US" b="0" i="0" dirty="0">
                <a:solidFill>
                  <a:srgbClr val="1F1F1F"/>
                </a:solidFill>
                <a:effectLst/>
                <a:latin typeface="Source Sans Pro" panose="020B0503030403020204" pitchFamily="34" charset="0"/>
              </a:rPr>
              <a:t>The vertical axis shows the value added and the horizontal axis illustrates the probability that the value will be added. </a:t>
            </a:r>
            <a:endParaRPr lang="en-US" b="0" i="0" dirty="0">
              <a:solidFill>
                <a:srgbClr val="333333"/>
              </a:solidFill>
              <a:effectLst/>
              <a:latin typeface="Helvetica Neue"/>
            </a:endParaRPr>
          </a:p>
          <a:p>
            <a:pPr algn="l"/>
            <a:r>
              <a:rPr lang="en-US" b="0" i="0" dirty="0">
                <a:solidFill>
                  <a:srgbClr val="1F1F1F"/>
                </a:solidFill>
                <a:effectLst/>
                <a:latin typeface="Source Sans Pro" panose="020B0503030403020204" pitchFamily="34" charset="0"/>
              </a:rPr>
              <a:t>Usually a small positive value is added or a small negative value. </a:t>
            </a:r>
            <a:endParaRPr lang="en-US" b="0" i="0" dirty="0">
              <a:solidFill>
                <a:srgbClr val="333333"/>
              </a:solidFill>
              <a:effectLst/>
              <a:latin typeface="Helvetica Neue"/>
            </a:endParaRPr>
          </a:p>
          <a:p>
            <a:pPr algn="l"/>
            <a:r>
              <a:rPr lang="en-US" b="0" i="0" dirty="0">
                <a:solidFill>
                  <a:srgbClr val="1F1F1F"/>
                </a:solidFill>
                <a:effectLst/>
                <a:latin typeface="Source Sans Pro" panose="020B0503030403020204" pitchFamily="34" charset="0"/>
              </a:rPr>
              <a:t>Sometimes, large values are added. But for the most part, the values added are near zero. </a:t>
            </a:r>
            <a:endParaRPr lang="en-US" b="0" i="0" dirty="0">
              <a:solidFill>
                <a:srgbClr val="333333"/>
              </a:solidFill>
              <a:effectLst/>
              <a:latin typeface="Helvetica Neue"/>
            </a:endParaRPr>
          </a:p>
          <a:p>
            <a:pPr algn="l"/>
            <a:r>
              <a:rPr lang="en-US" b="0" i="0" dirty="0">
                <a:solidFill>
                  <a:srgbClr val="1F1F1F"/>
                </a:solidFill>
                <a:effectLst/>
                <a:latin typeface="Source Sans Pro" panose="020B0503030403020204" pitchFamily="34" charset="0"/>
              </a:rPr>
              <a:t>We can summarize the process like this.  We have a set of training points. </a:t>
            </a:r>
            <a:endParaRPr lang="en-US" b="0" i="0" dirty="0">
              <a:solidFill>
                <a:srgbClr val="333333"/>
              </a:solidFill>
              <a:effectLst/>
              <a:latin typeface="Helvetica Neue"/>
            </a:endParaRPr>
          </a:p>
          <a:p>
            <a:pPr algn="l"/>
            <a:r>
              <a:rPr lang="en-US" b="0" i="0" dirty="0">
                <a:solidFill>
                  <a:srgbClr val="1F1F1F"/>
                </a:solidFill>
                <a:effectLst/>
                <a:latin typeface="Source Sans Pro" panose="020B0503030403020204" pitchFamily="34" charset="0"/>
              </a:rPr>
              <a:t>We use these training points to fit or train the model and get parameters. </a:t>
            </a:r>
            <a:endParaRPr lang="en-US" b="0" i="0" dirty="0">
              <a:solidFill>
                <a:srgbClr val="333333"/>
              </a:solidFill>
              <a:effectLst/>
              <a:latin typeface="Helvetica Neue"/>
            </a:endParaRPr>
          </a:p>
          <a:p>
            <a:pPr algn="l"/>
            <a:r>
              <a:rPr lang="en-US" b="0" i="0" dirty="0">
                <a:solidFill>
                  <a:srgbClr val="1F1F1F"/>
                </a:solidFill>
                <a:effectLst/>
                <a:latin typeface="Source Sans Pro" panose="020B0503030403020204" pitchFamily="34" charset="0"/>
              </a:rPr>
              <a:t>We then use these parameters in the model. We now have a model. </a:t>
            </a:r>
          </a:p>
          <a:p>
            <a:pPr algn="l"/>
            <a:endParaRPr lang="en-US" b="0" i="0" dirty="0">
              <a:solidFill>
                <a:srgbClr val="333333"/>
              </a:solidFill>
              <a:effectLst/>
              <a:latin typeface="Helvetica Neue"/>
            </a:endParaRPr>
          </a:p>
          <a:p>
            <a:pPr algn="l"/>
            <a:r>
              <a:rPr lang="en-US" b="0" i="0" dirty="0">
                <a:solidFill>
                  <a:srgbClr val="1F1F1F"/>
                </a:solidFill>
                <a:effectLst/>
                <a:latin typeface="Source Sans Pro" panose="020B0503030403020204" pitchFamily="34" charset="0"/>
              </a:rPr>
              <a:t>We use the hat on the y to denote the model is an estimate.  We can use this model to predict values that we haven't seen. </a:t>
            </a:r>
            <a:endParaRPr lang="en-US" b="0" i="0" dirty="0">
              <a:solidFill>
                <a:srgbClr val="333333"/>
              </a:solidFill>
              <a:effectLst/>
              <a:latin typeface="Helvetica Neue"/>
            </a:endParaRPr>
          </a:p>
          <a:p>
            <a:pPr algn="l"/>
            <a:r>
              <a:rPr lang="en-US" b="0" i="0" dirty="0">
                <a:solidFill>
                  <a:srgbClr val="1F1F1F"/>
                </a:solidFill>
                <a:effectLst/>
                <a:latin typeface="Source Sans Pro" panose="020B0503030403020204" pitchFamily="34" charset="0"/>
              </a:rPr>
              <a:t>For example, we have no car with 20 highway miles per gallon.  We can use our model to make a prediction for the price of this car. </a:t>
            </a:r>
            <a:endParaRPr lang="en-US" b="0" i="0" dirty="0">
              <a:solidFill>
                <a:srgbClr val="333333"/>
              </a:solidFill>
              <a:effectLst/>
              <a:latin typeface="Helvetica Neue"/>
            </a:endParaRPr>
          </a:p>
          <a:p>
            <a:pPr algn="l"/>
            <a:r>
              <a:rPr lang="en-US" b="0" i="0" dirty="0">
                <a:solidFill>
                  <a:srgbClr val="1F1F1F"/>
                </a:solidFill>
                <a:effectLst/>
                <a:latin typeface="Source Sans Pro" panose="020B0503030403020204" pitchFamily="34" charset="0"/>
              </a:rPr>
              <a:t>But don't forget our model is not always correct. We can see this by comparing the predicted value to the actual value. </a:t>
            </a:r>
            <a:endParaRPr lang="en-US" b="0" i="0" dirty="0">
              <a:solidFill>
                <a:srgbClr val="333333"/>
              </a:solidFill>
              <a:effectLst/>
              <a:latin typeface="Helvetica Neue"/>
            </a:endParaRPr>
          </a:p>
          <a:p>
            <a:pPr algn="l"/>
            <a:r>
              <a:rPr lang="en-US" b="0" i="0" dirty="0">
                <a:solidFill>
                  <a:srgbClr val="1F1F1F"/>
                </a:solidFill>
                <a:effectLst/>
                <a:latin typeface="Source Sans Pro" panose="020B0503030403020204" pitchFamily="34" charset="0"/>
              </a:rPr>
              <a:t>We have a sample for 10 highway miles per gallon but the predictive value does not match the actual value. </a:t>
            </a:r>
            <a:endParaRPr lang="en-US" b="0" i="0" dirty="0">
              <a:solidFill>
                <a:srgbClr val="333333"/>
              </a:solidFill>
              <a:effectLst/>
              <a:latin typeface="Helvetica Neue"/>
            </a:endParaRPr>
          </a:p>
          <a:p>
            <a:pPr algn="l"/>
            <a:r>
              <a:rPr lang="en-US" b="0" i="0" dirty="0">
                <a:solidFill>
                  <a:srgbClr val="1F1F1F"/>
                </a:solidFill>
                <a:effectLst/>
                <a:latin typeface="Source Sans Pro" panose="020B0503030403020204" pitchFamily="34" charset="0"/>
              </a:rPr>
              <a:t>If the linear assumption is correct, this error is due to the noise. But there can be other reasons</a:t>
            </a:r>
            <a:endParaRPr lang="en-US" b="0" i="0" dirty="0">
              <a:solidFill>
                <a:srgbClr val="333333"/>
              </a:solidFill>
              <a:effectLst/>
              <a:latin typeface="Helvetica Neue"/>
            </a:endParaRPr>
          </a:p>
          <a:p>
            <a:endParaRPr lang="en-US" dirty="0"/>
          </a:p>
        </p:txBody>
      </p:sp>
      <p:sp>
        <p:nvSpPr>
          <p:cNvPr id="4" name="Slide Number Placeholder 3"/>
          <p:cNvSpPr>
            <a:spLocks noGrp="1"/>
          </p:cNvSpPr>
          <p:nvPr>
            <p:ph type="sldNum" sz="quarter" idx="5"/>
          </p:nvPr>
        </p:nvSpPr>
        <p:spPr/>
        <p:txBody>
          <a:bodyPr/>
          <a:lstStyle/>
          <a:p>
            <a:fld id="{5C0DB21A-90DE-443F-87C9-33BB63D51144}" type="slidenum">
              <a:rPr lang="en-US" smtClean="0"/>
              <a:t>26</a:t>
            </a:fld>
            <a:endParaRPr lang="en-US"/>
          </a:p>
        </p:txBody>
      </p:sp>
    </p:spTree>
    <p:extLst>
      <p:ext uri="{BB962C8B-B14F-4D97-AF65-F5344CB8AC3E}">
        <p14:creationId xmlns:p14="http://schemas.microsoft.com/office/powerpoint/2010/main" val="17836419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regression line on the graph visually displays the same information. If you move to the right along the x-axis by one meter, the line increases by 106.5 kilograms.</a:t>
            </a:r>
            <a:endParaRPr lang="en-US" dirty="0"/>
          </a:p>
        </p:txBody>
      </p:sp>
      <p:sp>
        <p:nvSpPr>
          <p:cNvPr id="4" name="Slide Number Placeholder 3"/>
          <p:cNvSpPr>
            <a:spLocks noGrp="1"/>
          </p:cNvSpPr>
          <p:nvPr>
            <p:ph type="sldNum" sz="quarter" idx="10"/>
          </p:nvPr>
        </p:nvSpPr>
        <p:spPr/>
        <p:txBody>
          <a:bodyPr/>
          <a:lstStyle/>
          <a:p>
            <a:fld id="{5C0DB21A-90DE-443F-87C9-33BB63D51144}" type="slidenum">
              <a:rPr lang="en-US" smtClean="0"/>
              <a:t>31</a:t>
            </a:fld>
            <a:endParaRPr lang="en-US"/>
          </a:p>
        </p:txBody>
      </p:sp>
    </p:spTree>
    <p:extLst>
      <p:ext uri="{BB962C8B-B14F-4D97-AF65-F5344CB8AC3E}">
        <p14:creationId xmlns:p14="http://schemas.microsoft.com/office/powerpoint/2010/main" val="1504346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0DB21A-90DE-443F-87C9-33BB63D51144}" type="slidenum">
              <a:rPr lang="en-US" smtClean="0"/>
              <a:t>34</a:t>
            </a:fld>
            <a:endParaRPr lang="en-US"/>
          </a:p>
        </p:txBody>
      </p:sp>
    </p:spTree>
    <p:extLst>
      <p:ext uri="{BB962C8B-B14F-4D97-AF65-F5344CB8AC3E}">
        <p14:creationId xmlns:p14="http://schemas.microsoft.com/office/powerpoint/2010/main" val="2391580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0DB21A-90DE-443F-87C9-33BB63D51144}" type="slidenum">
              <a:rPr lang="en-US" smtClean="0"/>
              <a:t>35</a:t>
            </a:fld>
            <a:endParaRPr lang="en-US"/>
          </a:p>
        </p:txBody>
      </p:sp>
    </p:spTree>
    <p:extLst>
      <p:ext uri="{BB962C8B-B14F-4D97-AF65-F5344CB8AC3E}">
        <p14:creationId xmlns:p14="http://schemas.microsoft.com/office/powerpoint/2010/main" val="1522448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E55AD1-A740-5088-EF56-2B7F5FF278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ACF3AA7B-C5A9-DF35-CA9E-96299D033B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F7459DE1-5151-0CC5-ACCA-E3539CC4CC57}"/>
              </a:ext>
            </a:extLst>
          </p:cNvPr>
          <p:cNvSpPr>
            <a:spLocks noGrp="1"/>
          </p:cNvSpPr>
          <p:nvPr>
            <p:ph type="dt" sz="half" idx="10"/>
          </p:nvPr>
        </p:nvSpPr>
        <p:spPr/>
        <p:txBody>
          <a:bodyPr/>
          <a:lstStyle/>
          <a:p>
            <a:fld id="{7783EC29-0B13-4DF9-9295-325DC453F64B}" type="datetimeFigureOut">
              <a:rPr lang="en-US" smtClean="0"/>
              <a:t>3/2/2026</a:t>
            </a:fld>
            <a:endParaRPr lang="en-US"/>
          </a:p>
        </p:txBody>
      </p:sp>
      <p:sp>
        <p:nvSpPr>
          <p:cNvPr id="5" name="Footer Placeholder 4">
            <a:extLst>
              <a:ext uri="{FF2B5EF4-FFF2-40B4-BE49-F238E27FC236}">
                <a16:creationId xmlns:a16="http://schemas.microsoft.com/office/drawing/2014/main" xmlns="" id="{B40D3988-B89A-8899-0C65-E047DCAA26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D4208C92-B3B1-7E59-6C8F-FECD4CDDC327}"/>
              </a:ext>
            </a:extLst>
          </p:cNvPr>
          <p:cNvSpPr>
            <a:spLocks noGrp="1"/>
          </p:cNvSpPr>
          <p:nvPr>
            <p:ph type="sldNum" sz="quarter" idx="12"/>
          </p:nvPr>
        </p:nvSpPr>
        <p:spPr/>
        <p:txBody>
          <a:bodyPr/>
          <a:lstStyle/>
          <a:p>
            <a:fld id="{539D8562-43AC-46AD-80B4-DB9C4B52FF51}" type="slidenum">
              <a:rPr lang="en-US" smtClean="0"/>
              <a:t>‹#›</a:t>
            </a:fld>
            <a:endParaRPr lang="en-US"/>
          </a:p>
        </p:txBody>
      </p:sp>
    </p:spTree>
    <p:extLst>
      <p:ext uri="{BB962C8B-B14F-4D97-AF65-F5344CB8AC3E}">
        <p14:creationId xmlns:p14="http://schemas.microsoft.com/office/powerpoint/2010/main" val="571073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B2FFA8-CF92-3724-9B58-03CB4B2807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1CDFC3F7-7B99-0CFB-AB98-C0E99DA396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9903EC2F-87B2-FC43-A54B-656ADD5E3A41}"/>
              </a:ext>
            </a:extLst>
          </p:cNvPr>
          <p:cNvSpPr>
            <a:spLocks noGrp="1"/>
          </p:cNvSpPr>
          <p:nvPr>
            <p:ph type="dt" sz="half" idx="10"/>
          </p:nvPr>
        </p:nvSpPr>
        <p:spPr/>
        <p:txBody>
          <a:bodyPr/>
          <a:lstStyle/>
          <a:p>
            <a:fld id="{7783EC29-0B13-4DF9-9295-325DC453F64B}" type="datetimeFigureOut">
              <a:rPr lang="en-US" smtClean="0"/>
              <a:t>3/2/2026</a:t>
            </a:fld>
            <a:endParaRPr lang="en-US"/>
          </a:p>
        </p:txBody>
      </p:sp>
      <p:sp>
        <p:nvSpPr>
          <p:cNvPr id="5" name="Footer Placeholder 4">
            <a:extLst>
              <a:ext uri="{FF2B5EF4-FFF2-40B4-BE49-F238E27FC236}">
                <a16:creationId xmlns:a16="http://schemas.microsoft.com/office/drawing/2014/main" xmlns="" id="{E80D38EE-2257-E2BE-A2B7-AB0E8CED76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207D08AC-FAEA-2FA8-5359-75625B96367D}"/>
              </a:ext>
            </a:extLst>
          </p:cNvPr>
          <p:cNvSpPr>
            <a:spLocks noGrp="1"/>
          </p:cNvSpPr>
          <p:nvPr>
            <p:ph type="sldNum" sz="quarter" idx="12"/>
          </p:nvPr>
        </p:nvSpPr>
        <p:spPr/>
        <p:txBody>
          <a:bodyPr/>
          <a:lstStyle/>
          <a:p>
            <a:fld id="{539D8562-43AC-46AD-80B4-DB9C4B52FF51}" type="slidenum">
              <a:rPr lang="en-US" smtClean="0"/>
              <a:t>‹#›</a:t>
            </a:fld>
            <a:endParaRPr lang="en-US"/>
          </a:p>
        </p:txBody>
      </p:sp>
    </p:spTree>
    <p:extLst>
      <p:ext uri="{BB962C8B-B14F-4D97-AF65-F5344CB8AC3E}">
        <p14:creationId xmlns:p14="http://schemas.microsoft.com/office/powerpoint/2010/main" val="2422595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AE9395-F336-9E7D-1185-009FC19092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89F233D9-1D54-78AE-EBC8-28D5B4275E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DD9994E4-FD1D-C5B0-1E65-631793BCE5D7}"/>
              </a:ext>
            </a:extLst>
          </p:cNvPr>
          <p:cNvSpPr>
            <a:spLocks noGrp="1"/>
          </p:cNvSpPr>
          <p:nvPr>
            <p:ph type="dt" sz="half" idx="10"/>
          </p:nvPr>
        </p:nvSpPr>
        <p:spPr/>
        <p:txBody>
          <a:bodyPr/>
          <a:lstStyle/>
          <a:p>
            <a:fld id="{7783EC29-0B13-4DF9-9295-325DC453F64B}" type="datetimeFigureOut">
              <a:rPr lang="en-US" smtClean="0"/>
              <a:t>3/2/2026</a:t>
            </a:fld>
            <a:endParaRPr lang="en-US"/>
          </a:p>
        </p:txBody>
      </p:sp>
      <p:sp>
        <p:nvSpPr>
          <p:cNvPr id="5" name="Footer Placeholder 4">
            <a:extLst>
              <a:ext uri="{FF2B5EF4-FFF2-40B4-BE49-F238E27FC236}">
                <a16:creationId xmlns:a16="http://schemas.microsoft.com/office/drawing/2014/main" xmlns="" id="{364AFC68-CE52-2E3B-3778-2F9FEE36C5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3EBEA195-D4E1-E29B-ED6C-B44629DEA541}"/>
              </a:ext>
            </a:extLst>
          </p:cNvPr>
          <p:cNvSpPr>
            <a:spLocks noGrp="1"/>
          </p:cNvSpPr>
          <p:nvPr>
            <p:ph type="sldNum" sz="quarter" idx="12"/>
          </p:nvPr>
        </p:nvSpPr>
        <p:spPr/>
        <p:txBody>
          <a:bodyPr/>
          <a:lstStyle/>
          <a:p>
            <a:fld id="{539D8562-43AC-46AD-80B4-DB9C4B52FF51}" type="slidenum">
              <a:rPr lang="en-US" smtClean="0"/>
              <a:t>‹#›</a:t>
            </a:fld>
            <a:endParaRPr lang="en-US"/>
          </a:p>
        </p:txBody>
      </p:sp>
    </p:spTree>
    <p:extLst>
      <p:ext uri="{BB962C8B-B14F-4D97-AF65-F5344CB8AC3E}">
        <p14:creationId xmlns:p14="http://schemas.microsoft.com/office/powerpoint/2010/main" val="5282968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DC222E4-3B63-DB53-901A-7F178F941B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54962F94-7366-397C-6297-5A09F101C8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46F3BE6B-C79D-E717-858D-53AEF34352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C1093CD7-A929-2269-2660-AD51127B6DE0}"/>
              </a:ext>
            </a:extLst>
          </p:cNvPr>
          <p:cNvSpPr>
            <a:spLocks noGrp="1"/>
          </p:cNvSpPr>
          <p:nvPr>
            <p:ph type="dt" sz="half" idx="10"/>
          </p:nvPr>
        </p:nvSpPr>
        <p:spPr/>
        <p:txBody>
          <a:bodyPr/>
          <a:lstStyle/>
          <a:p>
            <a:fld id="{7783EC29-0B13-4DF9-9295-325DC453F64B}" type="datetimeFigureOut">
              <a:rPr lang="en-US" smtClean="0"/>
              <a:t>3/2/2026</a:t>
            </a:fld>
            <a:endParaRPr lang="en-US"/>
          </a:p>
        </p:txBody>
      </p:sp>
      <p:sp>
        <p:nvSpPr>
          <p:cNvPr id="6" name="Footer Placeholder 5">
            <a:extLst>
              <a:ext uri="{FF2B5EF4-FFF2-40B4-BE49-F238E27FC236}">
                <a16:creationId xmlns:a16="http://schemas.microsoft.com/office/drawing/2014/main" xmlns="" id="{C7FFC07E-F2E5-8051-F1A8-A1C834F2D5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DB17A4CE-DC8A-2FD2-6038-6D56F69C4FB8}"/>
              </a:ext>
            </a:extLst>
          </p:cNvPr>
          <p:cNvSpPr>
            <a:spLocks noGrp="1"/>
          </p:cNvSpPr>
          <p:nvPr>
            <p:ph type="sldNum" sz="quarter" idx="12"/>
          </p:nvPr>
        </p:nvSpPr>
        <p:spPr/>
        <p:txBody>
          <a:bodyPr/>
          <a:lstStyle/>
          <a:p>
            <a:fld id="{539D8562-43AC-46AD-80B4-DB9C4B52FF51}" type="slidenum">
              <a:rPr lang="en-US" smtClean="0"/>
              <a:t>‹#›</a:t>
            </a:fld>
            <a:endParaRPr lang="en-US"/>
          </a:p>
        </p:txBody>
      </p:sp>
    </p:spTree>
    <p:extLst>
      <p:ext uri="{BB962C8B-B14F-4D97-AF65-F5344CB8AC3E}">
        <p14:creationId xmlns:p14="http://schemas.microsoft.com/office/powerpoint/2010/main" val="3070545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556712-5162-E502-07E3-4908162F519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808D5568-4E46-39F3-F8CF-1BF116870A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5BA6DE6B-842D-A29E-EF5A-DE423111EA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8B622126-10C3-BF51-13AC-A4B7122651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AD23E108-4C5A-D6AD-DCB8-9B2B677DFE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D6CBF29C-2A37-5884-FFA2-DB0232EBF993}"/>
              </a:ext>
            </a:extLst>
          </p:cNvPr>
          <p:cNvSpPr>
            <a:spLocks noGrp="1"/>
          </p:cNvSpPr>
          <p:nvPr>
            <p:ph type="dt" sz="half" idx="10"/>
          </p:nvPr>
        </p:nvSpPr>
        <p:spPr/>
        <p:txBody>
          <a:bodyPr/>
          <a:lstStyle/>
          <a:p>
            <a:fld id="{7783EC29-0B13-4DF9-9295-325DC453F64B}" type="datetimeFigureOut">
              <a:rPr lang="en-US" smtClean="0"/>
              <a:t>3/2/2026</a:t>
            </a:fld>
            <a:endParaRPr lang="en-US"/>
          </a:p>
        </p:txBody>
      </p:sp>
      <p:sp>
        <p:nvSpPr>
          <p:cNvPr id="8" name="Footer Placeholder 7">
            <a:extLst>
              <a:ext uri="{FF2B5EF4-FFF2-40B4-BE49-F238E27FC236}">
                <a16:creationId xmlns:a16="http://schemas.microsoft.com/office/drawing/2014/main" xmlns="" id="{78FA9CCA-ADEE-088A-49C5-A6CE2CA0948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9F7CC40E-648A-F915-BDEF-4DA3E34AC2E5}"/>
              </a:ext>
            </a:extLst>
          </p:cNvPr>
          <p:cNvSpPr>
            <a:spLocks noGrp="1"/>
          </p:cNvSpPr>
          <p:nvPr>
            <p:ph type="sldNum" sz="quarter" idx="12"/>
          </p:nvPr>
        </p:nvSpPr>
        <p:spPr/>
        <p:txBody>
          <a:bodyPr/>
          <a:lstStyle/>
          <a:p>
            <a:fld id="{539D8562-43AC-46AD-80B4-DB9C4B52FF51}" type="slidenum">
              <a:rPr lang="en-US" smtClean="0"/>
              <a:t>‹#›</a:t>
            </a:fld>
            <a:endParaRPr lang="en-US"/>
          </a:p>
        </p:txBody>
      </p:sp>
    </p:spTree>
    <p:extLst>
      <p:ext uri="{BB962C8B-B14F-4D97-AF65-F5344CB8AC3E}">
        <p14:creationId xmlns:p14="http://schemas.microsoft.com/office/powerpoint/2010/main" val="3450257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4FD46D-CF97-1AFF-3DFA-F439ABC2ED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0D49ECD5-563F-00FE-64AC-864334A2E709}"/>
              </a:ext>
            </a:extLst>
          </p:cNvPr>
          <p:cNvSpPr>
            <a:spLocks noGrp="1"/>
          </p:cNvSpPr>
          <p:nvPr>
            <p:ph type="dt" sz="half" idx="10"/>
          </p:nvPr>
        </p:nvSpPr>
        <p:spPr/>
        <p:txBody>
          <a:bodyPr/>
          <a:lstStyle/>
          <a:p>
            <a:fld id="{7783EC29-0B13-4DF9-9295-325DC453F64B}" type="datetimeFigureOut">
              <a:rPr lang="en-US" smtClean="0"/>
              <a:t>3/2/2026</a:t>
            </a:fld>
            <a:endParaRPr lang="en-US"/>
          </a:p>
        </p:txBody>
      </p:sp>
      <p:sp>
        <p:nvSpPr>
          <p:cNvPr id="4" name="Footer Placeholder 3">
            <a:extLst>
              <a:ext uri="{FF2B5EF4-FFF2-40B4-BE49-F238E27FC236}">
                <a16:creationId xmlns:a16="http://schemas.microsoft.com/office/drawing/2014/main" xmlns="" id="{5935EF4C-2820-3E15-C139-810988E0DB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A03AC1C9-0419-0EF2-BF90-3FC32A26C347}"/>
              </a:ext>
            </a:extLst>
          </p:cNvPr>
          <p:cNvSpPr>
            <a:spLocks noGrp="1"/>
          </p:cNvSpPr>
          <p:nvPr>
            <p:ph type="sldNum" sz="quarter" idx="12"/>
          </p:nvPr>
        </p:nvSpPr>
        <p:spPr/>
        <p:txBody>
          <a:bodyPr/>
          <a:lstStyle/>
          <a:p>
            <a:fld id="{539D8562-43AC-46AD-80B4-DB9C4B52FF51}" type="slidenum">
              <a:rPr lang="en-US" smtClean="0"/>
              <a:t>‹#›</a:t>
            </a:fld>
            <a:endParaRPr lang="en-US"/>
          </a:p>
        </p:txBody>
      </p:sp>
    </p:spTree>
    <p:extLst>
      <p:ext uri="{BB962C8B-B14F-4D97-AF65-F5344CB8AC3E}">
        <p14:creationId xmlns:p14="http://schemas.microsoft.com/office/powerpoint/2010/main" val="1218076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2990CDA-6A49-EFF3-77A4-2A14EE75CD3B}"/>
              </a:ext>
            </a:extLst>
          </p:cNvPr>
          <p:cNvSpPr>
            <a:spLocks noGrp="1"/>
          </p:cNvSpPr>
          <p:nvPr>
            <p:ph type="dt" sz="half" idx="10"/>
          </p:nvPr>
        </p:nvSpPr>
        <p:spPr/>
        <p:txBody>
          <a:bodyPr/>
          <a:lstStyle/>
          <a:p>
            <a:fld id="{7783EC29-0B13-4DF9-9295-325DC453F64B}" type="datetimeFigureOut">
              <a:rPr lang="en-US" smtClean="0"/>
              <a:t>3/2/2026</a:t>
            </a:fld>
            <a:endParaRPr lang="en-US"/>
          </a:p>
        </p:txBody>
      </p:sp>
      <p:sp>
        <p:nvSpPr>
          <p:cNvPr id="3" name="Footer Placeholder 2">
            <a:extLst>
              <a:ext uri="{FF2B5EF4-FFF2-40B4-BE49-F238E27FC236}">
                <a16:creationId xmlns:a16="http://schemas.microsoft.com/office/drawing/2014/main" xmlns="" id="{A0FE6C46-C5B0-BD3A-92E3-2C146227F42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5DAD947D-0450-BA35-612D-5BF0B05D2A55}"/>
              </a:ext>
            </a:extLst>
          </p:cNvPr>
          <p:cNvSpPr>
            <a:spLocks noGrp="1"/>
          </p:cNvSpPr>
          <p:nvPr>
            <p:ph type="sldNum" sz="quarter" idx="12"/>
          </p:nvPr>
        </p:nvSpPr>
        <p:spPr/>
        <p:txBody>
          <a:bodyPr/>
          <a:lstStyle/>
          <a:p>
            <a:fld id="{539D8562-43AC-46AD-80B4-DB9C4B52FF51}" type="slidenum">
              <a:rPr lang="en-US" smtClean="0"/>
              <a:t>‹#›</a:t>
            </a:fld>
            <a:endParaRPr lang="en-US"/>
          </a:p>
        </p:txBody>
      </p:sp>
    </p:spTree>
    <p:extLst>
      <p:ext uri="{BB962C8B-B14F-4D97-AF65-F5344CB8AC3E}">
        <p14:creationId xmlns:p14="http://schemas.microsoft.com/office/powerpoint/2010/main" val="194771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1BBA90-1892-CC6E-7AA4-E5FC6355B5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3D0D8DB7-7F61-A043-20FA-87A84C9ED3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3758E3A3-8F88-75E5-F96C-4866826989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579F0EC-6ADB-4924-7A1A-1C0A6722FA88}"/>
              </a:ext>
            </a:extLst>
          </p:cNvPr>
          <p:cNvSpPr>
            <a:spLocks noGrp="1"/>
          </p:cNvSpPr>
          <p:nvPr>
            <p:ph type="dt" sz="half" idx="10"/>
          </p:nvPr>
        </p:nvSpPr>
        <p:spPr/>
        <p:txBody>
          <a:bodyPr/>
          <a:lstStyle/>
          <a:p>
            <a:fld id="{7783EC29-0B13-4DF9-9295-325DC453F64B}" type="datetimeFigureOut">
              <a:rPr lang="en-US" smtClean="0"/>
              <a:t>3/2/2026</a:t>
            </a:fld>
            <a:endParaRPr lang="en-US"/>
          </a:p>
        </p:txBody>
      </p:sp>
      <p:sp>
        <p:nvSpPr>
          <p:cNvPr id="6" name="Footer Placeholder 5">
            <a:extLst>
              <a:ext uri="{FF2B5EF4-FFF2-40B4-BE49-F238E27FC236}">
                <a16:creationId xmlns:a16="http://schemas.microsoft.com/office/drawing/2014/main" xmlns="" id="{3DEBB6DC-BD79-1F20-0C54-E5B00369F2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E6291C4E-5B3D-E479-F7BF-2DBBBE7F9114}"/>
              </a:ext>
            </a:extLst>
          </p:cNvPr>
          <p:cNvSpPr>
            <a:spLocks noGrp="1"/>
          </p:cNvSpPr>
          <p:nvPr>
            <p:ph type="sldNum" sz="quarter" idx="12"/>
          </p:nvPr>
        </p:nvSpPr>
        <p:spPr/>
        <p:txBody>
          <a:bodyPr/>
          <a:lstStyle/>
          <a:p>
            <a:fld id="{539D8562-43AC-46AD-80B4-DB9C4B52FF51}" type="slidenum">
              <a:rPr lang="en-US" smtClean="0"/>
              <a:t>‹#›</a:t>
            </a:fld>
            <a:endParaRPr lang="en-US"/>
          </a:p>
        </p:txBody>
      </p:sp>
    </p:spTree>
    <p:extLst>
      <p:ext uri="{BB962C8B-B14F-4D97-AF65-F5344CB8AC3E}">
        <p14:creationId xmlns:p14="http://schemas.microsoft.com/office/powerpoint/2010/main" val="1967362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19532E8-646C-C296-9453-AD5CFE07E0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92B03AE0-7E91-3B00-C513-9C00577D6E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F32BEEEE-A366-3D27-E47B-86360B5488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47384C25-E097-0C8A-13CB-872E8A89C396}"/>
              </a:ext>
            </a:extLst>
          </p:cNvPr>
          <p:cNvSpPr>
            <a:spLocks noGrp="1"/>
          </p:cNvSpPr>
          <p:nvPr>
            <p:ph type="dt" sz="half" idx="10"/>
          </p:nvPr>
        </p:nvSpPr>
        <p:spPr/>
        <p:txBody>
          <a:bodyPr/>
          <a:lstStyle/>
          <a:p>
            <a:fld id="{7783EC29-0B13-4DF9-9295-325DC453F64B}" type="datetimeFigureOut">
              <a:rPr lang="en-US" smtClean="0"/>
              <a:t>3/2/2026</a:t>
            </a:fld>
            <a:endParaRPr lang="en-US"/>
          </a:p>
        </p:txBody>
      </p:sp>
      <p:sp>
        <p:nvSpPr>
          <p:cNvPr id="6" name="Footer Placeholder 5">
            <a:extLst>
              <a:ext uri="{FF2B5EF4-FFF2-40B4-BE49-F238E27FC236}">
                <a16:creationId xmlns:a16="http://schemas.microsoft.com/office/drawing/2014/main" xmlns="" id="{55940B0D-9E26-1916-4191-9625AEC8EE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1BEB1285-F797-D9BF-DB97-AB3B5CD8996D}"/>
              </a:ext>
            </a:extLst>
          </p:cNvPr>
          <p:cNvSpPr>
            <a:spLocks noGrp="1"/>
          </p:cNvSpPr>
          <p:nvPr>
            <p:ph type="sldNum" sz="quarter" idx="12"/>
          </p:nvPr>
        </p:nvSpPr>
        <p:spPr/>
        <p:txBody>
          <a:bodyPr/>
          <a:lstStyle/>
          <a:p>
            <a:fld id="{539D8562-43AC-46AD-80B4-DB9C4B52FF51}" type="slidenum">
              <a:rPr lang="en-US" smtClean="0"/>
              <a:t>‹#›</a:t>
            </a:fld>
            <a:endParaRPr lang="en-US"/>
          </a:p>
        </p:txBody>
      </p:sp>
    </p:spTree>
    <p:extLst>
      <p:ext uri="{BB962C8B-B14F-4D97-AF65-F5344CB8AC3E}">
        <p14:creationId xmlns:p14="http://schemas.microsoft.com/office/powerpoint/2010/main" val="15444876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7A0E93-F8C2-C66B-9921-C42F621032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3BF3DC43-C101-6125-35D2-5ACE28F5D2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0D7E21E-F05F-29E4-4E69-7D5DF7D2E4BE}"/>
              </a:ext>
            </a:extLst>
          </p:cNvPr>
          <p:cNvSpPr>
            <a:spLocks noGrp="1"/>
          </p:cNvSpPr>
          <p:nvPr>
            <p:ph type="dt" sz="half" idx="10"/>
          </p:nvPr>
        </p:nvSpPr>
        <p:spPr/>
        <p:txBody>
          <a:bodyPr/>
          <a:lstStyle/>
          <a:p>
            <a:fld id="{7783EC29-0B13-4DF9-9295-325DC453F64B}" type="datetimeFigureOut">
              <a:rPr lang="en-US" smtClean="0"/>
              <a:t>3/2/2026</a:t>
            </a:fld>
            <a:endParaRPr lang="en-US"/>
          </a:p>
        </p:txBody>
      </p:sp>
      <p:sp>
        <p:nvSpPr>
          <p:cNvPr id="5" name="Footer Placeholder 4">
            <a:extLst>
              <a:ext uri="{FF2B5EF4-FFF2-40B4-BE49-F238E27FC236}">
                <a16:creationId xmlns:a16="http://schemas.microsoft.com/office/drawing/2014/main" xmlns="" id="{AEB33AA8-7BF6-7020-0694-95B30998D6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B7FCFBD6-334B-6CB3-5CC1-63C8F0023B83}"/>
              </a:ext>
            </a:extLst>
          </p:cNvPr>
          <p:cNvSpPr>
            <a:spLocks noGrp="1"/>
          </p:cNvSpPr>
          <p:nvPr>
            <p:ph type="sldNum" sz="quarter" idx="12"/>
          </p:nvPr>
        </p:nvSpPr>
        <p:spPr/>
        <p:txBody>
          <a:bodyPr/>
          <a:lstStyle/>
          <a:p>
            <a:fld id="{539D8562-43AC-46AD-80B4-DB9C4B52FF51}" type="slidenum">
              <a:rPr lang="en-US" smtClean="0"/>
              <a:t>‹#›</a:t>
            </a:fld>
            <a:endParaRPr lang="en-US"/>
          </a:p>
        </p:txBody>
      </p:sp>
    </p:spTree>
    <p:extLst>
      <p:ext uri="{BB962C8B-B14F-4D97-AF65-F5344CB8AC3E}">
        <p14:creationId xmlns:p14="http://schemas.microsoft.com/office/powerpoint/2010/main" val="3074923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BB4C9794-BF80-F653-00EE-E3974F798CA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5184C963-52EA-73A3-1E0D-87B67CAEC2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98F1C61-5D89-1871-8C30-C0164B16444C}"/>
              </a:ext>
            </a:extLst>
          </p:cNvPr>
          <p:cNvSpPr>
            <a:spLocks noGrp="1"/>
          </p:cNvSpPr>
          <p:nvPr>
            <p:ph type="dt" sz="half" idx="10"/>
          </p:nvPr>
        </p:nvSpPr>
        <p:spPr/>
        <p:txBody>
          <a:bodyPr/>
          <a:lstStyle/>
          <a:p>
            <a:fld id="{7783EC29-0B13-4DF9-9295-325DC453F64B}" type="datetimeFigureOut">
              <a:rPr lang="en-US" smtClean="0"/>
              <a:t>3/2/2026</a:t>
            </a:fld>
            <a:endParaRPr lang="en-US"/>
          </a:p>
        </p:txBody>
      </p:sp>
      <p:sp>
        <p:nvSpPr>
          <p:cNvPr id="5" name="Footer Placeholder 4">
            <a:extLst>
              <a:ext uri="{FF2B5EF4-FFF2-40B4-BE49-F238E27FC236}">
                <a16:creationId xmlns:a16="http://schemas.microsoft.com/office/drawing/2014/main" xmlns="" id="{9BBB6494-38F7-1A31-622B-3D80F83379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55CD4834-770D-12C2-B603-00DF4D8E19E3}"/>
              </a:ext>
            </a:extLst>
          </p:cNvPr>
          <p:cNvSpPr>
            <a:spLocks noGrp="1"/>
          </p:cNvSpPr>
          <p:nvPr>
            <p:ph type="sldNum" sz="quarter" idx="12"/>
          </p:nvPr>
        </p:nvSpPr>
        <p:spPr/>
        <p:txBody>
          <a:bodyPr/>
          <a:lstStyle/>
          <a:p>
            <a:fld id="{539D8562-43AC-46AD-80B4-DB9C4B52FF51}" type="slidenum">
              <a:rPr lang="en-US" smtClean="0"/>
              <a:t>‹#›</a:t>
            </a:fld>
            <a:endParaRPr lang="en-US"/>
          </a:p>
        </p:txBody>
      </p:sp>
    </p:spTree>
    <p:extLst>
      <p:ext uri="{BB962C8B-B14F-4D97-AF65-F5344CB8AC3E}">
        <p14:creationId xmlns:p14="http://schemas.microsoft.com/office/powerpoint/2010/main" val="2533119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0DA818C4-6EAF-76EF-07B4-994D32F3D0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E6FA3292-285A-3D26-4BFE-BD840CDBF2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138D116B-FED3-8C73-0C14-D73D3440D5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83EC29-0B13-4DF9-9295-325DC453F64B}" type="datetimeFigureOut">
              <a:rPr lang="en-US" smtClean="0"/>
              <a:t>3/2/2026</a:t>
            </a:fld>
            <a:endParaRPr lang="en-US"/>
          </a:p>
        </p:txBody>
      </p:sp>
      <p:sp>
        <p:nvSpPr>
          <p:cNvPr id="5" name="Footer Placeholder 4">
            <a:extLst>
              <a:ext uri="{FF2B5EF4-FFF2-40B4-BE49-F238E27FC236}">
                <a16:creationId xmlns:a16="http://schemas.microsoft.com/office/drawing/2014/main" xmlns="" id="{F9D7A5B5-508D-4D8F-0D2C-2DB1B49607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222D6E5F-7C21-BB24-E657-AB344A281B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9D8562-43AC-46AD-80B4-DB9C4B52FF51}" type="slidenum">
              <a:rPr lang="en-US" smtClean="0"/>
              <a:t>‹#›</a:t>
            </a:fld>
            <a:endParaRPr lang="en-US"/>
          </a:p>
        </p:txBody>
      </p:sp>
    </p:spTree>
    <p:extLst>
      <p:ext uri="{BB962C8B-B14F-4D97-AF65-F5344CB8AC3E}">
        <p14:creationId xmlns:p14="http://schemas.microsoft.com/office/powerpoint/2010/main" val="3657529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scribbr.com/methodology/independent-and-dependent-variable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statisticshowto.com/probability-and-statistics/correlation-coefficient-formula/" TargetMode="External"/><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www.scribbr.com/statistics/multiple-linear-regression/"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www.investopedia.com/terms/r/regression.asp" TargetMode="External"/><Relationship Id="rId2" Type="http://schemas.openxmlformats.org/officeDocument/2006/relationships/hyperlink" Target="https://www.investopedia.com/terms/l/linearrelationship.asp"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investopedia.com/terms/c/correlation.asp" TargetMode="External"/><Relationship Id="rId2" Type="http://schemas.openxmlformats.org/officeDocument/2006/relationships/hyperlink" Target="https://www.investopedia.com/terms/l/linearrelationship.asp" TargetMode="External"/><Relationship Id="rId1" Type="http://schemas.openxmlformats.org/officeDocument/2006/relationships/slideLayout" Target="../slideLayouts/slideLayout2.xml"/><Relationship Id="rId5" Type="http://schemas.openxmlformats.org/officeDocument/2006/relationships/hyperlink" Target="https://www.investopedia.com/terms/v/variance.asp" TargetMode="External"/><Relationship Id="rId4" Type="http://schemas.openxmlformats.org/officeDocument/2006/relationships/hyperlink" Target="https://www.investopedia.com/terms/n/normaldistribution.asp"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https://www.investopedia.com/terms/c/coefficient-of-determination.asp" TargetMode="External"/><Relationship Id="rId2" Type="http://schemas.openxmlformats.org/officeDocument/2006/relationships/hyperlink" Target="https://www.investopedia.com/terms/l/line-of-best-fit.asp"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220BDC-10E0-8EA8-48EC-5F1C7D22F856}"/>
              </a:ext>
            </a:extLst>
          </p:cNvPr>
          <p:cNvSpPr>
            <a:spLocks noGrp="1"/>
          </p:cNvSpPr>
          <p:nvPr>
            <p:ph type="ctrTitle"/>
          </p:nvPr>
        </p:nvSpPr>
        <p:spPr>
          <a:xfrm>
            <a:off x="1524000" y="1069110"/>
            <a:ext cx="9144000" cy="2387600"/>
          </a:xfrm>
        </p:spPr>
        <p:txBody>
          <a:bodyPr/>
          <a:lstStyle/>
          <a:p>
            <a:r>
              <a:rPr lang="en-US" b="1" dirty="0">
                <a:solidFill>
                  <a:schemeClr val="accent1">
                    <a:lumMod val="50000"/>
                  </a:schemeClr>
                </a:solidFill>
              </a:rPr>
              <a:t>Data Analysis</a:t>
            </a:r>
          </a:p>
        </p:txBody>
      </p:sp>
      <p:sp>
        <p:nvSpPr>
          <p:cNvPr id="3" name="Subtitle 2">
            <a:extLst>
              <a:ext uri="{FF2B5EF4-FFF2-40B4-BE49-F238E27FC236}">
                <a16:creationId xmlns:a16="http://schemas.microsoft.com/office/drawing/2014/main" xmlns="" id="{1E67657D-125F-B12D-3569-A0A9A66E656A}"/>
              </a:ext>
            </a:extLst>
          </p:cNvPr>
          <p:cNvSpPr>
            <a:spLocks noGrp="1"/>
          </p:cNvSpPr>
          <p:nvPr>
            <p:ph type="subTitle" idx="1"/>
          </p:nvPr>
        </p:nvSpPr>
        <p:spPr/>
        <p:txBody>
          <a:bodyPr/>
          <a:lstStyle/>
          <a:p>
            <a:r>
              <a:rPr lang="en-US" sz="3600" b="1" i="0" dirty="0">
                <a:solidFill>
                  <a:schemeClr val="accent2">
                    <a:lumMod val="75000"/>
                  </a:schemeClr>
                </a:solidFill>
                <a:effectLst/>
                <a:latin typeface="-apple-system"/>
              </a:rPr>
              <a:t>Model Development</a:t>
            </a:r>
          </a:p>
          <a:p>
            <a:r>
              <a:rPr lang="en-US" b="1" i="0" dirty="0">
                <a:solidFill>
                  <a:schemeClr val="accent1">
                    <a:lumMod val="50000"/>
                  </a:schemeClr>
                </a:solidFill>
                <a:effectLst/>
                <a:latin typeface="-apple-system"/>
              </a:rPr>
              <a:t>Simple &amp; Multiple Linear Regression</a:t>
            </a:r>
            <a:endParaRPr lang="en-US" b="1" dirty="0">
              <a:solidFill>
                <a:schemeClr val="accent1">
                  <a:lumMod val="50000"/>
                </a:schemeClr>
              </a:solidFill>
            </a:endParaRPr>
          </a:p>
        </p:txBody>
      </p:sp>
    </p:spTree>
    <p:extLst>
      <p:ext uri="{BB962C8B-B14F-4D97-AF65-F5344CB8AC3E}">
        <p14:creationId xmlns:p14="http://schemas.microsoft.com/office/powerpoint/2010/main" val="1337882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0301CF-E91D-9F00-4961-0E1DB0D6A113}"/>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xmlns="" id="{F7165E18-7A8C-0D1E-FDC5-63F3E2F5274D}"/>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xmlns="" id="{E81FA8ED-1922-62BA-5FC5-5E8B382C8754}"/>
              </a:ext>
            </a:extLst>
          </p:cNvPr>
          <p:cNvPicPr>
            <a:picLocks noChangeAspect="1"/>
          </p:cNvPicPr>
          <p:nvPr/>
        </p:nvPicPr>
        <p:blipFill rotWithShape="1">
          <a:blip r:embed="rId2"/>
          <a:srcRect b="8667"/>
          <a:stretch/>
        </p:blipFill>
        <p:spPr>
          <a:xfrm>
            <a:off x="0" y="1674"/>
            <a:ext cx="12192000" cy="6260582"/>
          </a:xfrm>
          <a:prstGeom prst="rect">
            <a:avLst/>
          </a:prstGeom>
        </p:spPr>
      </p:pic>
    </p:spTree>
    <p:extLst>
      <p:ext uri="{BB962C8B-B14F-4D97-AF65-F5344CB8AC3E}">
        <p14:creationId xmlns:p14="http://schemas.microsoft.com/office/powerpoint/2010/main" val="3062705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51CA4D-3C17-1E4E-C9C8-CC721C988F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80130794-A482-9068-8059-7BA26B96493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A8FCB0C2-1919-FD55-8F76-83BF3B061252}"/>
              </a:ext>
            </a:extLst>
          </p:cNvPr>
          <p:cNvPicPr>
            <a:picLocks noChangeAspect="1"/>
          </p:cNvPicPr>
          <p:nvPr/>
        </p:nvPicPr>
        <p:blipFill rotWithShape="1">
          <a:blip r:embed="rId2"/>
          <a:srcRect b="10283"/>
          <a:stretch/>
        </p:blipFill>
        <p:spPr>
          <a:xfrm>
            <a:off x="0" y="1673"/>
            <a:ext cx="12192000" cy="6149745"/>
          </a:xfrm>
          <a:prstGeom prst="rect">
            <a:avLst/>
          </a:prstGeom>
        </p:spPr>
      </p:pic>
    </p:spTree>
    <p:extLst>
      <p:ext uri="{BB962C8B-B14F-4D97-AF65-F5344CB8AC3E}">
        <p14:creationId xmlns:p14="http://schemas.microsoft.com/office/powerpoint/2010/main" val="4065085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7AEBE3-055A-75D9-AF77-FDD88EB024E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5062AA39-153D-CD58-0F99-AF5531D3EBF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CC586976-6676-9946-5628-7BD7E970C037}"/>
              </a:ext>
            </a:extLst>
          </p:cNvPr>
          <p:cNvPicPr>
            <a:picLocks noChangeAspect="1"/>
          </p:cNvPicPr>
          <p:nvPr/>
        </p:nvPicPr>
        <p:blipFill rotWithShape="1">
          <a:blip r:embed="rId3"/>
          <a:srcRect b="8860"/>
          <a:stretch/>
        </p:blipFill>
        <p:spPr>
          <a:xfrm>
            <a:off x="0" y="14926"/>
            <a:ext cx="12192000" cy="6247330"/>
          </a:xfrm>
          <a:prstGeom prst="rect">
            <a:avLst/>
          </a:prstGeom>
        </p:spPr>
      </p:pic>
    </p:spTree>
    <p:extLst>
      <p:ext uri="{BB962C8B-B14F-4D97-AF65-F5344CB8AC3E}">
        <p14:creationId xmlns:p14="http://schemas.microsoft.com/office/powerpoint/2010/main" val="660943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E6C2A7-6712-06C7-D108-E1DDCC80830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CCEB4FFF-1350-FBA3-12E4-D81CF01338F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3CD01578-87F6-6393-86DA-5AD8428935B1}"/>
              </a:ext>
            </a:extLst>
          </p:cNvPr>
          <p:cNvPicPr>
            <a:picLocks noChangeAspect="1"/>
          </p:cNvPicPr>
          <p:nvPr/>
        </p:nvPicPr>
        <p:blipFill rotWithShape="1">
          <a:blip r:embed="rId2"/>
          <a:srcRect b="9273"/>
          <a:stretch/>
        </p:blipFill>
        <p:spPr>
          <a:xfrm>
            <a:off x="0" y="1674"/>
            <a:ext cx="12192000" cy="6219018"/>
          </a:xfrm>
          <a:prstGeom prst="rect">
            <a:avLst/>
          </a:prstGeom>
        </p:spPr>
      </p:pic>
    </p:spTree>
    <p:extLst>
      <p:ext uri="{BB962C8B-B14F-4D97-AF65-F5344CB8AC3E}">
        <p14:creationId xmlns:p14="http://schemas.microsoft.com/office/powerpoint/2010/main" val="4146208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regression</a:t>
            </a:r>
          </a:p>
        </p:txBody>
      </p:sp>
      <p:sp>
        <p:nvSpPr>
          <p:cNvPr id="3" name="Content Placeholder 2"/>
          <p:cNvSpPr>
            <a:spLocks noGrp="1"/>
          </p:cNvSpPr>
          <p:nvPr>
            <p:ph idx="1"/>
          </p:nvPr>
        </p:nvSpPr>
        <p:spPr/>
        <p:txBody>
          <a:bodyPr/>
          <a:lstStyle/>
          <a:p>
            <a:r>
              <a:rPr lang="en-US" dirty="0"/>
              <a:t>A regression is </a:t>
            </a:r>
            <a:r>
              <a:rPr lang="en-US" b="1" dirty="0"/>
              <a:t>a statistical technique that relates a dependent variable to one or more independent (explanatory) variables</a:t>
            </a:r>
            <a:r>
              <a:rPr lang="en-US" dirty="0"/>
              <a:t>. A regression model is able to show whether changes observed in the dependent variable are associated with changes in one or more of the explanatory variables</a:t>
            </a:r>
            <a:r>
              <a:rPr lang="en-US" dirty="0" smtClean="0"/>
              <a:t>.</a:t>
            </a:r>
          </a:p>
          <a:p>
            <a:r>
              <a:rPr lang="en-US" b="1" dirty="0"/>
              <a:t>Regression models</a:t>
            </a:r>
            <a:r>
              <a:rPr lang="en-US" dirty="0"/>
              <a:t> are used to describe relationships between variables by fitting a line to the observed data. Regression allows you to estimate how a </a:t>
            </a:r>
            <a:r>
              <a:rPr lang="en-US" dirty="0">
                <a:hlinkClick r:id="rId2"/>
              </a:rPr>
              <a:t>dependent variable</a:t>
            </a:r>
            <a:r>
              <a:rPr lang="en-US" dirty="0"/>
              <a:t> changes as the independent variable(s) change.</a:t>
            </a:r>
          </a:p>
        </p:txBody>
      </p:sp>
    </p:spTree>
    <p:extLst>
      <p:ext uri="{BB962C8B-B14F-4D97-AF65-F5344CB8AC3E}">
        <p14:creationId xmlns:p14="http://schemas.microsoft.com/office/powerpoint/2010/main" val="3908471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733595-0253-DD22-CEDE-A2C2CB53846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870FCA82-8329-B183-B9B8-8086B4B7871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42245E6A-AE9C-AFD8-4A73-BE38158F1815}"/>
              </a:ext>
            </a:extLst>
          </p:cNvPr>
          <p:cNvPicPr>
            <a:picLocks noChangeAspect="1"/>
          </p:cNvPicPr>
          <p:nvPr/>
        </p:nvPicPr>
        <p:blipFill rotWithShape="1">
          <a:blip r:embed="rId3"/>
          <a:srcRect b="10283"/>
          <a:stretch/>
        </p:blipFill>
        <p:spPr>
          <a:xfrm>
            <a:off x="0" y="1673"/>
            <a:ext cx="12192000" cy="6149745"/>
          </a:xfrm>
          <a:prstGeom prst="rect">
            <a:avLst/>
          </a:prstGeom>
        </p:spPr>
      </p:pic>
    </p:spTree>
    <p:extLst>
      <p:ext uri="{BB962C8B-B14F-4D97-AF65-F5344CB8AC3E}">
        <p14:creationId xmlns:p14="http://schemas.microsoft.com/office/powerpoint/2010/main" val="266301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4163" t="15857" r="4715" b="10885"/>
          <a:stretch/>
        </p:blipFill>
        <p:spPr>
          <a:xfrm>
            <a:off x="1136073" y="4059381"/>
            <a:ext cx="10363200" cy="2673928"/>
          </a:xfrm>
          <a:prstGeom prst="rect">
            <a:avLst/>
          </a:prstGeom>
          <a:ln w="228600" cap="sq" cmpd="thickThin">
            <a:solidFill>
              <a:srgbClr val="000000"/>
            </a:solidFill>
            <a:prstDash val="solid"/>
            <a:miter lim="800000"/>
          </a:ln>
          <a:effectLst>
            <a:innerShdw blurRad="76200">
              <a:srgbClr val="000000"/>
            </a:innerShdw>
          </a:effectLst>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12826" t="19161" r="25301" b="11206"/>
          <a:stretch/>
        </p:blipFill>
        <p:spPr>
          <a:xfrm>
            <a:off x="713507" y="365125"/>
            <a:ext cx="10896602" cy="3444875"/>
          </a:xfrm>
          <a:prstGeom prst="rect">
            <a:avLst/>
          </a:prstGeom>
        </p:spPr>
      </p:pic>
    </p:spTree>
    <p:extLst>
      <p:ext uri="{BB962C8B-B14F-4D97-AF65-F5344CB8AC3E}">
        <p14:creationId xmlns:p14="http://schemas.microsoft.com/office/powerpoint/2010/main" val="2648149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25834" t="28332" r="28161" b="21774"/>
          <a:stretch/>
        </p:blipFill>
        <p:spPr>
          <a:xfrm>
            <a:off x="408709" y="360218"/>
            <a:ext cx="8001000" cy="2757055"/>
          </a:xfrm>
        </p:spPr>
      </p:pic>
      <p:pic>
        <p:nvPicPr>
          <p:cNvPr id="5" name="Picture 4"/>
          <p:cNvPicPr>
            <a:picLocks noChangeAspect="1"/>
          </p:cNvPicPr>
          <p:nvPr/>
        </p:nvPicPr>
        <p:blipFill rotWithShape="1">
          <a:blip r:embed="rId3"/>
          <a:srcRect l="16671" t="22141" r="17231" b="23368"/>
          <a:stretch/>
        </p:blipFill>
        <p:spPr>
          <a:xfrm>
            <a:off x="408709" y="3262746"/>
            <a:ext cx="4883728" cy="32973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47269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38629"/>
            <a:ext cx="11714018" cy="4351338"/>
          </a:xfrm>
        </p:spPr>
        <p:txBody>
          <a:bodyPr/>
          <a:lstStyle/>
          <a:p>
            <a:r>
              <a:rPr lang="en-US" dirty="0"/>
              <a:t>As mentioned above, linear regression is a predictive modeling technique. It is used whenever there is a linear relation between the dependent and the independent variables</a:t>
            </a:r>
            <a:r>
              <a:rPr lang="en-US" dirty="0" smtClean="0"/>
              <a:t>.</a:t>
            </a:r>
          </a:p>
          <a:p>
            <a:pPr lvl="8"/>
            <a:r>
              <a:rPr lang="en-US" sz="3600" dirty="0"/>
              <a:t>Y = b0 + b1* x</a:t>
            </a:r>
          </a:p>
          <a:p>
            <a:r>
              <a:rPr lang="en-US" dirty="0"/>
              <a:t>It is used in estimating exactly how much of y will change, when x changes a certain amount.</a:t>
            </a:r>
          </a:p>
        </p:txBody>
      </p:sp>
      <p:pic>
        <p:nvPicPr>
          <p:cNvPr id="4" name="Picture 3"/>
          <p:cNvPicPr>
            <a:picLocks noChangeAspect="1"/>
          </p:cNvPicPr>
          <p:nvPr/>
        </p:nvPicPr>
        <p:blipFill>
          <a:blip r:embed="rId2"/>
          <a:stretch>
            <a:fillRect/>
          </a:stretch>
        </p:blipFill>
        <p:spPr>
          <a:xfrm>
            <a:off x="498765" y="2812473"/>
            <a:ext cx="10903526" cy="4045527"/>
          </a:xfrm>
          <a:prstGeom prst="rect">
            <a:avLst/>
          </a:prstGeom>
        </p:spPr>
      </p:pic>
    </p:spTree>
    <p:extLst>
      <p:ext uri="{BB962C8B-B14F-4D97-AF65-F5344CB8AC3E}">
        <p14:creationId xmlns:p14="http://schemas.microsoft.com/office/powerpoint/2010/main" val="3133692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B2FBE4-6890-0C0A-885F-6931E6E9C15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1F5D7FCB-3724-9E95-C617-93EBE3A5409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F21BDCFB-7684-B09D-A6B7-19E177CC1F16}"/>
              </a:ext>
            </a:extLst>
          </p:cNvPr>
          <p:cNvPicPr>
            <a:picLocks noChangeAspect="1"/>
          </p:cNvPicPr>
          <p:nvPr/>
        </p:nvPicPr>
        <p:blipFill rotWithShape="1">
          <a:blip r:embed="rId3"/>
          <a:srcRect b="14730"/>
          <a:stretch/>
        </p:blipFill>
        <p:spPr>
          <a:xfrm>
            <a:off x="0" y="1673"/>
            <a:ext cx="12192000" cy="5844945"/>
          </a:xfrm>
          <a:prstGeom prst="rect">
            <a:avLst/>
          </a:prstGeom>
        </p:spPr>
      </p:pic>
    </p:spTree>
    <p:extLst>
      <p:ext uri="{BB962C8B-B14F-4D97-AF65-F5344CB8AC3E}">
        <p14:creationId xmlns:p14="http://schemas.microsoft.com/office/powerpoint/2010/main" val="3799174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Reseduals</a:t>
            </a:r>
            <a:endParaRPr lang="en-US" dirty="0"/>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19210" t="12171" r="18672" b="1224"/>
          <a:stretch/>
        </p:blipFill>
        <p:spPr>
          <a:xfrm>
            <a:off x="180109" y="1538179"/>
            <a:ext cx="4807528" cy="42532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p:cNvPicPr>
            <a:picLocks noChangeAspect="1"/>
          </p:cNvPicPr>
          <p:nvPr/>
        </p:nvPicPr>
        <p:blipFill rotWithShape="1">
          <a:blip r:embed="rId3"/>
          <a:srcRect l="21356" t="11459" r="10069" b="8239"/>
          <a:stretch/>
        </p:blipFill>
        <p:spPr>
          <a:xfrm>
            <a:off x="5167745" y="1053379"/>
            <a:ext cx="6844146" cy="47380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19116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24581" t="11854" r="27087"/>
          <a:stretch/>
        </p:blipFill>
        <p:spPr>
          <a:xfrm>
            <a:off x="207819" y="180109"/>
            <a:ext cx="5486400" cy="64839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p:cNvPicPr>
            <a:picLocks noChangeAspect="1"/>
          </p:cNvPicPr>
          <p:nvPr/>
        </p:nvPicPr>
        <p:blipFill rotWithShape="1">
          <a:blip r:embed="rId3"/>
          <a:srcRect l="20823" t="13920" r="9537" b="7291"/>
          <a:stretch/>
        </p:blipFill>
        <p:spPr>
          <a:xfrm>
            <a:off x="6414654" y="365125"/>
            <a:ext cx="5118523" cy="325581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p:cNvPicPr>
            <a:picLocks noChangeAspect="1"/>
          </p:cNvPicPr>
          <p:nvPr/>
        </p:nvPicPr>
        <p:blipFill rotWithShape="1">
          <a:blip r:embed="rId4"/>
          <a:srcRect l="20505" t="13352" r="23273" b="6534"/>
          <a:stretch/>
        </p:blipFill>
        <p:spPr>
          <a:xfrm>
            <a:off x="6414654" y="3801053"/>
            <a:ext cx="4932219" cy="286298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203329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5296" t="16761" r="29662" b="5208"/>
          <a:stretch/>
        </p:blipFill>
        <p:spPr>
          <a:xfrm>
            <a:off x="235527" y="468889"/>
            <a:ext cx="3768437" cy="5708074"/>
          </a:xfrm>
          <a:prstGeom prst="rect">
            <a:avLst/>
          </a:prstGeom>
        </p:spPr>
      </p:pic>
      <p:pic>
        <p:nvPicPr>
          <p:cNvPr id="5" name="Picture 4"/>
          <p:cNvPicPr>
            <a:picLocks noChangeAspect="1"/>
          </p:cNvPicPr>
          <p:nvPr/>
        </p:nvPicPr>
        <p:blipFill rotWithShape="1">
          <a:blip r:embed="rId3"/>
          <a:srcRect l="8686" t="29406" r="10809" b="4451"/>
          <a:stretch/>
        </p:blipFill>
        <p:spPr>
          <a:xfrm>
            <a:off x="4170219" y="288779"/>
            <a:ext cx="7606145" cy="577951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826860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l="3893" t="17898" r="10921" b="8238"/>
          <a:stretch/>
        </p:blipFill>
        <p:spPr>
          <a:xfrm>
            <a:off x="581891" y="277091"/>
            <a:ext cx="11083636" cy="6580909"/>
          </a:xfrm>
          <a:prstGeom prst="rect">
            <a:avLst/>
          </a:prstGeom>
        </p:spPr>
      </p:pic>
    </p:spTree>
    <p:extLst>
      <p:ext uri="{BB962C8B-B14F-4D97-AF65-F5344CB8AC3E}">
        <p14:creationId xmlns:p14="http://schemas.microsoft.com/office/powerpoint/2010/main" val="3259051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7037" t="17585" r="6858" b="7273"/>
          <a:stretch/>
        </p:blipFill>
        <p:spPr>
          <a:xfrm>
            <a:off x="353821" y="365125"/>
            <a:ext cx="11397922" cy="5592330"/>
          </a:xfrm>
        </p:spPr>
      </p:pic>
    </p:spTree>
    <p:extLst>
      <p:ext uri="{BB962C8B-B14F-4D97-AF65-F5344CB8AC3E}">
        <p14:creationId xmlns:p14="http://schemas.microsoft.com/office/powerpoint/2010/main" val="718201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7395" t="16629" r="6322" b="7273"/>
          <a:stretch/>
        </p:blipFill>
        <p:spPr>
          <a:xfrm>
            <a:off x="401781" y="-301230"/>
            <a:ext cx="9573491" cy="5029201"/>
          </a:xfrm>
        </p:spPr>
      </p:pic>
      <p:pic>
        <p:nvPicPr>
          <p:cNvPr id="5" name="Picture 4"/>
          <p:cNvPicPr>
            <a:picLocks noChangeAspect="1"/>
          </p:cNvPicPr>
          <p:nvPr/>
        </p:nvPicPr>
        <p:blipFill rotWithShape="1">
          <a:blip r:embed="rId3"/>
          <a:srcRect l="4319" t="31345" r="46485" b="10511"/>
          <a:stretch/>
        </p:blipFill>
        <p:spPr>
          <a:xfrm>
            <a:off x="401781" y="4603280"/>
            <a:ext cx="6400800" cy="21264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597332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9007" t="18859" r="7575" b="9502"/>
          <a:stretch/>
        </p:blipFill>
        <p:spPr>
          <a:xfrm>
            <a:off x="0" y="3782291"/>
            <a:ext cx="4682835" cy="31172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p:cNvPicPr>
            <a:picLocks noChangeAspect="1"/>
          </p:cNvPicPr>
          <p:nvPr/>
        </p:nvPicPr>
        <p:blipFill rotWithShape="1">
          <a:blip r:embed="rId4"/>
          <a:srcRect l="7301" t="16382" r="8472" b="15814"/>
          <a:stretch/>
        </p:blipFill>
        <p:spPr>
          <a:xfrm>
            <a:off x="152400" y="0"/>
            <a:ext cx="5375562" cy="36991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p:cNvPicPr>
            <a:picLocks noChangeAspect="1"/>
          </p:cNvPicPr>
          <p:nvPr/>
        </p:nvPicPr>
        <p:blipFill rotWithShape="1">
          <a:blip r:embed="rId5"/>
          <a:srcRect l="6875" t="18086" r="27958" b="12027"/>
          <a:stretch/>
        </p:blipFill>
        <p:spPr>
          <a:xfrm>
            <a:off x="5658013" y="0"/>
            <a:ext cx="5982168" cy="36991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p:cNvPicPr>
            <a:picLocks noChangeAspect="1"/>
          </p:cNvPicPr>
          <p:nvPr/>
        </p:nvPicPr>
        <p:blipFill rotWithShape="1">
          <a:blip r:embed="rId6"/>
          <a:srcRect l="5703" t="44091" r="44782" b="21875"/>
          <a:stretch/>
        </p:blipFill>
        <p:spPr>
          <a:xfrm>
            <a:off x="5197817" y="4129088"/>
            <a:ext cx="6442364" cy="2534948"/>
          </a:xfrm>
          <a:prstGeom prst="rect">
            <a:avLst/>
          </a:prstGeom>
        </p:spPr>
      </p:pic>
    </p:spTree>
    <p:extLst>
      <p:ext uri="{BB962C8B-B14F-4D97-AF65-F5344CB8AC3E}">
        <p14:creationId xmlns:p14="http://schemas.microsoft.com/office/powerpoint/2010/main" val="27011547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10975" t="25227" r="11691" b="11094"/>
          <a:stretch/>
        </p:blipFill>
        <p:spPr>
          <a:xfrm>
            <a:off x="838198" y="125124"/>
            <a:ext cx="9750136" cy="27709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p:cNvPicPr>
            <a:picLocks noChangeAspect="1"/>
          </p:cNvPicPr>
          <p:nvPr/>
        </p:nvPicPr>
        <p:blipFill rotWithShape="1">
          <a:blip r:embed="rId3"/>
          <a:srcRect l="9431" t="33618" r="12624" b="6155"/>
          <a:stretch/>
        </p:blipFill>
        <p:spPr>
          <a:xfrm>
            <a:off x="446806" y="3102986"/>
            <a:ext cx="10141528" cy="37550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898842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Find Linear Regression Slope:</a:t>
            </a:r>
            <a:br>
              <a:rPr lang="en-US" dirty="0"/>
            </a:br>
            <a:endParaRPr lang="en-US" dirty="0"/>
          </a:p>
        </p:txBody>
      </p:sp>
      <p:pic>
        <p:nvPicPr>
          <p:cNvPr id="4" name="Content Placeholder 3"/>
          <p:cNvPicPr>
            <a:picLocks noGrp="1" noChangeAspect="1"/>
          </p:cNvPicPr>
          <p:nvPr>
            <p:ph idx="1"/>
          </p:nvPr>
        </p:nvPicPr>
        <p:blipFill>
          <a:blip r:embed="rId2"/>
          <a:stretch>
            <a:fillRect/>
          </a:stretch>
        </p:blipFill>
        <p:spPr>
          <a:xfrm>
            <a:off x="678874" y="2763476"/>
            <a:ext cx="6923376" cy="3484924"/>
          </a:xfrm>
          <a:prstGeom prst="rect">
            <a:avLst/>
          </a:prstGeom>
        </p:spPr>
      </p:pic>
      <p:sp>
        <p:nvSpPr>
          <p:cNvPr id="5" name="TextBox 4"/>
          <p:cNvSpPr txBox="1"/>
          <p:nvPr/>
        </p:nvSpPr>
        <p:spPr>
          <a:xfrm>
            <a:off x="568036" y="1496291"/>
            <a:ext cx="10945091" cy="923330"/>
          </a:xfrm>
          <a:prstGeom prst="rect">
            <a:avLst/>
          </a:prstGeom>
          <a:noFill/>
        </p:spPr>
        <p:txBody>
          <a:bodyPr wrap="square" rtlCol="0">
            <a:spAutoFit/>
          </a:bodyPr>
          <a:lstStyle/>
          <a:p>
            <a:r>
              <a:rPr lang="en-US" dirty="0"/>
              <a:t> Find the following data from the information given: </a:t>
            </a:r>
            <a:r>
              <a:rPr lang="en-US" dirty="0" err="1"/>
              <a:t>Σx</a:t>
            </a:r>
            <a:r>
              <a:rPr lang="en-US" dirty="0"/>
              <a:t>, </a:t>
            </a:r>
            <a:r>
              <a:rPr lang="en-US" dirty="0" err="1"/>
              <a:t>Σy</a:t>
            </a:r>
            <a:r>
              <a:rPr lang="en-US" dirty="0"/>
              <a:t>, </a:t>
            </a:r>
            <a:r>
              <a:rPr lang="en-US" dirty="0" err="1"/>
              <a:t>Σxy</a:t>
            </a:r>
            <a:r>
              <a:rPr lang="en-US" dirty="0"/>
              <a:t>, Σx</a:t>
            </a:r>
            <a:r>
              <a:rPr lang="en-US" baseline="30000" dirty="0"/>
              <a:t>2</a:t>
            </a:r>
            <a:r>
              <a:rPr lang="en-US" dirty="0"/>
              <a:t>, Σy</a:t>
            </a:r>
            <a:r>
              <a:rPr lang="en-US" baseline="30000" dirty="0"/>
              <a:t>2</a:t>
            </a:r>
            <a:r>
              <a:rPr lang="en-US" dirty="0"/>
              <a:t>. If you don’t remember how to get those variables from data, see this  </a:t>
            </a:r>
            <a:r>
              <a:rPr lang="en-US" dirty="0">
                <a:hlinkClick r:id="rId3"/>
              </a:rPr>
              <a:t>Pearson’s correlation coefficient</a:t>
            </a:r>
            <a:r>
              <a:rPr lang="en-US" dirty="0"/>
              <a:t>. </a:t>
            </a:r>
            <a:endParaRPr lang="en-US" dirty="0" smtClean="0"/>
          </a:p>
          <a:p>
            <a:r>
              <a:rPr lang="en-US" dirty="0"/>
              <a:t>In the linear regression formula, the slope is the a in the equation </a:t>
            </a:r>
            <a:r>
              <a:rPr lang="en-US" b="1" dirty="0"/>
              <a:t>y’ = b + ax</a:t>
            </a:r>
            <a:r>
              <a:rPr lang="en-US" dirty="0"/>
              <a:t>.</a:t>
            </a:r>
          </a:p>
        </p:txBody>
      </p:sp>
    </p:spTree>
    <p:extLst>
      <p:ext uri="{BB962C8B-B14F-4D97-AF65-F5344CB8AC3E}">
        <p14:creationId xmlns:p14="http://schemas.microsoft.com/office/powerpoint/2010/main" val="4025644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5B727F-C896-BD19-569F-08FF2EF1E7F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05648BE6-57C2-068A-EEF7-F69C7A8AB73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1D89C1A6-2E3C-FD58-9CDE-2B1909E3A7D1}"/>
              </a:ext>
            </a:extLst>
          </p:cNvPr>
          <p:cNvPicPr>
            <a:picLocks noChangeAspect="1"/>
          </p:cNvPicPr>
          <p:nvPr/>
        </p:nvPicPr>
        <p:blipFill rotWithShape="1">
          <a:blip r:embed="rId3"/>
          <a:srcRect b="10082"/>
          <a:stretch/>
        </p:blipFill>
        <p:spPr>
          <a:xfrm>
            <a:off x="0" y="1674"/>
            <a:ext cx="12192000" cy="6163600"/>
          </a:xfrm>
          <a:prstGeom prst="rect">
            <a:avLst/>
          </a:prstGeom>
        </p:spPr>
      </p:pic>
    </p:spTree>
    <p:extLst>
      <p:ext uri="{BB962C8B-B14F-4D97-AF65-F5344CB8AC3E}">
        <p14:creationId xmlns:p14="http://schemas.microsoft.com/office/powerpoint/2010/main" val="24986445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C4B9E5-A6BC-DCCF-11FE-0C9A5CC6642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E27B3D5C-F162-A774-D0D6-354246D8EA8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187911ED-DD4E-AE44-A3B6-634B7A90F6D9}"/>
              </a:ext>
            </a:extLst>
          </p:cNvPr>
          <p:cNvPicPr>
            <a:picLocks noChangeAspect="1"/>
          </p:cNvPicPr>
          <p:nvPr/>
        </p:nvPicPr>
        <p:blipFill rotWithShape="1">
          <a:blip r:embed="rId2"/>
          <a:srcRect b="8667"/>
          <a:stretch/>
        </p:blipFill>
        <p:spPr>
          <a:xfrm>
            <a:off x="0" y="1674"/>
            <a:ext cx="12192000" cy="6260582"/>
          </a:xfrm>
          <a:prstGeom prst="rect">
            <a:avLst/>
          </a:prstGeom>
        </p:spPr>
      </p:pic>
    </p:spTree>
    <p:extLst>
      <p:ext uri="{BB962C8B-B14F-4D97-AF65-F5344CB8AC3E}">
        <p14:creationId xmlns:p14="http://schemas.microsoft.com/office/powerpoint/2010/main" val="7631603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20CAC1-6516-E814-C0DD-0DE74D55CBB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C3B2990E-3776-650B-9A3C-7379B60B92F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E76259EB-4615-2419-AF90-AA1A0CB36566}"/>
              </a:ext>
            </a:extLst>
          </p:cNvPr>
          <p:cNvPicPr>
            <a:picLocks noChangeAspect="1"/>
          </p:cNvPicPr>
          <p:nvPr/>
        </p:nvPicPr>
        <p:blipFill rotWithShape="1">
          <a:blip r:embed="rId2"/>
          <a:srcRect b="9475"/>
          <a:stretch/>
        </p:blipFill>
        <p:spPr>
          <a:xfrm>
            <a:off x="0" y="365125"/>
            <a:ext cx="12192000" cy="6205163"/>
          </a:xfrm>
          <a:prstGeom prst="rect">
            <a:avLst/>
          </a:prstGeom>
        </p:spPr>
      </p:pic>
    </p:spTree>
    <p:extLst>
      <p:ext uri="{BB962C8B-B14F-4D97-AF65-F5344CB8AC3E}">
        <p14:creationId xmlns:p14="http://schemas.microsoft.com/office/powerpoint/2010/main" val="27977837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9B0655-6666-4E57-7A8A-F70A067345E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82AFA342-9692-2956-978A-B7579B72182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30E2CCE2-34AD-1282-5F04-45EC6E58ED73}"/>
              </a:ext>
            </a:extLst>
          </p:cNvPr>
          <p:cNvPicPr>
            <a:picLocks noChangeAspect="1"/>
          </p:cNvPicPr>
          <p:nvPr/>
        </p:nvPicPr>
        <p:blipFill rotWithShape="1">
          <a:blip r:embed="rId2"/>
          <a:srcRect b="15741"/>
          <a:stretch/>
        </p:blipFill>
        <p:spPr>
          <a:xfrm>
            <a:off x="0" y="1674"/>
            <a:ext cx="12192000" cy="5775672"/>
          </a:xfrm>
          <a:prstGeom prst="rect">
            <a:avLst/>
          </a:prstGeom>
        </p:spPr>
      </p:pic>
    </p:spTree>
    <p:extLst>
      <p:ext uri="{BB962C8B-B14F-4D97-AF65-F5344CB8AC3E}">
        <p14:creationId xmlns:p14="http://schemas.microsoft.com/office/powerpoint/2010/main" val="14555134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C4EFFA-6AB3-44AE-4F2E-5116ACE2522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3F81B9DA-94BD-1B0F-FF62-B4201A7291C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4F3B3A94-F004-B072-0DB6-D2DDAB57DCA8}"/>
              </a:ext>
            </a:extLst>
          </p:cNvPr>
          <p:cNvPicPr>
            <a:picLocks noChangeAspect="1"/>
          </p:cNvPicPr>
          <p:nvPr/>
        </p:nvPicPr>
        <p:blipFill rotWithShape="1">
          <a:blip r:embed="rId2"/>
          <a:srcRect b="9068"/>
          <a:stretch/>
        </p:blipFill>
        <p:spPr>
          <a:xfrm>
            <a:off x="0" y="-12394"/>
            <a:ext cx="12192000" cy="6233086"/>
          </a:xfrm>
          <a:prstGeom prst="rect">
            <a:avLst/>
          </a:prstGeom>
        </p:spPr>
      </p:pic>
    </p:spTree>
    <p:extLst>
      <p:ext uri="{BB962C8B-B14F-4D97-AF65-F5344CB8AC3E}">
        <p14:creationId xmlns:p14="http://schemas.microsoft.com/office/powerpoint/2010/main" val="29475850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C48294F-AADF-6309-6811-70A4A1AC1EA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38628A12-F0BB-DDAB-859C-DD9E846A35D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BB7D1755-50AB-FBB5-D790-E34425C8AF9F}"/>
              </a:ext>
            </a:extLst>
          </p:cNvPr>
          <p:cNvPicPr>
            <a:picLocks noChangeAspect="1"/>
          </p:cNvPicPr>
          <p:nvPr/>
        </p:nvPicPr>
        <p:blipFill rotWithShape="1">
          <a:blip r:embed="rId3"/>
          <a:srcRect b="9879"/>
          <a:stretch/>
        </p:blipFill>
        <p:spPr>
          <a:xfrm>
            <a:off x="0" y="1674"/>
            <a:ext cx="12192000" cy="6177454"/>
          </a:xfrm>
          <a:prstGeom prst="rect">
            <a:avLst/>
          </a:prstGeom>
        </p:spPr>
      </p:pic>
    </p:spTree>
    <p:extLst>
      <p:ext uri="{BB962C8B-B14F-4D97-AF65-F5344CB8AC3E}">
        <p14:creationId xmlns:p14="http://schemas.microsoft.com/office/powerpoint/2010/main" val="12176069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53263C-64C0-F093-D9B5-29FD7324590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036ABCC2-C2B2-8E63-4736-C5A12A34E5E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10ED4089-AEE6-6C5A-8453-05DBB8248C16}"/>
              </a:ext>
            </a:extLst>
          </p:cNvPr>
          <p:cNvPicPr>
            <a:picLocks noChangeAspect="1"/>
          </p:cNvPicPr>
          <p:nvPr/>
        </p:nvPicPr>
        <p:blipFill rotWithShape="1">
          <a:blip r:embed="rId2"/>
          <a:srcRect b="8060"/>
          <a:stretch/>
        </p:blipFill>
        <p:spPr>
          <a:xfrm>
            <a:off x="0" y="1673"/>
            <a:ext cx="12192000" cy="6302145"/>
          </a:xfrm>
          <a:prstGeom prst="rect">
            <a:avLst/>
          </a:prstGeom>
        </p:spPr>
      </p:pic>
    </p:spTree>
    <p:extLst>
      <p:ext uri="{BB962C8B-B14F-4D97-AF65-F5344CB8AC3E}">
        <p14:creationId xmlns:p14="http://schemas.microsoft.com/office/powerpoint/2010/main" val="6769555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D80502-3A9D-409E-5C7A-530FB39819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F8F0AC52-C714-E621-D30A-7E305B6325B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791AA7B1-AB05-231C-F978-9A56C9F9CA34}"/>
              </a:ext>
            </a:extLst>
          </p:cNvPr>
          <p:cNvPicPr>
            <a:picLocks noChangeAspect="1"/>
          </p:cNvPicPr>
          <p:nvPr/>
        </p:nvPicPr>
        <p:blipFill rotWithShape="1">
          <a:blip r:embed="rId2"/>
          <a:srcRect b="7255"/>
          <a:stretch/>
        </p:blipFill>
        <p:spPr>
          <a:xfrm>
            <a:off x="0" y="15742"/>
            <a:ext cx="12192000" cy="6357350"/>
          </a:xfrm>
          <a:prstGeom prst="rect">
            <a:avLst/>
          </a:prstGeom>
        </p:spPr>
      </p:pic>
    </p:spTree>
    <p:extLst>
      <p:ext uri="{BB962C8B-B14F-4D97-AF65-F5344CB8AC3E}">
        <p14:creationId xmlns:p14="http://schemas.microsoft.com/office/powerpoint/2010/main" val="13103408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88D31BA-9F25-CE75-B7EF-FF198D3251E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44878283-C3C7-1586-878E-5EB1C5E8F46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846EB316-E8E0-0AD4-5CC9-E48E5B06FBC0}"/>
              </a:ext>
            </a:extLst>
          </p:cNvPr>
          <p:cNvPicPr>
            <a:picLocks noChangeAspect="1"/>
          </p:cNvPicPr>
          <p:nvPr/>
        </p:nvPicPr>
        <p:blipFill rotWithShape="1">
          <a:blip r:embed="rId2"/>
          <a:srcRect b="9475"/>
          <a:stretch/>
        </p:blipFill>
        <p:spPr>
          <a:xfrm>
            <a:off x="0" y="1673"/>
            <a:ext cx="12192000" cy="6205163"/>
          </a:xfrm>
          <a:prstGeom prst="rect">
            <a:avLst/>
          </a:prstGeom>
        </p:spPr>
      </p:pic>
    </p:spTree>
    <p:extLst>
      <p:ext uri="{BB962C8B-B14F-4D97-AF65-F5344CB8AC3E}">
        <p14:creationId xmlns:p14="http://schemas.microsoft.com/office/powerpoint/2010/main" val="6698672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solidFill>
                  <a:schemeClr val="accent1"/>
                </a:solidFill>
              </a:rPr>
              <a:t>Cont</a:t>
            </a:r>
            <a:r>
              <a:rPr lang="en-US" dirty="0" smtClean="0">
                <a:solidFill>
                  <a:schemeClr val="accent1"/>
                </a:solidFill>
              </a:rPr>
              <a:t>…</a:t>
            </a:r>
            <a:endParaRPr lang="en-US" dirty="0">
              <a:solidFill>
                <a:schemeClr val="accent1"/>
              </a:solidFill>
            </a:endParaRPr>
          </a:p>
        </p:txBody>
      </p:sp>
      <p:sp>
        <p:nvSpPr>
          <p:cNvPr id="3" name="Content Placeholder 2"/>
          <p:cNvSpPr>
            <a:spLocks noGrp="1"/>
          </p:cNvSpPr>
          <p:nvPr>
            <p:ph idx="1"/>
          </p:nvPr>
        </p:nvSpPr>
        <p:spPr/>
        <p:txBody>
          <a:bodyPr/>
          <a:lstStyle/>
          <a:p>
            <a:r>
              <a:rPr lang="en-US" dirty="0">
                <a:solidFill>
                  <a:schemeClr val="accent1"/>
                </a:solidFill>
              </a:rPr>
              <a:t>To find out the best fit line, we have something called </a:t>
            </a:r>
            <a:r>
              <a:rPr lang="en-US" b="1" dirty="0">
                <a:solidFill>
                  <a:schemeClr val="accent1"/>
                </a:solidFill>
              </a:rPr>
              <a:t>residual sum of squares (RSS)</a:t>
            </a:r>
            <a:r>
              <a:rPr lang="en-US" dirty="0">
                <a:solidFill>
                  <a:schemeClr val="accent1"/>
                </a:solidFill>
              </a:rPr>
              <a:t>. In RSS, we take the square of residuals and sum them up</a:t>
            </a:r>
            <a:r>
              <a:rPr lang="en-US" dirty="0" smtClean="0">
                <a:solidFill>
                  <a:schemeClr val="accent1"/>
                </a:solidFill>
              </a:rPr>
              <a:t>.</a:t>
            </a:r>
          </a:p>
          <a:p>
            <a:r>
              <a:rPr lang="en-US" dirty="0">
                <a:solidFill>
                  <a:schemeClr val="accent1"/>
                </a:solidFill>
              </a:rPr>
              <a:t>The line with the </a:t>
            </a:r>
            <a:r>
              <a:rPr lang="en-US" b="1" dirty="0">
                <a:solidFill>
                  <a:schemeClr val="accent1"/>
                </a:solidFill>
              </a:rPr>
              <a:t>lowest value of RSS</a:t>
            </a:r>
            <a:r>
              <a:rPr lang="en-US" dirty="0">
                <a:solidFill>
                  <a:schemeClr val="accent1"/>
                </a:solidFill>
              </a:rPr>
              <a:t> is the best fit </a:t>
            </a:r>
            <a:r>
              <a:rPr lang="en-US" dirty="0" smtClean="0">
                <a:solidFill>
                  <a:schemeClr val="accent1"/>
                </a:solidFill>
              </a:rPr>
              <a:t>line.</a:t>
            </a:r>
          </a:p>
          <a:p>
            <a:r>
              <a:rPr lang="en-US" dirty="0" smtClean="0">
                <a:solidFill>
                  <a:schemeClr val="accent1"/>
                </a:solidFill>
              </a:rPr>
              <a:t>In </a:t>
            </a:r>
            <a:r>
              <a:rPr lang="en-US" dirty="0">
                <a:solidFill>
                  <a:schemeClr val="accent1"/>
                </a:solidFill>
              </a:rPr>
              <a:t>simple linear regression, if the coefficient of </a:t>
            </a:r>
            <a:r>
              <a:rPr lang="en-US" i="1" dirty="0">
                <a:solidFill>
                  <a:schemeClr val="accent1"/>
                </a:solidFill>
              </a:rPr>
              <a:t>x</a:t>
            </a:r>
            <a:r>
              <a:rPr lang="en-US" dirty="0">
                <a:solidFill>
                  <a:schemeClr val="accent1"/>
                </a:solidFill>
              </a:rPr>
              <a:t> is positive, then we can conclude that the relationship between the independent and the dependent variables is positive</a:t>
            </a:r>
            <a:r>
              <a:rPr lang="en-US" dirty="0" smtClean="0">
                <a:solidFill>
                  <a:schemeClr val="accent1"/>
                </a:solidFill>
              </a:rPr>
              <a:t>.</a:t>
            </a:r>
          </a:p>
          <a:p>
            <a:r>
              <a:rPr lang="en-US" dirty="0">
                <a:solidFill>
                  <a:schemeClr val="accent1"/>
                </a:solidFill>
              </a:rPr>
              <a:t>Here, if the value of </a:t>
            </a:r>
            <a:r>
              <a:rPr lang="en-US" i="1" dirty="0">
                <a:solidFill>
                  <a:schemeClr val="accent1"/>
                </a:solidFill>
              </a:rPr>
              <a:t>x</a:t>
            </a:r>
            <a:r>
              <a:rPr lang="en-US" dirty="0">
                <a:solidFill>
                  <a:schemeClr val="accent1"/>
                </a:solidFill>
              </a:rPr>
              <a:t> increases, the value of </a:t>
            </a:r>
            <a:r>
              <a:rPr lang="en-US" i="1" dirty="0">
                <a:solidFill>
                  <a:schemeClr val="accent1"/>
                </a:solidFill>
              </a:rPr>
              <a:t>y</a:t>
            </a:r>
            <a:r>
              <a:rPr lang="en-US" dirty="0">
                <a:solidFill>
                  <a:schemeClr val="accent1"/>
                </a:solidFill>
              </a:rPr>
              <a:t> also increases</a:t>
            </a:r>
          </a:p>
        </p:txBody>
      </p:sp>
    </p:spTree>
    <p:extLst>
      <p:ext uri="{BB962C8B-B14F-4D97-AF65-F5344CB8AC3E}">
        <p14:creationId xmlns:p14="http://schemas.microsoft.com/office/powerpoint/2010/main" val="17765733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example</a:t>
            </a:r>
            <a:endParaRPr lang="en-US" dirty="0">
              <a:solidFill>
                <a:schemeClr val="accent1"/>
              </a:solidFill>
            </a:endParaRPr>
          </a:p>
        </p:txBody>
      </p:sp>
      <p:pic>
        <p:nvPicPr>
          <p:cNvPr id="4" name="Content Placeholder 3"/>
          <p:cNvPicPr>
            <a:picLocks noGrp="1" noChangeAspect="1"/>
          </p:cNvPicPr>
          <p:nvPr>
            <p:ph idx="1"/>
          </p:nvPr>
        </p:nvPicPr>
        <p:blipFill>
          <a:blip r:embed="rId3"/>
          <a:stretch>
            <a:fillRect/>
          </a:stretch>
        </p:blipFill>
        <p:spPr>
          <a:xfrm>
            <a:off x="3726873" y="623454"/>
            <a:ext cx="8132618" cy="5822013"/>
          </a:xfrm>
          <a:prstGeom prst="rect">
            <a:avLst/>
          </a:prstGeom>
        </p:spPr>
      </p:pic>
      <p:sp>
        <p:nvSpPr>
          <p:cNvPr id="5" name="TextBox 4"/>
          <p:cNvSpPr txBox="1"/>
          <p:nvPr/>
        </p:nvSpPr>
        <p:spPr>
          <a:xfrm>
            <a:off x="332509" y="1690688"/>
            <a:ext cx="2888673" cy="4893647"/>
          </a:xfrm>
          <a:prstGeom prst="rect">
            <a:avLst/>
          </a:prstGeom>
          <a:noFill/>
        </p:spPr>
        <p:txBody>
          <a:bodyPr wrap="square" rtlCol="0">
            <a:spAutoFit/>
          </a:bodyPr>
          <a:lstStyle/>
          <a:p>
            <a:r>
              <a:rPr lang="en-US" sz="2400" dirty="0">
                <a:solidFill>
                  <a:schemeClr val="accent1"/>
                </a:solidFill>
              </a:rPr>
              <a:t>The height coefficient in the regression equation is 106.5. This coefficient represents the mean increase of weight in kilograms for every additional one meter in height. If your height increases by 1 meter, the average weight increases by 106.5 kilograms.</a:t>
            </a:r>
          </a:p>
        </p:txBody>
      </p:sp>
    </p:spTree>
    <p:extLst>
      <p:ext uri="{BB962C8B-B14F-4D97-AF65-F5344CB8AC3E}">
        <p14:creationId xmlns:p14="http://schemas.microsoft.com/office/powerpoint/2010/main" val="41508820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t="21406" r="19389"/>
          <a:stretch/>
        </p:blipFill>
        <p:spPr>
          <a:xfrm>
            <a:off x="838200" y="348113"/>
            <a:ext cx="10515600" cy="5764245"/>
          </a:xfrm>
        </p:spPr>
      </p:pic>
    </p:spTree>
    <p:extLst>
      <p:ext uri="{BB962C8B-B14F-4D97-AF65-F5344CB8AC3E}">
        <p14:creationId xmlns:p14="http://schemas.microsoft.com/office/powerpoint/2010/main" val="22786230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2"/>
          <a:srcRect t="21087" r="21896" b="6318"/>
          <a:stretch/>
        </p:blipFill>
        <p:spPr>
          <a:xfrm>
            <a:off x="688401" y="365125"/>
            <a:ext cx="9508544" cy="4968799"/>
          </a:xfrm>
          <a:prstGeom prst="rect">
            <a:avLst/>
          </a:prstGeom>
        </p:spPr>
      </p:pic>
    </p:spTree>
    <p:extLst>
      <p:ext uri="{BB962C8B-B14F-4D97-AF65-F5344CB8AC3E}">
        <p14:creationId xmlns:p14="http://schemas.microsoft.com/office/powerpoint/2010/main" val="20904973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t="21406" r="22253"/>
          <a:stretch/>
        </p:blipFill>
        <p:spPr>
          <a:xfrm>
            <a:off x="245371" y="200526"/>
            <a:ext cx="6572524" cy="66574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p:cNvPicPr>
            <a:picLocks noChangeAspect="1"/>
          </p:cNvPicPr>
          <p:nvPr/>
        </p:nvPicPr>
        <p:blipFill rotWithShape="1">
          <a:blip r:embed="rId4"/>
          <a:srcRect l="3681" t="35702" r="23379" b="6154"/>
          <a:stretch/>
        </p:blipFill>
        <p:spPr>
          <a:xfrm>
            <a:off x="6978316" y="1018471"/>
            <a:ext cx="5101389" cy="5157740"/>
          </a:xfrm>
          <a:prstGeom prst="rect">
            <a:avLst/>
          </a:prstGeom>
        </p:spPr>
      </p:pic>
    </p:spTree>
    <p:extLst>
      <p:ext uri="{BB962C8B-B14F-4D97-AF65-F5344CB8AC3E}">
        <p14:creationId xmlns:p14="http://schemas.microsoft.com/office/powerpoint/2010/main" val="30707442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t="12967" r="19314" b="590"/>
          <a:stretch/>
        </p:blipFill>
        <p:spPr>
          <a:xfrm>
            <a:off x="194115" y="0"/>
            <a:ext cx="6545970" cy="6212138"/>
          </a:xfrm>
        </p:spPr>
      </p:pic>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l="2763" t="36702" r="44474" b="5241"/>
          <a:stretch/>
        </p:blipFill>
        <p:spPr>
          <a:xfrm>
            <a:off x="6367911" y="365125"/>
            <a:ext cx="5824089" cy="28112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p:cNvPicPr>
            <a:picLocks noChangeAspect="1"/>
          </p:cNvPicPr>
          <p:nvPr/>
        </p:nvPicPr>
        <p:blipFill rotWithShape="1">
          <a:blip r:embed="rId5"/>
          <a:srcRect l="-921" t="37993" r="35821" b="4770"/>
          <a:stretch/>
        </p:blipFill>
        <p:spPr>
          <a:xfrm>
            <a:off x="6367911" y="3962401"/>
            <a:ext cx="5678905" cy="261486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86278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2119" t="11871" r="22018" b="15133"/>
          <a:stretch/>
        </p:blipFill>
        <p:spPr>
          <a:xfrm>
            <a:off x="7209" y="102519"/>
            <a:ext cx="9890769" cy="3458828"/>
          </a:xfrm>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10527" t="7698" r="10394" b="8284"/>
          <a:stretch/>
        </p:blipFill>
        <p:spPr>
          <a:xfrm>
            <a:off x="5431809" y="3316406"/>
            <a:ext cx="6496334" cy="3405236"/>
          </a:xfrm>
          <a:prstGeom prst="rect">
            <a:avLst/>
          </a:prstGeom>
        </p:spPr>
      </p:pic>
    </p:spTree>
    <p:extLst>
      <p:ext uri="{BB962C8B-B14F-4D97-AF65-F5344CB8AC3E}">
        <p14:creationId xmlns:p14="http://schemas.microsoft.com/office/powerpoint/2010/main" val="17920641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2948" t="31779" r="12068" b="6653"/>
          <a:stretch/>
        </p:blipFill>
        <p:spPr>
          <a:xfrm>
            <a:off x="838199" y="1363579"/>
            <a:ext cx="11209421" cy="5325979"/>
          </a:xfrm>
          <a:prstGeom prst="rect">
            <a:avLst/>
          </a:prstGeom>
        </p:spPr>
      </p:pic>
      <p:sp>
        <p:nvSpPr>
          <p:cNvPr id="7" name="TextBox 6"/>
          <p:cNvSpPr txBox="1"/>
          <p:nvPr/>
        </p:nvSpPr>
        <p:spPr>
          <a:xfrm>
            <a:off x="593797" y="594138"/>
            <a:ext cx="8017940" cy="769441"/>
          </a:xfrm>
          <a:prstGeom prst="rect">
            <a:avLst/>
          </a:prstGeom>
          <a:noFill/>
        </p:spPr>
        <p:txBody>
          <a:bodyPr wrap="square" rtlCol="0">
            <a:spAutoFit/>
          </a:bodyPr>
          <a:lstStyle/>
          <a:p>
            <a:r>
              <a:rPr lang="en-US" sz="4400" dirty="0" smtClean="0"/>
              <a:t>Normally Distributed Errors</a:t>
            </a:r>
            <a:endParaRPr lang="en-US" sz="4400" dirty="0"/>
          </a:p>
        </p:txBody>
      </p:sp>
    </p:spTree>
    <p:extLst>
      <p:ext uri="{BB962C8B-B14F-4D97-AF65-F5344CB8AC3E}">
        <p14:creationId xmlns:p14="http://schemas.microsoft.com/office/powerpoint/2010/main" val="42156544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335511-8066-F078-A8F0-69B07E36153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347E51D4-D7C3-29C7-C27A-74DAF9D38EA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6A5D4A56-1310-F160-78E9-A92CB1404843}"/>
              </a:ext>
            </a:extLst>
          </p:cNvPr>
          <p:cNvPicPr>
            <a:picLocks noChangeAspect="1"/>
          </p:cNvPicPr>
          <p:nvPr/>
        </p:nvPicPr>
        <p:blipFill rotWithShape="1">
          <a:blip r:embed="rId2"/>
          <a:srcRect b="9071"/>
          <a:stretch/>
        </p:blipFill>
        <p:spPr>
          <a:xfrm>
            <a:off x="0" y="1674"/>
            <a:ext cx="12192000" cy="6232872"/>
          </a:xfrm>
          <a:prstGeom prst="rect">
            <a:avLst/>
          </a:prstGeom>
        </p:spPr>
      </p:pic>
      <p:pic>
        <p:nvPicPr>
          <p:cNvPr id="6" name="Picture 5"/>
          <p:cNvPicPr>
            <a:picLocks noChangeAspect="1"/>
          </p:cNvPicPr>
          <p:nvPr/>
        </p:nvPicPr>
        <p:blipFill rotWithShape="1">
          <a:blip r:embed="rId3"/>
          <a:srcRect l="10282" t="17898" r="11879" b="8428"/>
          <a:stretch/>
        </p:blipFill>
        <p:spPr>
          <a:xfrm>
            <a:off x="4655127" y="3009669"/>
            <a:ext cx="6082145" cy="35883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TextBox 3"/>
          <p:cNvSpPr txBox="1"/>
          <p:nvPr/>
        </p:nvSpPr>
        <p:spPr>
          <a:xfrm>
            <a:off x="619990" y="3118110"/>
            <a:ext cx="3616037" cy="2800767"/>
          </a:xfrm>
          <a:prstGeom prst="rect">
            <a:avLst/>
          </a:prstGeom>
          <a:noFill/>
        </p:spPr>
        <p:txBody>
          <a:bodyPr wrap="square" rtlCol="0">
            <a:spAutoFit/>
          </a:bodyPr>
          <a:lstStyle/>
          <a:p>
            <a:r>
              <a:rPr lang="en-US" sz="4400" dirty="0" smtClean="0"/>
              <a:t>Predicting House Price using multiple features </a:t>
            </a:r>
            <a:endParaRPr lang="en-US" sz="4400" dirty="0"/>
          </a:p>
        </p:txBody>
      </p:sp>
    </p:spTree>
    <p:extLst>
      <p:ext uri="{BB962C8B-B14F-4D97-AF65-F5344CB8AC3E}">
        <p14:creationId xmlns:p14="http://schemas.microsoft.com/office/powerpoint/2010/main" val="28671676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accent1"/>
                </a:solidFill>
              </a:rPr>
              <a:t>What is multiple </a:t>
            </a:r>
            <a:r>
              <a:rPr lang="en-US" b="1" dirty="0" smtClean="0">
                <a:solidFill>
                  <a:schemeClr val="accent1"/>
                </a:solidFill>
              </a:rPr>
              <a:t>Linear regression </a:t>
            </a:r>
            <a:r>
              <a:rPr lang="en-US" b="1" dirty="0">
                <a:solidFill>
                  <a:schemeClr val="accent1"/>
                </a:solidFill>
              </a:rPr>
              <a:t>and why is it used?</a:t>
            </a:r>
            <a:r>
              <a:rPr lang="en-US" dirty="0"/>
              <a:t/>
            </a:r>
            <a:br>
              <a:rPr lang="en-US" dirty="0"/>
            </a:br>
            <a:endParaRPr lang="en-US" dirty="0"/>
          </a:p>
        </p:txBody>
      </p:sp>
      <p:sp>
        <p:nvSpPr>
          <p:cNvPr id="3" name="Content Placeholder 2"/>
          <p:cNvSpPr>
            <a:spLocks noGrp="1"/>
          </p:cNvSpPr>
          <p:nvPr>
            <p:ph idx="1"/>
          </p:nvPr>
        </p:nvSpPr>
        <p:spPr/>
        <p:txBody>
          <a:bodyPr/>
          <a:lstStyle/>
          <a:p>
            <a:r>
              <a:rPr lang="en-US" dirty="0" smtClean="0">
                <a:solidFill>
                  <a:schemeClr val="accent1"/>
                </a:solidFill>
              </a:rPr>
              <a:t>Multiple linear </a:t>
            </a:r>
            <a:r>
              <a:rPr lang="en-US" dirty="0">
                <a:solidFill>
                  <a:schemeClr val="accent1"/>
                </a:solidFill>
              </a:rPr>
              <a:t>regression is </a:t>
            </a:r>
            <a:r>
              <a:rPr lang="en-US" b="1" dirty="0">
                <a:solidFill>
                  <a:schemeClr val="accent1"/>
                </a:solidFill>
              </a:rPr>
              <a:t>a statistical technique that can be used to analyze the relationship between a single dependent variable and several independent variables</a:t>
            </a:r>
            <a:r>
              <a:rPr lang="en-US" dirty="0">
                <a:solidFill>
                  <a:schemeClr val="accent1"/>
                </a:solidFill>
              </a:rPr>
              <a:t>. </a:t>
            </a:r>
            <a:endParaRPr lang="en-US" dirty="0" smtClean="0">
              <a:solidFill>
                <a:schemeClr val="accent1"/>
              </a:solidFill>
            </a:endParaRPr>
          </a:p>
          <a:p>
            <a:r>
              <a:rPr lang="en-US" dirty="0" smtClean="0">
                <a:solidFill>
                  <a:schemeClr val="accent1"/>
                </a:solidFill>
              </a:rPr>
              <a:t>The </a:t>
            </a:r>
            <a:r>
              <a:rPr lang="en-US" dirty="0">
                <a:solidFill>
                  <a:schemeClr val="accent1"/>
                </a:solidFill>
              </a:rPr>
              <a:t>objective of multiple regression analysis is to use the independent variables whose values are known to predict the value of the single dependent value.</a:t>
            </a:r>
          </a:p>
          <a:p>
            <a:r>
              <a:rPr lang="en-US" dirty="0">
                <a:solidFill>
                  <a:schemeClr val="accent1"/>
                </a:solidFill>
                <a:hlinkClick r:id="rId2"/>
              </a:rPr>
              <a:t>Multiple linear regression</a:t>
            </a:r>
            <a:r>
              <a:rPr lang="en-US" dirty="0">
                <a:solidFill>
                  <a:schemeClr val="accent1"/>
                </a:solidFill>
              </a:rPr>
              <a:t> is a regression model that estimates the relationship between a quantitative dependent variable and two or more independent variables using a straight line.</a:t>
            </a:r>
          </a:p>
        </p:txBody>
      </p:sp>
    </p:spTree>
    <p:extLst>
      <p:ext uri="{BB962C8B-B14F-4D97-AF65-F5344CB8AC3E}">
        <p14:creationId xmlns:p14="http://schemas.microsoft.com/office/powerpoint/2010/main" val="298867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You can use multiple linear regression </a:t>
            </a:r>
            <a:r>
              <a:rPr lang="en-US" dirty="0" smtClean="0">
                <a:solidFill>
                  <a:schemeClr val="accent1"/>
                </a:solidFill>
              </a:rPr>
              <a:t>:</a:t>
            </a:r>
            <a:endParaRPr lang="en-US" dirty="0">
              <a:solidFill>
                <a:schemeClr val="accent1"/>
              </a:solidFill>
            </a:endParaRPr>
          </a:p>
        </p:txBody>
      </p:sp>
      <p:sp>
        <p:nvSpPr>
          <p:cNvPr id="3" name="Content Placeholder 2"/>
          <p:cNvSpPr>
            <a:spLocks noGrp="1"/>
          </p:cNvSpPr>
          <p:nvPr>
            <p:ph idx="1"/>
          </p:nvPr>
        </p:nvSpPr>
        <p:spPr/>
        <p:txBody>
          <a:bodyPr>
            <a:normAutofit/>
          </a:bodyPr>
          <a:lstStyle/>
          <a:p>
            <a:r>
              <a:rPr lang="en-US" sz="3200" dirty="0" smtClean="0">
                <a:solidFill>
                  <a:schemeClr val="accent1"/>
                </a:solidFill>
              </a:rPr>
              <a:t>How </a:t>
            </a:r>
            <a:r>
              <a:rPr lang="en-US" sz="3200" dirty="0">
                <a:solidFill>
                  <a:schemeClr val="accent1"/>
                </a:solidFill>
              </a:rPr>
              <a:t>strong the relationship is between two or more independent variables and one dependent variable (e.g. how rainfall, temperature, and amount of fertilizer added affect crop growth).</a:t>
            </a:r>
          </a:p>
          <a:p>
            <a:r>
              <a:rPr lang="en-US" sz="3200" dirty="0">
                <a:solidFill>
                  <a:schemeClr val="accent1"/>
                </a:solidFill>
              </a:rPr>
              <a:t>The value of the dependent variable at a certain value of the independent variables (e.g. the expected yield of a crop at certain levels of rainfall, temperature, and fertilizer addition).</a:t>
            </a:r>
          </a:p>
        </p:txBody>
      </p:sp>
    </p:spTree>
    <p:extLst>
      <p:ext uri="{BB962C8B-B14F-4D97-AF65-F5344CB8AC3E}">
        <p14:creationId xmlns:p14="http://schemas.microsoft.com/office/powerpoint/2010/main" val="788388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904" y="0"/>
            <a:ext cx="10515600" cy="1325563"/>
          </a:xfrm>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933735" y="1132764"/>
            <a:ext cx="10515600" cy="5725235"/>
          </a:xfrm>
        </p:spPr>
        <p:txBody>
          <a:bodyPr>
            <a:normAutofit lnSpcReduction="10000"/>
          </a:bodyPr>
          <a:lstStyle/>
          <a:p>
            <a:r>
              <a:rPr lang="en-US" dirty="0"/>
              <a:t>The goal of MLR is to model the </a:t>
            </a:r>
            <a:r>
              <a:rPr lang="en-US" dirty="0">
                <a:hlinkClick r:id="rId2"/>
              </a:rPr>
              <a:t>linear relationship</a:t>
            </a:r>
            <a:r>
              <a:rPr lang="en-US" dirty="0"/>
              <a:t> between the explanatory (independent) variables and response (dependent) variables. In essence, multiple regression is the extension of ordinary least-squares (OLS) </a:t>
            </a:r>
            <a:r>
              <a:rPr lang="en-US" dirty="0">
                <a:hlinkClick r:id="rId3"/>
              </a:rPr>
              <a:t>regression</a:t>
            </a:r>
            <a:r>
              <a:rPr lang="en-US" dirty="0"/>
              <a:t> because it involves more than one explanatory variable. </a:t>
            </a:r>
            <a:endParaRPr lang="en-US" dirty="0" smtClean="0"/>
          </a:p>
          <a:p>
            <a:r>
              <a:rPr lang="en-US" sz="4000" dirty="0" err="1"/>
              <a:t>yi</a:t>
            </a:r>
            <a:r>
              <a:rPr lang="en-US" sz="4000" dirty="0"/>
              <a:t>​=</a:t>
            </a:r>
            <a:r>
              <a:rPr lang="el-GR" sz="4000" dirty="0"/>
              <a:t>β0​+β1​</a:t>
            </a:r>
            <a:r>
              <a:rPr lang="en-US" sz="4000" dirty="0"/>
              <a:t>xi1​+</a:t>
            </a:r>
            <a:r>
              <a:rPr lang="el-GR" sz="4000" dirty="0"/>
              <a:t>β2​</a:t>
            </a:r>
            <a:r>
              <a:rPr lang="en-US" sz="4000" dirty="0"/>
              <a:t>xi2​+...+</a:t>
            </a:r>
            <a:r>
              <a:rPr lang="el-GR" sz="4000" dirty="0"/>
              <a:t>β</a:t>
            </a:r>
            <a:r>
              <a:rPr lang="en-US" sz="4000" dirty="0"/>
              <a:t>p​</a:t>
            </a:r>
            <a:r>
              <a:rPr lang="en-US" sz="4000" dirty="0" err="1"/>
              <a:t>xip</a:t>
            </a:r>
            <a:r>
              <a:rPr lang="en-US" sz="4000" dirty="0"/>
              <a:t>​+</a:t>
            </a:r>
            <a:r>
              <a:rPr lang="el-GR" sz="4000" dirty="0" smtClean="0"/>
              <a:t>ϵ</a:t>
            </a:r>
            <a:endParaRPr lang="en-US" sz="4000" dirty="0" smtClean="0"/>
          </a:p>
          <a:p>
            <a:r>
              <a:rPr lang="en-US" dirty="0" smtClean="0"/>
              <a:t>where</a:t>
            </a:r>
            <a:r>
              <a:rPr lang="en-US" dirty="0"/>
              <a:t>, for </a:t>
            </a:r>
            <a:r>
              <a:rPr lang="en-US" dirty="0" err="1"/>
              <a:t>i</a:t>
            </a:r>
            <a:r>
              <a:rPr lang="en-US" dirty="0"/>
              <a:t>=n </a:t>
            </a:r>
            <a:r>
              <a:rPr lang="en-US" dirty="0" smtClean="0"/>
              <a:t>observations</a:t>
            </a:r>
          </a:p>
          <a:p>
            <a:r>
              <a:rPr lang="en-US" dirty="0" err="1" smtClean="0"/>
              <a:t>yi</a:t>
            </a:r>
            <a:r>
              <a:rPr lang="en-US" dirty="0"/>
              <a:t>​=dependent </a:t>
            </a:r>
            <a:r>
              <a:rPr lang="en-US" dirty="0" smtClean="0"/>
              <a:t>variable</a:t>
            </a:r>
          </a:p>
          <a:p>
            <a:r>
              <a:rPr lang="en-US" dirty="0" smtClean="0"/>
              <a:t>xi</a:t>
            </a:r>
            <a:r>
              <a:rPr lang="en-US" dirty="0"/>
              <a:t>​=explanatory </a:t>
            </a:r>
            <a:r>
              <a:rPr lang="en-US" dirty="0" smtClean="0"/>
              <a:t>variables</a:t>
            </a:r>
          </a:p>
          <a:p>
            <a:r>
              <a:rPr lang="el-GR" dirty="0" smtClean="0"/>
              <a:t>β0</a:t>
            </a:r>
            <a:r>
              <a:rPr lang="el-GR" dirty="0"/>
              <a:t>​=</a:t>
            </a:r>
            <a:r>
              <a:rPr lang="en-US" dirty="0" smtClean="0"/>
              <a:t>y-intercept</a:t>
            </a:r>
            <a:r>
              <a:rPr lang="en-US" dirty="0"/>
              <a:t> (constant term</a:t>
            </a:r>
            <a:r>
              <a:rPr lang="en-US" dirty="0" smtClean="0"/>
              <a:t>)</a:t>
            </a:r>
          </a:p>
          <a:p>
            <a:r>
              <a:rPr lang="el-GR" dirty="0" smtClean="0"/>
              <a:t>β</a:t>
            </a:r>
            <a:r>
              <a:rPr lang="en-US" dirty="0"/>
              <a:t>p​=slope coefficients for each explanatory </a:t>
            </a:r>
            <a:r>
              <a:rPr lang="en-US" dirty="0" smtClean="0"/>
              <a:t>Variable</a:t>
            </a:r>
          </a:p>
          <a:p>
            <a:pPr marL="0" indent="0">
              <a:buNone/>
            </a:pPr>
            <a:r>
              <a:rPr lang="el-GR" dirty="0" smtClean="0"/>
              <a:t>ϵ=</a:t>
            </a:r>
            <a:r>
              <a:rPr lang="en-US" dirty="0" smtClean="0"/>
              <a:t>the model’s error term (also known as the residuals)​</a:t>
            </a:r>
            <a:endParaRPr lang="en-US" dirty="0"/>
          </a:p>
        </p:txBody>
      </p:sp>
    </p:spTree>
    <p:extLst>
      <p:ext uri="{BB962C8B-B14F-4D97-AF65-F5344CB8AC3E}">
        <p14:creationId xmlns:p14="http://schemas.microsoft.com/office/powerpoint/2010/main" val="13017326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9D0158-C656-841F-A7FB-4AB2928FC7F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1A652FEE-8FBC-8EEB-25D9-CDF4BABD22D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E4B9F48F-7575-A606-1EE0-6A4530775918}"/>
              </a:ext>
            </a:extLst>
          </p:cNvPr>
          <p:cNvPicPr>
            <a:picLocks noChangeAspect="1"/>
          </p:cNvPicPr>
          <p:nvPr/>
        </p:nvPicPr>
        <p:blipFill rotWithShape="1">
          <a:blip r:embed="rId2"/>
          <a:srcRect b="10287"/>
          <a:stretch/>
        </p:blipFill>
        <p:spPr>
          <a:xfrm>
            <a:off x="0" y="15742"/>
            <a:ext cx="12192000" cy="6149532"/>
          </a:xfrm>
          <a:prstGeom prst="rect">
            <a:avLst/>
          </a:prstGeom>
        </p:spPr>
      </p:pic>
    </p:spTree>
    <p:extLst>
      <p:ext uri="{BB962C8B-B14F-4D97-AF65-F5344CB8AC3E}">
        <p14:creationId xmlns:p14="http://schemas.microsoft.com/office/powerpoint/2010/main" val="12822654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DE7B7E7-FD11-FAF2-CC4B-A3A20DB184F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7F23DD3B-D907-8AE4-2285-76C326A24D1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774F7F3E-5337-0F51-9E98-FFB7A14AAB6F}"/>
              </a:ext>
            </a:extLst>
          </p:cNvPr>
          <p:cNvPicPr>
            <a:picLocks noChangeAspect="1"/>
          </p:cNvPicPr>
          <p:nvPr/>
        </p:nvPicPr>
        <p:blipFill rotWithShape="1">
          <a:blip r:embed="rId2"/>
          <a:srcRect b="10890"/>
          <a:stretch/>
        </p:blipFill>
        <p:spPr>
          <a:xfrm>
            <a:off x="245660" y="365125"/>
            <a:ext cx="12192000" cy="6108182"/>
          </a:xfrm>
          <a:prstGeom prst="rect">
            <a:avLst/>
          </a:prstGeom>
        </p:spPr>
      </p:pic>
    </p:spTree>
    <p:extLst>
      <p:ext uri="{BB962C8B-B14F-4D97-AF65-F5344CB8AC3E}">
        <p14:creationId xmlns:p14="http://schemas.microsoft.com/office/powerpoint/2010/main" val="38912709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31447C-3FA1-621A-BDB1-02B799121E7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470C6777-0B3D-0BAB-F803-6AC2BD87B45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42C29B6D-21FA-6E92-A59F-742450196A65}"/>
              </a:ext>
            </a:extLst>
          </p:cNvPr>
          <p:cNvPicPr>
            <a:picLocks noChangeAspect="1"/>
          </p:cNvPicPr>
          <p:nvPr/>
        </p:nvPicPr>
        <p:blipFill rotWithShape="1">
          <a:blip r:embed="rId2"/>
          <a:srcRect b="10890"/>
          <a:stretch/>
        </p:blipFill>
        <p:spPr>
          <a:xfrm>
            <a:off x="150125" y="365125"/>
            <a:ext cx="11873553" cy="6108182"/>
          </a:xfrm>
          <a:prstGeom prst="rect">
            <a:avLst/>
          </a:prstGeom>
        </p:spPr>
      </p:pic>
    </p:spTree>
    <p:extLst>
      <p:ext uri="{BB962C8B-B14F-4D97-AF65-F5344CB8AC3E}">
        <p14:creationId xmlns:p14="http://schemas.microsoft.com/office/powerpoint/2010/main" val="17148641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7C5B42A-5C73-8A6B-F647-2B28076DE0E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3CE89C33-F677-8E27-58C0-61C1CFE2A72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A871C86D-86CB-B121-ADF3-0AE15DA9CAAB}"/>
              </a:ext>
            </a:extLst>
          </p:cNvPr>
          <p:cNvPicPr>
            <a:picLocks noChangeAspect="1"/>
          </p:cNvPicPr>
          <p:nvPr/>
        </p:nvPicPr>
        <p:blipFill rotWithShape="1">
          <a:blip r:embed="rId2"/>
          <a:srcRect b="10486"/>
          <a:stretch/>
        </p:blipFill>
        <p:spPr>
          <a:xfrm>
            <a:off x="0" y="1673"/>
            <a:ext cx="12192000" cy="6135891"/>
          </a:xfrm>
          <a:prstGeom prst="rect">
            <a:avLst/>
          </a:prstGeom>
        </p:spPr>
      </p:pic>
    </p:spTree>
    <p:extLst>
      <p:ext uri="{BB962C8B-B14F-4D97-AF65-F5344CB8AC3E}">
        <p14:creationId xmlns:p14="http://schemas.microsoft.com/office/powerpoint/2010/main" val="13064703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Follow these steps to perform the calculation</a:t>
            </a:r>
            <a:r>
              <a:rPr lang="en-US" dirty="0" smtClean="0"/>
              <a:t>:</a:t>
            </a:r>
            <a:endParaRPr lang="en-US" dirty="0"/>
          </a:p>
        </p:txBody>
      </p:sp>
      <p:sp>
        <p:nvSpPr>
          <p:cNvPr id="3" name="Content Placeholder 2"/>
          <p:cNvSpPr>
            <a:spLocks noGrp="1"/>
          </p:cNvSpPr>
          <p:nvPr>
            <p:ph idx="1"/>
          </p:nvPr>
        </p:nvSpPr>
        <p:spPr/>
        <p:txBody>
          <a:bodyPr>
            <a:normAutofit/>
          </a:bodyPr>
          <a:lstStyle/>
          <a:p>
            <a:r>
              <a:rPr lang="en-US" dirty="0" smtClean="0"/>
              <a:t>Identify </a:t>
            </a:r>
            <a:r>
              <a:rPr lang="en-US" dirty="0"/>
              <a:t>the explanatory variables you plan to use for the regression analysis.</a:t>
            </a:r>
          </a:p>
          <a:p>
            <a:r>
              <a:rPr lang="en-US" dirty="0"/>
              <a:t>Collect data on these variables along with the response variable.</a:t>
            </a:r>
          </a:p>
          <a:p>
            <a:r>
              <a:rPr lang="en-US" dirty="0"/>
              <a:t>Use statistical software to input the data and perform the regression analysis.</a:t>
            </a:r>
          </a:p>
          <a:p>
            <a:r>
              <a:rPr lang="en-US" dirty="0"/>
              <a:t>Analyze the output to understand the relationships between variables.</a:t>
            </a:r>
          </a:p>
          <a:p>
            <a:r>
              <a:rPr lang="en-US" dirty="0"/>
              <a:t>Interpret the coefficients to assess the impact of each explanatory variable on the response variable.</a:t>
            </a:r>
          </a:p>
          <a:p>
            <a:endParaRPr lang="en-US" dirty="0"/>
          </a:p>
        </p:txBody>
      </p:sp>
    </p:spTree>
    <p:extLst>
      <p:ext uri="{BB962C8B-B14F-4D97-AF65-F5344CB8AC3E}">
        <p14:creationId xmlns:p14="http://schemas.microsoft.com/office/powerpoint/2010/main" val="29414422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7E23A2-748E-B1AD-C875-1CDF3EF67B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6E9AC5EC-180D-1663-97C2-7BF71A99C60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737B4244-3227-77A2-00F2-04B4BD2F9676}"/>
              </a:ext>
            </a:extLst>
          </p:cNvPr>
          <p:cNvPicPr>
            <a:picLocks noChangeAspect="1"/>
          </p:cNvPicPr>
          <p:nvPr/>
        </p:nvPicPr>
        <p:blipFill rotWithShape="1">
          <a:blip r:embed="rId2"/>
          <a:srcRect b="6847"/>
          <a:stretch/>
        </p:blipFill>
        <p:spPr>
          <a:xfrm>
            <a:off x="0" y="138151"/>
            <a:ext cx="12192000" cy="6385272"/>
          </a:xfrm>
          <a:prstGeom prst="rect">
            <a:avLst/>
          </a:prstGeom>
        </p:spPr>
      </p:pic>
    </p:spTree>
    <p:extLst>
      <p:ext uri="{BB962C8B-B14F-4D97-AF65-F5344CB8AC3E}">
        <p14:creationId xmlns:p14="http://schemas.microsoft.com/office/powerpoint/2010/main" val="7671080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FD9480-FD34-1C5E-5959-EF1CAB4110A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0234E927-48CF-8252-E66B-5435B43A4D8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xmlns="" id="{0F90C2CC-35DC-5617-29B9-4B4FA19BA183}"/>
              </a:ext>
            </a:extLst>
          </p:cNvPr>
          <p:cNvPicPr>
            <a:picLocks noChangeAspect="1"/>
          </p:cNvPicPr>
          <p:nvPr/>
        </p:nvPicPr>
        <p:blipFill rotWithShape="1">
          <a:blip r:embed="rId2"/>
          <a:srcRect b="9273"/>
          <a:stretch/>
        </p:blipFill>
        <p:spPr>
          <a:xfrm>
            <a:off x="0" y="1674"/>
            <a:ext cx="12192000" cy="6219018"/>
          </a:xfrm>
          <a:prstGeom prst="rect">
            <a:avLst/>
          </a:prstGeom>
        </p:spPr>
      </p:pic>
    </p:spTree>
    <p:extLst>
      <p:ext uri="{BB962C8B-B14F-4D97-AF65-F5344CB8AC3E}">
        <p14:creationId xmlns:p14="http://schemas.microsoft.com/office/powerpoint/2010/main" val="23500652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MLR model is based on the following assumptions: </a:t>
            </a:r>
          </a:p>
        </p:txBody>
      </p:sp>
      <p:sp>
        <p:nvSpPr>
          <p:cNvPr id="3" name="Content Placeholder 2"/>
          <p:cNvSpPr>
            <a:spLocks noGrp="1"/>
          </p:cNvSpPr>
          <p:nvPr>
            <p:ph idx="1"/>
          </p:nvPr>
        </p:nvSpPr>
        <p:spPr>
          <a:xfrm>
            <a:off x="838200" y="1825625"/>
            <a:ext cx="10515600" cy="4875426"/>
          </a:xfrm>
        </p:spPr>
        <p:txBody>
          <a:bodyPr>
            <a:normAutofit lnSpcReduction="10000"/>
          </a:bodyPr>
          <a:lstStyle/>
          <a:p>
            <a:r>
              <a:rPr lang="en-US" dirty="0" smtClean="0"/>
              <a:t>There </a:t>
            </a:r>
            <a:r>
              <a:rPr lang="en-US" dirty="0"/>
              <a:t>is a </a:t>
            </a:r>
            <a:r>
              <a:rPr lang="en-US" dirty="0">
                <a:hlinkClick r:id="rId2"/>
              </a:rPr>
              <a:t>linear relationship</a:t>
            </a:r>
            <a:r>
              <a:rPr lang="en-US" dirty="0"/>
              <a:t> between the dependent variables and the independent variables</a:t>
            </a:r>
          </a:p>
          <a:p>
            <a:r>
              <a:rPr lang="en-US" dirty="0"/>
              <a:t>The independent variables are not too highly </a:t>
            </a:r>
            <a:r>
              <a:rPr lang="en-US" dirty="0">
                <a:hlinkClick r:id="rId3"/>
              </a:rPr>
              <a:t>correlated</a:t>
            </a:r>
            <a:r>
              <a:rPr lang="en-US" dirty="0"/>
              <a:t> with each other</a:t>
            </a:r>
          </a:p>
          <a:p>
            <a:r>
              <a:rPr lang="en-US" dirty="0" err="1"/>
              <a:t>y</a:t>
            </a:r>
            <a:r>
              <a:rPr lang="en-US" baseline="-25000" dirty="0" err="1"/>
              <a:t>i</a:t>
            </a:r>
            <a:r>
              <a:rPr lang="en-US" dirty="0"/>
              <a:t> observations are selected independently and randomly from the population</a:t>
            </a:r>
          </a:p>
          <a:p>
            <a:r>
              <a:rPr lang="en-US" dirty="0"/>
              <a:t>Residuals should be </a:t>
            </a:r>
            <a:r>
              <a:rPr lang="en-US" dirty="0">
                <a:hlinkClick r:id="rId4"/>
              </a:rPr>
              <a:t>normally distributed</a:t>
            </a:r>
            <a:r>
              <a:rPr lang="en-US" dirty="0"/>
              <a:t> with a mean of 0 and </a:t>
            </a:r>
            <a:r>
              <a:rPr lang="en-US" dirty="0">
                <a:hlinkClick r:id="rId5"/>
              </a:rPr>
              <a:t>variance</a:t>
            </a:r>
            <a:r>
              <a:rPr lang="en-US" dirty="0"/>
              <a:t> </a:t>
            </a:r>
            <a:r>
              <a:rPr lang="en-US" i="1" dirty="0" smtClean="0"/>
              <a:t>σ</a:t>
            </a:r>
          </a:p>
          <a:p>
            <a:r>
              <a:rPr lang="en-US" b="1" dirty="0"/>
              <a:t>Important</a:t>
            </a:r>
          </a:p>
          <a:p>
            <a:r>
              <a:rPr lang="en-US" dirty="0"/>
              <a:t>MLR assumes there is a linear relationship between the dependent and independent variables, that the independent variables are not highly correlated, and that the variance of the residuals is constant.</a:t>
            </a:r>
          </a:p>
          <a:p>
            <a:endParaRPr lang="en-US" dirty="0"/>
          </a:p>
          <a:p>
            <a:endParaRPr lang="en-US" dirty="0"/>
          </a:p>
        </p:txBody>
      </p:sp>
    </p:spTree>
    <p:extLst>
      <p:ext uri="{BB962C8B-B14F-4D97-AF65-F5344CB8AC3E}">
        <p14:creationId xmlns:p14="http://schemas.microsoft.com/office/powerpoint/2010/main" val="15431121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What Does It Mean for a Multiple Regression to Be Linear</a:t>
            </a:r>
            <a:r>
              <a:rPr lang="en-US" b="1" dirty="0" smtClean="0"/>
              <a:t>?</a:t>
            </a:r>
            <a:endParaRPr lang="en-US" dirty="0"/>
          </a:p>
        </p:txBody>
      </p:sp>
      <p:sp>
        <p:nvSpPr>
          <p:cNvPr id="3" name="Content Placeholder 2"/>
          <p:cNvSpPr>
            <a:spLocks noGrp="1"/>
          </p:cNvSpPr>
          <p:nvPr>
            <p:ph idx="1"/>
          </p:nvPr>
        </p:nvSpPr>
        <p:spPr/>
        <p:txBody>
          <a:bodyPr>
            <a:normAutofit lnSpcReduction="10000"/>
          </a:bodyPr>
          <a:lstStyle/>
          <a:p>
            <a:r>
              <a:rPr lang="en-US" dirty="0"/>
              <a:t>In multiple linear regression, the model calculates the </a:t>
            </a:r>
            <a:r>
              <a:rPr lang="en-US" dirty="0">
                <a:hlinkClick r:id="rId2"/>
              </a:rPr>
              <a:t>line of best fit</a:t>
            </a:r>
            <a:r>
              <a:rPr lang="en-US" dirty="0"/>
              <a:t> that minimizes the variances of each of the variables included as it relates to the dependent variable. Because it fits a line, it is a linear model. There are also non-linear regression models involving multiple variables, such as logistic regression, quadratic regression, and </a:t>
            </a:r>
            <a:r>
              <a:rPr lang="en-US" dirty="0" err="1"/>
              <a:t>probit</a:t>
            </a:r>
            <a:r>
              <a:rPr lang="en-US" dirty="0"/>
              <a:t> models</a:t>
            </a:r>
            <a:r>
              <a:rPr lang="en-US" dirty="0" smtClean="0"/>
              <a:t>.</a:t>
            </a:r>
          </a:p>
          <a:p>
            <a:r>
              <a:rPr lang="en-US" dirty="0"/>
              <a:t>The </a:t>
            </a:r>
            <a:r>
              <a:rPr lang="en-US" dirty="0">
                <a:hlinkClick r:id="rId3"/>
              </a:rPr>
              <a:t>coefficient of determination</a:t>
            </a:r>
            <a:r>
              <a:rPr lang="en-US" dirty="0"/>
              <a:t> (R-squared) is a statistical metric that is used to measure how much of the variation in outcome can be explained by the variation in the independent variables. R</a:t>
            </a:r>
            <a:r>
              <a:rPr lang="en-US" baseline="30000" dirty="0"/>
              <a:t>2</a:t>
            </a:r>
            <a:r>
              <a:rPr lang="en-US" dirty="0"/>
              <a:t> always increases as more predictors are added to the MLR model, even though the predictors may not be related to the outcome variable. </a:t>
            </a:r>
          </a:p>
        </p:txBody>
      </p:sp>
    </p:spTree>
    <p:extLst>
      <p:ext uri="{BB962C8B-B14F-4D97-AF65-F5344CB8AC3E}">
        <p14:creationId xmlns:p14="http://schemas.microsoft.com/office/powerpoint/2010/main" val="14063201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 Squared </a:t>
            </a:r>
            <a:r>
              <a:rPr lang="en-US" b="1" dirty="0" smtClean="0"/>
              <a:t>Formula</a:t>
            </a:r>
            <a:endParaRPr lang="en-US" dirty="0"/>
          </a:p>
        </p:txBody>
      </p:sp>
      <p:sp>
        <p:nvSpPr>
          <p:cNvPr id="3" name="Content Placeholder 2"/>
          <p:cNvSpPr>
            <a:spLocks noGrp="1"/>
          </p:cNvSpPr>
          <p:nvPr>
            <p:ph idx="1"/>
          </p:nvPr>
        </p:nvSpPr>
        <p:spPr/>
        <p:txBody>
          <a:bodyPr>
            <a:normAutofit fontScale="92500" lnSpcReduction="10000"/>
          </a:bodyPr>
          <a:lstStyle/>
          <a:p>
            <a:r>
              <a:rPr lang="en-US" dirty="0"/>
              <a:t>Thus, R</a:t>
            </a:r>
            <a:r>
              <a:rPr lang="en-US" baseline="30000" dirty="0"/>
              <a:t>2</a:t>
            </a:r>
            <a:r>
              <a:rPr lang="en-US" dirty="0"/>
              <a:t> by itself can't be used to identify which predictors should be included in a model and which should be excluded. </a:t>
            </a:r>
            <a:endParaRPr lang="en-US" dirty="0" smtClean="0"/>
          </a:p>
          <a:p>
            <a:r>
              <a:rPr lang="en-US" dirty="0" smtClean="0"/>
              <a:t>R</a:t>
            </a:r>
            <a:r>
              <a:rPr lang="en-US" baseline="30000" dirty="0" smtClean="0"/>
              <a:t>2</a:t>
            </a:r>
            <a:r>
              <a:rPr lang="en-US" dirty="0" smtClean="0"/>
              <a:t> </a:t>
            </a:r>
            <a:r>
              <a:rPr lang="en-US" dirty="0"/>
              <a:t>can only be between 0 and 1, where 0 indicates that the outcome cannot be predicted by any of the independent variables, and 1 indicates that the outcome can be predicted without error from the independent variables. </a:t>
            </a:r>
            <a:endParaRPr lang="en-US" dirty="0" smtClean="0"/>
          </a:p>
          <a:p>
            <a:r>
              <a:rPr lang="en-US" b="1" dirty="0"/>
              <a:t>R</a:t>
            </a:r>
            <a:r>
              <a:rPr lang="en-US" b="1" baseline="30000" dirty="0"/>
              <a:t>2</a:t>
            </a:r>
            <a:r>
              <a:rPr lang="en-US" b="1" dirty="0"/>
              <a:t> = 1 – (RSS/TSS)</a:t>
            </a:r>
            <a:endParaRPr lang="en-US" dirty="0"/>
          </a:p>
          <a:p>
            <a:r>
              <a:rPr lang="en-US" dirty="0"/>
              <a:t>Where, </a:t>
            </a:r>
          </a:p>
          <a:p>
            <a:r>
              <a:rPr lang="en-US" b="1" dirty="0"/>
              <a:t>R</a:t>
            </a:r>
            <a:r>
              <a:rPr lang="en-US" b="1" baseline="30000" dirty="0"/>
              <a:t>2</a:t>
            </a:r>
            <a:r>
              <a:rPr lang="en-US" dirty="0"/>
              <a:t> represents the </a:t>
            </a:r>
            <a:r>
              <a:rPr lang="en-US" dirty="0" err="1"/>
              <a:t>requrired</a:t>
            </a:r>
            <a:r>
              <a:rPr lang="en-US" dirty="0"/>
              <a:t> R Squared value,</a:t>
            </a:r>
          </a:p>
          <a:p>
            <a:r>
              <a:rPr lang="en-US" b="1" dirty="0"/>
              <a:t>RSS</a:t>
            </a:r>
            <a:r>
              <a:rPr lang="en-US" dirty="0"/>
              <a:t> represents the residual sum of squares, and</a:t>
            </a:r>
          </a:p>
          <a:p>
            <a:r>
              <a:rPr lang="en-US" b="1" dirty="0"/>
              <a:t>TSS</a:t>
            </a:r>
            <a:r>
              <a:rPr lang="en-US" dirty="0"/>
              <a:t> represents the total sum of squares.</a:t>
            </a:r>
          </a:p>
          <a:p>
            <a:endParaRPr lang="en-US" dirty="0"/>
          </a:p>
        </p:txBody>
      </p:sp>
      <p:pic>
        <p:nvPicPr>
          <p:cNvPr id="5" name="Picture 4"/>
          <p:cNvPicPr>
            <a:picLocks noChangeAspect="1"/>
          </p:cNvPicPr>
          <p:nvPr/>
        </p:nvPicPr>
        <p:blipFill>
          <a:blip r:embed="rId2"/>
          <a:stretch>
            <a:fillRect/>
          </a:stretch>
        </p:blipFill>
        <p:spPr>
          <a:xfrm>
            <a:off x="7649713" y="4487555"/>
            <a:ext cx="4086225" cy="1485900"/>
          </a:xfrm>
          <a:prstGeom prst="rect">
            <a:avLst/>
          </a:prstGeom>
          <a:ln>
            <a:solidFill>
              <a:schemeClr val="accent5">
                <a:lumMod val="60000"/>
                <a:lumOff val="40000"/>
              </a:schemeClr>
            </a:solidFill>
          </a:ln>
        </p:spPr>
      </p:pic>
    </p:spTree>
    <p:extLst>
      <p:ext uri="{BB962C8B-B14F-4D97-AF65-F5344CB8AC3E}">
        <p14:creationId xmlns:p14="http://schemas.microsoft.com/office/powerpoint/2010/main" val="28121724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a:t>The coefficient of determination can also be calculated using another formula which is given by</a:t>
            </a:r>
            <a:r>
              <a:rPr lang="en-US" dirty="0" smtClean="0"/>
              <a:t>:</a:t>
            </a:r>
            <a:endParaRPr lang="en-US" dirty="0"/>
          </a:p>
          <a:p>
            <a:r>
              <a:rPr lang="en-US" dirty="0"/>
              <a:t>    R2 = </a:t>
            </a:r>
            <a:r>
              <a:rPr lang="en-US" dirty="0" smtClean="0"/>
              <a:t>r2</a:t>
            </a:r>
            <a:endParaRPr lang="en-US" dirty="0"/>
          </a:p>
          <a:p>
            <a:r>
              <a:rPr lang="en-US" dirty="0"/>
              <a:t>Where r represents the correlation coefficient and is calculated using the following formula</a:t>
            </a:r>
            <a:r>
              <a:rPr lang="en-US" dirty="0" smtClean="0"/>
              <a:t>:</a:t>
            </a:r>
          </a:p>
          <a:p>
            <a:endParaRPr lang="en-US" dirty="0"/>
          </a:p>
        </p:txBody>
      </p:sp>
      <p:pic>
        <p:nvPicPr>
          <p:cNvPr id="5" name="Picture 4"/>
          <p:cNvPicPr>
            <a:picLocks noChangeAspect="1"/>
          </p:cNvPicPr>
          <p:nvPr/>
        </p:nvPicPr>
        <p:blipFill>
          <a:blip r:embed="rId2"/>
          <a:stretch>
            <a:fillRect/>
          </a:stretch>
        </p:blipFill>
        <p:spPr>
          <a:xfrm>
            <a:off x="1219483" y="3971500"/>
            <a:ext cx="6737162" cy="2634016"/>
          </a:xfrm>
          <a:prstGeom prst="rect">
            <a:avLst/>
          </a:prstGeom>
        </p:spPr>
      </p:pic>
    </p:spTree>
    <p:extLst>
      <p:ext uri="{BB962C8B-B14F-4D97-AF65-F5344CB8AC3E}">
        <p14:creationId xmlns:p14="http://schemas.microsoft.com/office/powerpoint/2010/main" val="61396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1846</TotalTime>
  <Words>770</Words>
  <Application>Microsoft Office PowerPoint</Application>
  <PresentationFormat>Widescreen</PresentationFormat>
  <Paragraphs>103</Paragraphs>
  <Slides>52</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52</vt:i4>
      </vt:variant>
    </vt:vector>
  </HeadingPairs>
  <TitlesOfParts>
    <vt:vector size="59" baseType="lpstr">
      <vt:lpstr>-apple-system</vt:lpstr>
      <vt:lpstr>Arial</vt:lpstr>
      <vt:lpstr>Calibri</vt:lpstr>
      <vt:lpstr>Calibri Light</vt:lpstr>
      <vt:lpstr>Helvetica Neue</vt:lpstr>
      <vt:lpstr>Source Sans Pro</vt:lpstr>
      <vt:lpstr>Office Theme</vt:lpstr>
      <vt:lpstr>Data Analysis</vt:lpstr>
      <vt:lpstr>PowerPoint Presentation</vt:lpstr>
      <vt:lpstr>PowerPoint Presentation</vt:lpstr>
      <vt:lpstr>PowerPoint Presentation</vt:lpstr>
      <vt:lpstr>PowerPoint Presentation</vt:lpstr>
      <vt:lpstr>What is regression</vt:lpstr>
      <vt:lpstr>PowerPoint Presentation</vt:lpstr>
      <vt:lpstr>PowerPoint Presentation</vt:lpstr>
      <vt:lpstr>PowerPoint Presentation</vt:lpstr>
      <vt:lpstr>PowerPoint Presentation</vt:lpstr>
      <vt:lpstr>PowerPoint Presentation</vt:lpstr>
      <vt:lpstr>Reseduals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to Find Linear Regression Slope: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multiple Linear regression and why is it used? </vt:lpstr>
      <vt:lpstr>You can use multiple linear regression :</vt:lpstr>
      <vt:lpstr>Cont…</vt:lpstr>
      <vt:lpstr>PowerPoint Presentation</vt:lpstr>
      <vt:lpstr>PowerPoint Presentation</vt:lpstr>
      <vt:lpstr>PowerPoint Presentation</vt:lpstr>
      <vt:lpstr>PowerPoint Presentation</vt:lpstr>
      <vt:lpstr>Follow these steps to perform the calculation:</vt:lpstr>
      <vt:lpstr>PowerPoint Presentation</vt:lpstr>
      <vt:lpstr>PowerPoint Presentation</vt:lpstr>
      <vt:lpstr>The MLR model is based on the following assumptions: </vt:lpstr>
      <vt:lpstr>What Does It Mean for a Multiple Regression to Be Linear?</vt:lpstr>
      <vt:lpstr>R Squared Formula</vt:lpstr>
      <vt:lpstr>Cont..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Bhuvan Allu</dc:creator>
  <cp:lastModifiedBy>Windows User</cp:lastModifiedBy>
  <cp:revision>57</cp:revision>
  <dcterms:created xsi:type="dcterms:W3CDTF">2022-07-13T13:19:15Z</dcterms:created>
  <dcterms:modified xsi:type="dcterms:W3CDTF">2026-03-02T02:01:44Z</dcterms:modified>
</cp:coreProperties>
</file>